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555"/>
        </a:solidFill>
      </p:bgPr>
    </p:bg>
    <p:spTree>
      <p:nvGrpSpPr>
        <p:cNvPr id="1" name=""/>
        <p:cNvGrpSpPr/>
        <p:nvPr/>
      </p:nvGrpSpPr>
      <p:grpSpPr>
        <a:xfrm>
          <a:off x="0" y="0"/>
          <a:ext cx="0" cy="0"/>
          <a:chOff x="0" y="0"/>
          <a:chExt cx="0" cy="0"/>
        </a:xfrm>
      </p:grpSpPr>
      <p:sp>
        <p:nvSpPr>
          <p:cNvPr id="2" name="Shape 0"/>
          <p:cNvSpPr/>
          <p:nvPr/>
        </p:nvSpPr>
        <p:spPr>
          <a:xfrm>
            <a:off x="9692640" y="-1463040"/>
            <a:ext cx="4572000" cy="4572000"/>
          </a:xfrm>
          <a:prstGeom prst="ellipse">
            <a:avLst/>
          </a:prstGeom>
          <a:solidFill>
            <a:srgbClr val="2F3C7E">
              <a:alpha val="70000"/>
            </a:srgbClr>
          </a:solidFill>
          <a:ln/>
        </p:spPr>
      </p:sp>
      <p:sp>
        <p:nvSpPr>
          <p:cNvPr id="3" name="Shape 1"/>
          <p:cNvSpPr/>
          <p:nvPr/>
        </p:nvSpPr>
        <p:spPr>
          <a:xfrm>
            <a:off x="-1280160" y="4846320"/>
            <a:ext cx="3657600" cy="3657600"/>
          </a:xfrm>
          <a:prstGeom prst="ellipse">
            <a:avLst/>
          </a:prstGeom>
          <a:solidFill>
            <a:srgbClr val="F96167">
              <a:alpha val="45000"/>
            </a:srgbClr>
          </a:solidFill>
          <a:ln/>
        </p:spPr>
      </p:sp>
      <p:sp>
        <p:nvSpPr>
          <p:cNvPr id="4" name="Text 2"/>
          <p:cNvSpPr txBox="1"/>
          <p:nvPr/>
        </p:nvSpPr>
        <p:spPr>
          <a:xfrm>
            <a:off x="822960" y="1051560"/>
            <a:ext cx="10058400" cy="365760"/>
          </a:xfrm>
          <a:prstGeom prst="rect">
            <a:avLst/>
          </a:prstGeom>
          <a:noFill/>
          <a:ln/>
        </p:spPr>
        <p:txBody>
          <a:bodyPr wrap="square" lIns="0" tIns="0" rIns="0" bIns="0" rtlCol="0" anchor="ctr"/>
          <a:lstStyle/>
          <a:p>
            <a:pPr indent="0" marL="0">
              <a:buNone/>
            </a:pPr>
            <a:r>
              <a:rPr lang="en-US" sz="1300" b="1" spc="200" kern="0" dirty="0">
                <a:solidFill>
                  <a:srgbClr val="F9E795"/>
                </a:solidFill>
                <a:latin typeface="Calibri" pitchFamily="34" charset="0"/>
                <a:ea typeface="Calibri" pitchFamily="34" charset="-122"/>
                <a:cs typeface="Calibri" pitchFamily="34" charset="-120"/>
              </a:rPr>
              <a:t>PROJECT 2  ·  SOFTWARE ENGINEERING RESEARCH SHOWCASE</a:t>
            </a:r>
            <a:endParaRPr lang="en-US" sz="1300" dirty="0"/>
          </a:p>
        </p:txBody>
      </p:sp>
      <p:sp>
        <p:nvSpPr>
          <p:cNvPr id="5" name="Text 3"/>
          <p:cNvSpPr txBox="1"/>
          <p:nvPr/>
        </p:nvSpPr>
        <p:spPr>
          <a:xfrm>
            <a:off x="822960" y="1508760"/>
            <a:ext cx="10241280" cy="1920240"/>
          </a:xfrm>
          <a:prstGeom prst="rect">
            <a:avLst/>
          </a:prstGeom>
          <a:noFill/>
          <a:ln/>
        </p:spPr>
        <p:txBody>
          <a:bodyPr wrap="square" lIns="0" tIns="0" rIns="0" bIns="0" rtlCol="0" anchor="ctr"/>
          <a:lstStyle/>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Real-Time Food Delivery Updates</a:t>
            </a:r>
            <a:endParaRPr lang="en-US" sz="4000" dirty="0"/>
          </a:p>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Using Apache Kafka</a:t>
            </a:r>
            <a:endParaRPr lang="en-US" sz="4000" dirty="0"/>
          </a:p>
        </p:txBody>
      </p:sp>
      <p:sp>
        <p:nvSpPr>
          <p:cNvPr id="6" name="Text 4"/>
          <p:cNvSpPr txBox="1"/>
          <p:nvPr/>
        </p:nvSpPr>
        <p:spPr>
          <a:xfrm>
            <a:off x="822960" y="3429000"/>
            <a:ext cx="8778240" cy="822960"/>
          </a:xfrm>
          <a:prstGeom prst="rect">
            <a:avLst/>
          </a:prstGeom>
          <a:noFill/>
          <a:ln/>
        </p:spPr>
        <p:txBody>
          <a:bodyPr wrap="square" lIns="0" tIns="0" rIns="0" bIns="0" rtlCol="0" anchor="ctr"/>
          <a:lstStyle/>
          <a:p>
            <a:pPr indent="0" marL="0">
              <a:buNone/>
            </a:pPr>
            <a:r>
              <a:rPr lang="en-US" sz="1500" i="1" dirty="0">
                <a:solidFill>
                  <a:srgbClr val="CADCFC"/>
                </a:solidFill>
                <a:latin typeface="Calibri" pitchFamily="34" charset="0"/>
                <a:ea typeface="Calibri" pitchFamily="34" charset="-122"/>
                <a:cs typeface="Calibri" pitchFamily="34" charset="-120"/>
              </a:rPr>
              <a:t>Decoupling order, customer, rider, and notification services with an event-streaming backbone so a status update is never silently lost.</a:t>
            </a:r>
            <a:endParaRPr lang="en-US" sz="1500" dirty="0"/>
          </a:p>
        </p:txBody>
      </p:sp>
      <p:sp>
        <p:nvSpPr>
          <p:cNvPr id="7" name="Shape 5"/>
          <p:cNvSpPr/>
          <p:nvPr/>
        </p:nvSpPr>
        <p:spPr>
          <a:xfrm>
            <a:off x="822960" y="4709160"/>
            <a:ext cx="3200400" cy="1051560"/>
          </a:xfrm>
          <a:prstGeom prst="roundRect">
            <a:avLst>
              <a:gd name="adj" fmla="val 8696"/>
            </a:avLst>
          </a:prstGeom>
          <a:solidFill>
            <a:srgbClr val="2F3C7E">
              <a:alpha val="85000"/>
            </a:srgbClr>
          </a:solidFill>
          <a:ln w="12700">
            <a:solidFill>
              <a:srgbClr val="3A4A9E"/>
            </a:solidFill>
            <a:prstDash val="solid"/>
          </a:ln>
        </p:spPr>
      </p:sp>
      <p:sp>
        <p:nvSpPr>
          <p:cNvPr id="8" name="Text 6"/>
          <p:cNvSpPr txBox="1"/>
          <p:nvPr/>
        </p:nvSpPr>
        <p:spPr>
          <a:xfrm>
            <a:off x="1005840" y="4828032"/>
            <a:ext cx="2834640" cy="4114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Hsu Shwe Yaung</a:t>
            </a:r>
            <a:endParaRPr lang="en-US" sz="1500" dirty="0"/>
          </a:p>
        </p:txBody>
      </p:sp>
      <p:sp>
        <p:nvSpPr>
          <p:cNvPr id="9" name="Text 7"/>
          <p:cNvSpPr txBox="1"/>
          <p:nvPr/>
        </p:nvSpPr>
        <p:spPr>
          <a:xfrm>
            <a:off x="1005840" y="5193792"/>
            <a:ext cx="2834640" cy="365760"/>
          </a:xfrm>
          <a:prstGeom prst="rect">
            <a:avLst/>
          </a:prstGeom>
          <a:noFill/>
          <a:ln/>
        </p:spPr>
        <p:txBody>
          <a:bodyPr wrap="square" lIns="0" tIns="0" rIns="0" bIns="0" rtlCol="0" anchor="ctr"/>
          <a:lstStyle/>
          <a:p>
            <a:pPr indent="0" marL="0">
              <a:buNone/>
            </a:pPr>
            <a:r>
              <a:rPr lang="en-US" sz="1200" dirty="0">
                <a:solidFill>
                  <a:srgbClr val="AAB2D8"/>
                </a:solidFill>
                <a:latin typeface="Calibri" pitchFamily="34" charset="0"/>
                <a:ea typeface="Calibri" pitchFamily="34" charset="-122"/>
                <a:cs typeface="Calibri" pitchFamily="34" charset="-120"/>
              </a:rPr>
              <a:t>ID 6611665</a:t>
            </a:r>
            <a:endParaRPr lang="en-US" sz="1200" dirty="0"/>
          </a:p>
        </p:txBody>
      </p:sp>
      <p:sp>
        <p:nvSpPr>
          <p:cNvPr id="10" name="Shape 8"/>
          <p:cNvSpPr/>
          <p:nvPr/>
        </p:nvSpPr>
        <p:spPr>
          <a:xfrm>
            <a:off x="4389120" y="4709160"/>
            <a:ext cx="3200400" cy="1051560"/>
          </a:xfrm>
          <a:prstGeom prst="roundRect">
            <a:avLst>
              <a:gd name="adj" fmla="val 8696"/>
            </a:avLst>
          </a:prstGeom>
          <a:solidFill>
            <a:srgbClr val="2F3C7E">
              <a:alpha val="85000"/>
            </a:srgbClr>
          </a:solidFill>
          <a:ln w="12700">
            <a:solidFill>
              <a:srgbClr val="3A4A9E"/>
            </a:solidFill>
            <a:prstDash val="solid"/>
          </a:ln>
        </p:spPr>
      </p:sp>
      <p:sp>
        <p:nvSpPr>
          <p:cNvPr id="11" name="Text 9"/>
          <p:cNvSpPr txBox="1"/>
          <p:nvPr/>
        </p:nvSpPr>
        <p:spPr>
          <a:xfrm>
            <a:off x="4572000" y="4828032"/>
            <a:ext cx="2834640" cy="4114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Soe Thura Lwin</a:t>
            </a:r>
            <a:endParaRPr lang="en-US" sz="1500" dirty="0"/>
          </a:p>
        </p:txBody>
      </p:sp>
      <p:sp>
        <p:nvSpPr>
          <p:cNvPr id="12" name="Text 10"/>
          <p:cNvSpPr txBox="1"/>
          <p:nvPr/>
        </p:nvSpPr>
        <p:spPr>
          <a:xfrm>
            <a:off x="4572000" y="5193792"/>
            <a:ext cx="2834640" cy="365760"/>
          </a:xfrm>
          <a:prstGeom prst="rect">
            <a:avLst/>
          </a:prstGeom>
          <a:noFill/>
          <a:ln/>
        </p:spPr>
        <p:txBody>
          <a:bodyPr wrap="square" lIns="0" tIns="0" rIns="0" bIns="0" rtlCol="0" anchor="ctr"/>
          <a:lstStyle/>
          <a:p>
            <a:pPr indent="0" marL="0">
              <a:buNone/>
            </a:pPr>
            <a:r>
              <a:rPr lang="en-US" sz="1200" dirty="0">
                <a:solidFill>
                  <a:srgbClr val="AAB2D8"/>
                </a:solidFill>
                <a:latin typeface="Calibri" pitchFamily="34" charset="0"/>
                <a:ea typeface="Calibri" pitchFamily="34" charset="-122"/>
                <a:cs typeface="Calibri" pitchFamily="34" charset="-120"/>
              </a:rPr>
              <a:t>ID 6540062</a:t>
            </a:r>
            <a:endParaRPr lang="en-US" sz="1200" dirty="0"/>
          </a:p>
        </p:txBody>
      </p:sp>
      <p:sp>
        <p:nvSpPr>
          <p:cNvPr id="13" name="Shape 11"/>
          <p:cNvSpPr/>
          <p:nvPr/>
        </p:nvSpPr>
        <p:spPr>
          <a:xfrm>
            <a:off x="7955280" y="4709160"/>
            <a:ext cx="3200400" cy="1051560"/>
          </a:xfrm>
          <a:prstGeom prst="roundRect">
            <a:avLst>
              <a:gd name="adj" fmla="val 8696"/>
            </a:avLst>
          </a:prstGeom>
          <a:solidFill>
            <a:srgbClr val="2F3C7E">
              <a:alpha val="85000"/>
            </a:srgbClr>
          </a:solidFill>
          <a:ln w="12700">
            <a:solidFill>
              <a:srgbClr val="3A4A9E"/>
            </a:solidFill>
            <a:prstDash val="solid"/>
          </a:ln>
        </p:spPr>
      </p:sp>
      <p:sp>
        <p:nvSpPr>
          <p:cNvPr id="14" name="Text 12"/>
          <p:cNvSpPr txBox="1"/>
          <p:nvPr/>
        </p:nvSpPr>
        <p:spPr>
          <a:xfrm>
            <a:off x="8138160" y="4828032"/>
            <a:ext cx="2834640" cy="4114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Khaing Zaw Lin</a:t>
            </a:r>
            <a:endParaRPr lang="en-US" sz="1500" dirty="0"/>
          </a:p>
        </p:txBody>
      </p:sp>
      <p:sp>
        <p:nvSpPr>
          <p:cNvPr id="15" name="Text 13"/>
          <p:cNvSpPr txBox="1"/>
          <p:nvPr/>
        </p:nvSpPr>
        <p:spPr>
          <a:xfrm>
            <a:off x="8138160" y="5193792"/>
            <a:ext cx="2834640" cy="365760"/>
          </a:xfrm>
          <a:prstGeom prst="rect">
            <a:avLst/>
          </a:prstGeom>
          <a:noFill/>
          <a:ln/>
        </p:spPr>
        <p:txBody>
          <a:bodyPr wrap="square" lIns="0" tIns="0" rIns="0" bIns="0" rtlCol="0" anchor="ctr"/>
          <a:lstStyle/>
          <a:p>
            <a:pPr indent="0" marL="0">
              <a:buNone/>
            </a:pPr>
            <a:r>
              <a:rPr lang="en-US" sz="1200" dirty="0">
                <a:solidFill>
                  <a:srgbClr val="AAB2D8"/>
                </a:solidFill>
                <a:latin typeface="Calibri" pitchFamily="34" charset="0"/>
                <a:ea typeface="Calibri" pitchFamily="34" charset="-122"/>
                <a:cs typeface="Calibri" pitchFamily="34" charset="-120"/>
              </a:rPr>
              <a:t>ID 6611924</a:t>
            </a:r>
            <a:endParaRPr lang="en-US" sz="1200" dirty="0"/>
          </a:p>
        </p:txBody>
      </p:sp>
      <p:sp>
        <p:nvSpPr>
          <p:cNvPr id="16" name="Text 14"/>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1000" dirty="0">
                <a:solidFill>
                  <a:srgbClr val="AAB2D8"/>
                </a:solidFill>
                <a:latin typeface="Calibri" pitchFamily="34" charset="0"/>
                <a:ea typeface="Calibri" pitchFamily="34" charset="-122"/>
                <a:cs typeface="Calibri" pitchFamily="34" charset="-120"/>
              </a:rPr>
              <a:t>Presentation · Wednesday, 23 September 2026</a:t>
            </a:r>
            <a:endParaRPr lang="en-US" sz="1000" dirty="0"/>
          </a:p>
        </p:txBody>
      </p:sp>
      <p:sp>
        <p:nvSpPr>
          <p:cNvPr id="17" name="Text 15"/>
          <p:cNvSpPr txBox="1"/>
          <p:nvPr/>
        </p:nvSpPr>
        <p:spPr>
          <a:xfrm>
            <a:off x="11338560" y="6510528"/>
            <a:ext cx="365760" cy="274320"/>
          </a:xfrm>
          <a:prstGeom prst="rect">
            <a:avLst/>
          </a:prstGeom>
          <a:noFill/>
          <a:ln/>
        </p:spPr>
        <p:txBody>
          <a:bodyPr wrap="square" lIns="0" tIns="0" rIns="0" bIns="0" rtlCol="0" anchor="ctr"/>
          <a:lstStyle/>
          <a:p>
            <a:pPr algn="r" indent="0" marL="0">
              <a:buNone/>
            </a:pPr>
            <a:r>
              <a:rPr lang="en-US" sz="1000" dirty="0">
                <a:solidFill>
                  <a:srgbClr val="AAB2D8"/>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algn="l" indent="0" marL="0">
              <a:buNone/>
            </a:pPr>
            <a:r>
              <a:rPr lang="en-US" sz="3000" b="1" dirty="0">
                <a:solidFill>
                  <a:srgbClr val="2F3C7E"/>
                </a:solidFill>
                <a:latin typeface="Cambria" pitchFamily="34" charset="0"/>
                <a:ea typeface="Cambria" pitchFamily="34" charset="-122"/>
                <a:cs typeface="Cambria" pitchFamily="34" charset="-120"/>
              </a:rPr>
              <a:t>The Scenario: a Food Delivery Platform</a:t>
            </a:r>
            <a:endParaRPr lang="en-US" sz="3000" dirty="0"/>
          </a:p>
        </p:txBody>
      </p:sp>
      <p:sp>
        <p:nvSpPr>
          <p:cNvPr id="3" name="Text 1"/>
          <p:cNvSpPr txBox="1"/>
          <p:nvPr/>
        </p:nvSpPr>
        <p:spPr>
          <a:xfrm>
            <a:off x="548640" y="1371600"/>
            <a:ext cx="5486400" cy="822960"/>
          </a:xfrm>
          <a:prstGeom prst="rect">
            <a:avLst/>
          </a:prstGeom>
          <a:noFill/>
          <a:ln/>
        </p:spPr>
        <p:txBody>
          <a:bodyPr wrap="square" lIns="0" tIns="0" rIns="0" bIns="0" rtlCol="0" anchor="t"/>
          <a:lstStyle/>
          <a:p>
            <a:pPr indent="0" marL="0">
              <a:buNone/>
            </a:pPr>
            <a:r>
              <a:rPr lang="en-US" sz="1500" dirty="0">
                <a:solidFill>
                  <a:srgbClr val="222222"/>
                </a:solidFill>
                <a:latin typeface="Calibri" pitchFamily="34" charset="0"/>
                <a:ea typeface="Calibri" pitchFamily="34" charset="-122"/>
                <a:cs typeface="Calibri" pitchFamily="34" charset="-120"/>
              </a:rPr>
              <a:t>Our hypothetical platform splits work across four services: </a:t>
            </a:r>
            <a:pPr indent="0" marL="0">
              <a:buNone/>
            </a:pPr>
            <a:r>
              <a:rPr lang="en-US" sz="1500" b="1" dirty="0">
                <a:solidFill>
                  <a:srgbClr val="2F3C7E"/>
                </a:solidFill>
                <a:latin typeface="Calibri" pitchFamily="34" charset="0"/>
                <a:ea typeface="Calibri" pitchFamily="34" charset="-122"/>
                <a:cs typeface="Calibri" pitchFamily="34" charset="-120"/>
              </a:rPr>
              <a:t>order, customer, rider, and notification.</a:t>
            </a:r>
            <a:endParaRPr lang="en-US" sz="1500" dirty="0"/>
          </a:p>
        </p:txBody>
      </p:sp>
      <p:sp>
        <p:nvSpPr>
          <p:cNvPr id="4" name="Text 2"/>
          <p:cNvSpPr txBox="1"/>
          <p:nvPr/>
        </p:nvSpPr>
        <p:spPr>
          <a:xfrm>
            <a:off x="548640" y="2331720"/>
            <a:ext cx="2743200" cy="365760"/>
          </a:xfrm>
          <a:prstGeom prst="rect">
            <a:avLst/>
          </a:prstGeom>
          <a:noFill/>
          <a:ln/>
        </p:spPr>
        <p:txBody>
          <a:bodyPr wrap="square" lIns="0" tIns="0" rIns="0" bIns="0" rtlCol="0" anchor="ctr"/>
          <a:lstStyle/>
          <a:p>
            <a:pPr indent="0" marL="0">
              <a:buNone/>
            </a:pPr>
            <a:r>
              <a:rPr lang="en-US" sz="1400" b="1" dirty="0">
                <a:solidFill>
                  <a:srgbClr val="F96167"/>
                </a:solidFill>
                <a:latin typeface="Calibri" pitchFamily="34" charset="0"/>
                <a:ea typeface="Calibri" pitchFamily="34" charset="-122"/>
                <a:cs typeface="Calibri" pitchFamily="34" charset="-120"/>
              </a:rPr>
              <a:t>Pain point</a:t>
            </a:r>
            <a:endParaRPr lang="en-US" sz="1400" dirty="0"/>
          </a:p>
        </p:txBody>
      </p:sp>
      <p:sp>
        <p:nvSpPr>
          <p:cNvPr id="5" name="Text 3"/>
          <p:cNvSpPr txBox="1"/>
          <p:nvPr/>
        </p:nvSpPr>
        <p:spPr>
          <a:xfrm>
            <a:off x="548640" y="2743200"/>
            <a:ext cx="5486400" cy="2011680"/>
          </a:xfrm>
          <a:prstGeom prst="rect">
            <a:avLst/>
          </a:prstGeom>
          <a:noFill/>
          <a:ln/>
        </p:spPr>
        <p:txBody>
          <a:bodyPr wrap="square" lIns="0" tIns="0" rIns="0" bIns="0" rtlCol="0" anchor="t"/>
          <a:lstStyle/>
          <a:p>
            <a:pPr indent="0" marL="0">
              <a:lnSpc>
                <a:spcPct val="120000"/>
              </a:lnSpc>
              <a:buNone/>
            </a:pPr>
            <a:r>
              <a:rPr lang="en-US" sz="1450" dirty="0">
                <a:solidFill>
                  <a:srgbClr val="222222"/>
                </a:solidFill>
                <a:latin typeface="Calibri" pitchFamily="34" charset="0"/>
                <a:ea typeface="Calibri" pitchFamily="34" charset="-122"/>
                <a:cs typeface="Calibri" pitchFamily="34" charset="-120"/>
              </a:rPr>
              <a:t>Services call each other directly. When the restaurant marks an order “ready,” that update is pushed straight to the rider service. If the rider service is briefly unavailable, the update simply disappears — nobody finds out until a rider fails to show up.</a:t>
            </a:r>
            <a:endParaRPr lang="en-US" sz="1450" dirty="0"/>
          </a:p>
        </p:txBody>
      </p:sp>
      <p:sp>
        <p:nvSpPr>
          <p:cNvPr id="6" name="Shape 4"/>
          <p:cNvSpPr/>
          <p:nvPr/>
        </p:nvSpPr>
        <p:spPr>
          <a:xfrm>
            <a:off x="548640" y="4892040"/>
            <a:ext cx="5486400" cy="1051560"/>
          </a:xfrm>
          <a:prstGeom prst="roundRect">
            <a:avLst>
              <a:gd name="adj" fmla="val 6957"/>
            </a:avLst>
          </a:prstGeom>
          <a:solidFill>
            <a:srgbClr val="FDECEA"/>
          </a:solidFill>
          <a:ln w="12700">
            <a:solidFill>
              <a:srgbClr val="F96167"/>
            </a:solidFill>
            <a:prstDash val="solid"/>
          </a:ln>
        </p:spPr>
      </p:sp>
      <p:sp>
        <p:nvSpPr>
          <p:cNvPr id="7" name="Text 5"/>
          <p:cNvSpPr txBox="1"/>
          <p:nvPr/>
        </p:nvSpPr>
        <p:spPr>
          <a:xfrm>
            <a:off x="777240" y="5029200"/>
            <a:ext cx="5029200" cy="822960"/>
          </a:xfrm>
          <a:prstGeom prst="rect">
            <a:avLst/>
          </a:prstGeom>
          <a:noFill/>
          <a:ln/>
        </p:spPr>
        <p:txBody>
          <a:bodyPr wrap="square" lIns="0" tIns="0" rIns="0" bIns="0" rtlCol="0" anchor="ctr"/>
          <a:lstStyle/>
          <a:p>
            <a:pPr indent="0" marL="0">
              <a:buNone/>
            </a:pPr>
            <a:r>
              <a:rPr lang="en-US" sz="1300" i="1" dirty="0">
                <a:solidFill>
                  <a:srgbClr val="7A1F1A"/>
                </a:solidFill>
                <a:latin typeface="Calibri" pitchFamily="34" charset="0"/>
                <a:ea typeface="Calibri" pitchFamily="34" charset="-122"/>
                <a:cs typeface="Calibri" pitchFamily="34" charset="-120"/>
              </a:rPr>
              <a:t>“The restaurant may mark an order as ready while the rider service fails to receive the update.”</a:t>
            </a:r>
            <a:endParaRPr lang="en-US" sz="1300" dirty="0"/>
          </a:p>
        </p:txBody>
      </p:sp>
      <p:sp>
        <p:nvSpPr>
          <p:cNvPr id="8" name="Shape 6"/>
          <p:cNvSpPr/>
          <p:nvPr/>
        </p:nvSpPr>
        <p:spPr>
          <a:xfrm>
            <a:off x="6766560" y="1234440"/>
            <a:ext cx="4846320" cy="4846320"/>
          </a:xfrm>
          <a:prstGeom prst="roundRect">
            <a:avLst>
              <a:gd name="adj" fmla="val 1887"/>
            </a:avLst>
          </a:prstGeom>
          <a:solidFill>
            <a:srgbClr val="F7F8FC"/>
          </a:solidFill>
          <a:ln w="12700">
            <a:solidFill>
              <a:srgbClr val="DADFEE"/>
            </a:solidFill>
            <a:prstDash val="solid"/>
          </a:ln>
        </p:spPr>
      </p:sp>
      <p:sp>
        <p:nvSpPr>
          <p:cNvPr id="9" name="Text 7"/>
          <p:cNvSpPr txBox="1"/>
          <p:nvPr/>
        </p:nvSpPr>
        <p:spPr>
          <a:xfrm>
            <a:off x="6995160" y="1417320"/>
            <a:ext cx="4389120" cy="320040"/>
          </a:xfrm>
          <a:prstGeom prst="rect">
            <a:avLst/>
          </a:prstGeom>
          <a:noFill/>
          <a:ln/>
        </p:spPr>
        <p:txBody>
          <a:bodyPr wrap="square" lIns="0" tIns="0" rIns="0" bIns="0" rtlCol="0" anchor="ctr"/>
          <a:lstStyle/>
          <a:p>
            <a:pPr indent="0" marL="0">
              <a:buNone/>
            </a:pPr>
            <a:r>
              <a:rPr lang="en-US" sz="1250" b="1" dirty="0">
                <a:solidFill>
                  <a:srgbClr val="5B5B5B"/>
                </a:solidFill>
                <a:latin typeface="Calibri" pitchFamily="34" charset="0"/>
                <a:ea typeface="Calibri" pitchFamily="34" charset="-122"/>
                <a:cs typeface="Calibri" pitchFamily="34" charset="-120"/>
              </a:rPr>
              <a:t>Before: tightly coupled, direct calls</a:t>
            </a:r>
            <a:endParaRPr lang="en-US" sz="1250" dirty="0"/>
          </a:p>
        </p:txBody>
      </p:sp>
      <p:sp>
        <p:nvSpPr>
          <p:cNvPr id="10" name="Shape 8"/>
          <p:cNvSpPr/>
          <p:nvPr/>
        </p:nvSpPr>
        <p:spPr>
          <a:xfrm>
            <a:off x="8686800" y="2011680"/>
            <a:ext cx="1005840" cy="1005840"/>
          </a:xfrm>
          <a:prstGeom prst="ellipse">
            <a:avLst/>
          </a:prstGeom>
          <a:solidFill>
            <a:srgbClr val="2F3C7E"/>
          </a:solidFill>
          <a:ln/>
        </p:spPr>
      </p:sp>
      <p:sp>
        <p:nvSpPr>
          <p:cNvPr id="11" name="Text 9"/>
          <p:cNvSpPr txBox="1"/>
          <p:nvPr/>
        </p:nvSpPr>
        <p:spPr>
          <a:xfrm>
            <a:off x="8686800" y="2011680"/>
            <a:ext cx="1005840" cy="10058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Order</a:t>
            </a:r>
            <a:endParaRPr lang="en-US" sz="2200" dirty="0"/>
          </a:p>
        </p:txBody>
      </p:sp>
      <p:sp>
        <p:nvSpPr>
          <p:cNvPr id="12" name="Shape 10"/>
          <p:cNvSpPr/>
          <p:nvPr/>
        </p:nvSpPr>
        <p:spPr>
          <a:xfrm>
            <a:off x="7086600" y="3566160"/>
            <a:ext cx="1005840" cy="1005840"/>
          </a:xfrm>
          <a:prstGeom prst="ellipse">
            <a:avLst/>
          </a:prstGeom>
          <a:solidFill>
            <a:srgbClr val="6C7BC6"/>
          </a:solidFill>
          <a:ln/>
        </p:spPr>
      </p:sp>
      <p:sp>
        <p:nvSpPr>
          <p:cNvPr id="13" name="Text 11"/>
          <p:cNvSpPr txBox="1"/>
          <p:nvPr/>
        </p:nvSpPr>
        <p:spPr>
          <a:xfrm>
            <a:off x="7086600" y="3566160"/>
            <a:ext cx="1005840" cy="10058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Customer</a:t>
            </a:r>
            <a:endParaRPr lang="en-US" sz="1300" dirty="0"/>
          </a:p>
        </p:txBody>
      </p:sp>
      <p:sp>
        <p:nvSpPr>
          <p:cNvPr id="14" name="Shape 12"/>
          <p:cNvSpPr/>
          <p:nvPr/>
        </p:nvSpPr>
        <p:spPr>
          <a:xfrm>
            <a:off x="8686800" y="3566160"/>
            <a:ext cx="1005840" cy="1005840"/>
          </a:xfrm>
          <a:prstGeom prst="ellipse">
            <a:avLst/>
          </a:prstGeom>
          <a:solidFill>
            <a:srgbClr val="6C7BC6"/>
          </a:solidFill>
          <a:ln/>
        </p:spPr>
      </p:sp>
      <p:sp>
        <p:nvSpPr>
          <p:cNvPr id="15" name="Text 13"/>
          <p:cNvSpPr txBox="1"/>
          <p:nvPr/>
        </p:nvSpPr>
        <p:spPr>
          <a:xfrm>
            <a:off x="8686800" y="3566160"/>
            <a:ext cx="1005840" cy="10058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Rider</a:t>
            </a:r>
            <a:endParaRPr lang="en-US" sz="1600" dirty="0"/>
          </a:p>
        </p:txBody>
      </p:sp>
      <p:sp>
        <p:nvSpPr>
          <p:cNvPr id="16" name="Shape 14"/>
          <p:cNvSpPr/>
          <p:nvPr/>
        </p:nvSpPr>
        <p:spPr>
          <a:xfrm>
            <a:off x="10287000" y="3566160"/>
            <a:ext cx="1005840" cy="1005840"/>
          </a:xfrm>
          <a:prstGeom prst="ellipse">
            <a:avLst/>
          </a:prstGeom>
          <a:solidFill>
            <a:srgbClr val="6C7BC6"/>
          </a:solidFill>
          <a:ln/>
        </p:spPr>
      </p:sp>
      <p:sp>
        <p:nvSpPr>
          <p:cNvPr id="17" name="Text 15"/>
          <p:cNvSpPr txBox="1"/>
          <p:nvPr/>
        </p:nvSpPr>
        <p:spPr>
          <a:xfrm>
            <a:off x="10287000" y="3566160"/>
            <a:ext cx="1005840" cy="10058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Notify</a:t>
            </a:r>
            <a:endParaRPr lang="en-US" sz="1600" dirty="0"/>
          </a:p>
        </p:txBody>
      </p:sp>
      <p:sp>
        <p:nvSpPr>
          <p:cNvPr id="18" name="Shape 16"/>
          <p:cNvSpPr/>
          <p:nvPr/>
        </p:nvSpPr>
        <p:spPr>
          <a:xfrm flipH="1">
            <a:off x="7589520" y="3017520"/>
            <a:ext cx="1600200" cy="548640"/>
          </a:xfrm>
          <a:prstGeom prst="line">
            <a:avLst/>
          </a:prstGeom>
          <a:noFill/>
          <a:ln w="25400">
            <a:solidFill>
              <a:srgbClr val="9AA0A6"/>
            </a:solidFill>
            <a:prstDash val="solid"/>
            <a:tailEnd type="arrow"/>
          </a:ln>
        </p:spPr>
      </p:sp>
      <p:sp>
        <p:nvSpPr>
          <p:cNvPr id="19" name="Shape 17"/>
          <p:cNvSpPr/>
          <p:nvPr/>
        </p:nvSpPr>
        <p:spPr>
          <a:xfrm>
            <a:off x="9189720" y="3017520"/>
            <a:ext cx="9144" cy="548640"/>
          </a:xfrm>
          <a:prstGeom prst="line">
            <a:avLst/>
          </a:prstGeom>
          <a:noFill/>
          <a:ln w="25400">
            <a:solidFill>
              <a:srgbClr val="F96167"/>
            </a:solidFill>
            <a:prstDash val="dash"/>
            <a:tailEnd type="arrow"/>
          </a:ln>
        </p:spPr>
      </p:sp>
      <p:sp>
        <p:nvSpPr>
          <p:cNvPr id="20" name="Shape 18"/>
          <p:cNvSpPr/>
          <p:nvPr/>
        </p:nvSpPr>
        <p:spPr>
          <a:xfrm>
            <a:off x="9189720" y="3017520"/>
            <a:ext cx="1600200" cy="548640"/>
          </a:xfrm>
          <a:prstGeom prst="line">
            <a:avLst/>
          </a:prstGeom>
          <a:noFill/>
          <a:ln w="25400">
            <a:solidFill>
              <a:srgbClr val="9AA0A6"/>
            </a:solidFill>
            <a:prstDash val="solid"/>
            <a:tailEnd type="arrow"/>
          </a:ln>
        </p:spPr>
      </p:sp>
      <p:sp>
        <p:nvSpPr>
          <p:cNvPr id="21" name="Text 19"/>
          <p:cNvSpPr txBox="1"/>
          <p:nvPr/>
        </p:nvSpPr>
        <p:spPr>
          <a:xfrm>
            <a:off x="9418320" y="2880360"/>
            <a:ext cx="2103120" cy="548640"/>
          </a:xfrm>
          <a:prstGeom prst="rect">
            <a:avLst/>
          </a:prstGeom>
          <a:noFill/>
          <a:ln/>
        </p:spPr>
        <p:txBody>
          <a:bodyPr wrap="square" lIns="0" tIns="0" rIns="0" bIns="0" rtlCol="0" anchor="ctr"/>
          <a:lstStyle/>
          <a:p>
            <a:pPr indent="0" marL="0">
              <a:buNone/>
            </a:pPr>
            <a:r>
              <a:rPr lang="en-US" sz="1100" b="1" dirty="0">
                <a:solidFill>
                  <a:srgbClr val="F96167"/>
                </a:solidFill>
                <a:latin typeface="Calibri" pitchFamily="34" charset="0"/>
                <a:ea typeface="Calibri" pitchFamily="34" charset="-122"/>
                <a:cs typeface="Calibri" pitchFamily="34" charset="-120"/>
              </a:rPr>
              <a:t>✗ call fails while</a:t>
            </a:r>
            <a:endParaRPr lang="en-US" sz="1100" dirty="0"/>
          </a:p>
          <a:p>
            <a:pPr indent="0" marL="0">
              <a:buNone/>
            </a:pPr>
            <a:r>
              <a:rPr lang="en-US" sz="1100" b="1" dirty="0">
                <a:solidFill>
                  <a:srgbClr val="F96167"/>
                </a:solidFill>
                <a:latin typeface="Calibri" pitchFamily="34" charset="0"/>
                <a:ea typeface="Calibri" pitchFamily="34" charset="-122"/>
                <a:cs typeface="Calibri" pitchFamily="34" charset="-120"/>
              </a:rPr>
              <a:t>rider-service is down</a:t>
            </a:r>
            <a:endParaRPr lang="en-US" sz="1100" dirty="0"/>
          </a:p>
        </p:txBody>
      </p:sp>
      <p:sp>
        <p:nvSpPr>
          <p:cNvPr id="22" name="Text 20"/>
          <p:cNvSpPr txBox="1"/>
          <p:nvPr/>
        </p:nvSpPr>
        <p:spPr>
          <a:xfrm>
            <a:off x="6995160" y="4892040"/>
            <a:ext cx="4389120" cy="822960"/>
          </a:xfrm>
          <a:prstGeom prst="rect">
            <a:avLst/>
          </a:prstGeom>
          <a:noFill/>
          <a:ln/>
        </p:spPr>
        <p:txBody>
          <a:bodyPr wrap="square" lIns="0" tIns="0" rIns="0" bIns="0" rtlCol="0" anchor="ctr"/>
          <a:lstStyle/>
          <a:p>
            <a:pPr indent="0" marL="0">
              <a:buNone/>
            </a:pPr>
            <a:r>
              <a:rPr lang="en-US" sz="1200" i="1" dirty="0">
                <a:solidFill>
                  <a:srgbClr val="5B5B5B"/>
                </a:solidFill>
                <a:latin typeface="Calibri" pitchFamily="34" charset="0"/>
                <a:ea typeface="Calibri" pitchFamily="34" charset="-122"/>
                <a:cs typeface="Calibri" pitchFamily="34" charset="-120"/>
              </a:rPr>
              <a:t>Update to the rider is lost forever — no retry, no record.</a:t>
            </a:r>
            <a:endParaRPr lang="en-US" sz="1200" dirty="0"/>
          </a:p>
        </p:txBody>
      </p:sp>
      <p:sp>
        <p:nvSpPr>
          <p:cNvPr id="23" name="Text 21"/>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1000" dirty="0">
                <a:solidFill>
                  <a:srgbClr val="9AA0A6"/>
                </a:solidFill>
                <a:latin typeface="Calibri" pitchFamily="34" charset="0"/>
                <a:ea typeface="Calibri" pitchFamily="34" charset="-122"/>
                <a:cs typeface="Calibri" pitchFamily="34" charset="-120"/>
              </a:rPr>
              <a:t>1 · Scenario</a:t>
            </a:r>
            <a:endParaRPr lang="en-US" sz="1000" dirty="0"/>
          </a:p>
        </p:txBody>
      </p:sp>
      <p:sp>
        <p:nvSpPr>
          <p:cNvPr id="24" name="Text 22"/>
          <p:cNvSpPr txBox="1"/>
          <p:nvPr/>
        </p:nvSpPr>
        <p:spPr>
          <a:xfrm>
            <a:off x="11338560" y="6510528"/>
            <a:ext cx="365760" cy="274320"/>
          </a:xfrm>
          <a:prstGeom prst="rect">
            <a:avLst/>
          </a:prstGeom>
          <a:noFill/>
          <a:ln/>
        </p:spPr>
        <p:txBody>
          <a:bodyPr wrap="square" lIns="0" tIns="0" rIns="0" bIns="0" rtlCol="0" anchor="ctr"/>
          <a:lstStyle/>
          <a:p>
            <a:pPr algn="r" indent="0" marL="0">
              <a:buNone/>
            </a:pPr>
            <a:r>
              <a:rPr lang="en-US" sz="1000" dirty="0">
                <a:solidFill>
                  <a:srgbClr val="9AA0A6"/>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algn="l" indent="0" marL="0">
              <a:buNone/>
            </a:pPr>
            <a:r>
              <a:rPr lang="en-US" sz="3000" b="1" dirty="0">
                <a:solidFill>
                  <a:srgbClr val="2F3C7E"/>
                </a:solidFill>
                <a:latin typeface="Cambria" pitchFamily="34" charset="0"/>
                <a:ea typeface="Cambria" pitchFamily="34" charset="-122"/>
                <a:cs typeface="Cambria" pitchFamily="34" charset="-120"/>
              </a:rPr>
              <a:t>Technology of Interest: Apache Kafka</a:t>
            </a:r>
            <a:endParaRPr lang="en-US" sz="3000" dirty="0"/>
          </a:p>
        </p:txBody>
      </p:sp>
      <p:sp>
        <p:nvSpPr>
          <p:cNvPr id="3" name="Text 1"/>
          <p:cNvSpPr txBox="1"/>
          <p:nvPr/>
        </p:nvSpPr>
        <p:spPr>
          <a:xfrm>
            <a:off x="548640" y="1280160"/>
            <a:ext cx="11064240" cy="777240"/>
          </a:xfrm>
          <a:prstGeom prst="rect">
            <a:avLst/>
          </a:prstGeom>
          <a:noFill/>
          <a:ln/>
        </p:spPr>
        <p:txBody>
          <a:bodyPr wrap="square" lIns="0" tIns="0" rIns="0" bIns="0" rtlCol="0" anchor="ctr"/>
          <a:lstStyle/>
          <a:p>
            <a:pPr indent="0" marL="0">
              <a:lnSpc>
                <a:spcPct val="120000"/>
              </a:lnSpc>
              <a:buNone/>
            </a:pPr>
            <a:r>
              <a:rPr lang="en-US" sz="1500" dirty="0">
                <a:solidFill>
                  <a:srgbClr val="222222"/>
                </a:solidFill>
                <a:latin typeface="Calibri" pitchFamily="34" charset="0"/>
                <a:ea typeface="Calibri" pitchFamily="34" charset="-122"/>
                <a:cs typeface="Calibri" pitchFamily="34" charset="-120"/>
              </a:rPr>
              <a:t>Apache Kafka is a distributed event-streaming platform. Producers publish events to a topic; Kafka durably stores them; independent consumers read at their own pace — no direct calls, no lost updates.</a:t>
            </a:r>
            <a:endParaRPr lang="en-US" sz="1500" dirty="0"/>
          </a:p>
        </p:txBody>
      </p:sp>
      <p:sp>
        <p:nvSpPr>
          <p:cNvPr id="4" name="Shape 2"/>
          <p:cNvSpPr/>
          <p:nvPr/>
        </p:nvSpPr>
        <p:spPr>
          <a:xfrm>
            <a:off x="548640" y="2331720"/>
            <a:ext cx="640080" cy="640080"/>
          </a:xfrm>
          <a:prstGeom prst="ellipse">
            <a:avLst/>
          </a:prstGeom>
          <a:solidFill>
            <a:srgbClr val="2F3C7E"/>
          </a:solidFill>
          <a:ln/>
        </p:spPr>
      </p:sp>
      <p:sp>
        <p:nvSpPr>
          <p:cNvPr id="5" name="Text 3"/>
          <p:cNvSpPr txBox="1"/>
          <p:nvPr/>
        </p:nvSpPr>
        <p:spPr>
          <a:xfrm>
            <a:off x="548640" y="233172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417320" y="2286000"/>
            <a:ext cx="4663440" cy="365760"/>
          </a:xfrm>
          <a:prstGeom prst="rect">
            <a:avLst/>
          </a:prstGeom>
          <a:noFill/>
          <a:ln/>
        </p:spPr>
        <p:txBody>
          <a:bodyPr wrap="square" lIns="0" tIns="0" rIns="0" bIns="0" rtlCol="0" anchor="ctr"/>
          <a:lstStyle/>
          <a:p>
            <a:pPr indent="0" marL="0">
              <a:buNone/>
            </a:pPr>
            <a:r>
              <a:rPr lang="en-US" sz="1600" b="1" dirty="0">
                <a:solidFill>
                  <a:srgbClr val="2F3C7E"/>
                </a:solidFill>
                <a:latin typeface="Calibri" pitchFamily="34" charset="0"/>
                <a:ea typeface="Calibri" pitchFamily="34" charset="-122"/>
                <a:cs typeface="Calibri" pitchFamily="34" charset="-120"/>
              </a:rPr>
              <a:t>Topic</a:t>
            </a:r>
            <a:endParaRPr lang="en-US" sz="1600" dirty="0"/>
          </a:p>
        </p:txBody>
      </p:sp>
      <p:sp>
        <p:nvSpPr>
          <p:cNvPr id="7" name="Text 5"/>
          <p:cNvSpPr txBox="1"/>
          <p:nvPr/>
        </p:nvSpPr>
        <p:spPr>
          <a:xfrm>
            <a:off x="1417320" y="2679192"/>
            <a:ext cx="4663440" cy="1280160"/>
          </a:xfrm>
          <a:prstGeom prst="rect">
            <a:avLst/>
          </a:prstGeom>
          <a:noFill/>
          <a:ln/>
        </p:spPr>
        <p:txBody>
          <a:bodyPr wrap="square" lIns="0" tIns="0" rIns="0" bIns="0" rtlCol="0" anchor="ctr"/>
          <a:lstStyle/>
          <a:p>
            <a:pPr indent="0" marL="0">
              <a:lnSpc>
                <a:spcPct val="115000"/>
              </a:lnSpc>
              <a:buNone/>
            </a:pPr>
            <a:r>
              <a:rPr lang="en-US" sz="1250" dirty="0">
                <a:solidFill>
                  <a:srgbClr val="5B5B5B"/>
                </a:solidFill>
                <a:latin typeface="Calibri" pitchFamily="34" charset="0"/>
                <a:ea typeface="Calibri" pitchFamily="34" charset="-122"/>
                <a:cs typeface="Calibri" pitchFamily="34" charset="-120"/>
              </a:rPr>
              <a:t>order.status.updated — a durable, append-only log of every status change.</a:t>
            </a:r>
            <a:endParaRPr lang="en-US" sz="1250" dirty="0"/>
          </a:p>
        </p:txBody>
      </p:sp>
      <p:sp>
        <p:nvSpPr>
          <p:cNvPr id="8" name="Shape 6"/>
          <p:cNvSpPr/>
          <p:nvPr/>
        </p:nvSpPr>
        <p:spPr>
          <a:xfrm>
            <a:off x="6217920" y="2331720"/>
            <a:ext cx="640080" cy="640080"/>
          </a:xfrm>
          <a:prstGeom prst="ellipse">
            <a:avLst/>
          </a:prstGeom>
          <a:solidFill>
            <a:srgbClr val="F96167"/>
          </a:solidFill>
          <a:ln/>
        </p:spPr>
      </p:sp>
      <p:sp>
        <p:nvSpPr>
          <p:cNvPr id="9" name="Text 7"/>
          <p:cNvSpPr txBox="1"/>
          <p:nvPr/>
        </p:nvSpPr>
        <p:spPr>
          <a:xfrm>
            <a:off x="6217920" y="233172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8"/>
          <p:cNvSpPr txBox="1"/>
          <p:nvPr/>
        </p:nvSpPr>
        <p:spPr>
          <a:xfrm>
            <a:off x="7086600" y="2286000"/>
            <a:ext cx="4663440" cy="365760"/>
          </a:xfrm>
          <a:prstGeom prst="rect">
            <a:avLst/>
          </a:prstGeom>
          <a:noFill/>
          <a:ln/>
        </p:spPr>
        <p:txBody>
          <a:bodyPr wrap="square" lIns="0" tIns="0" rIns="0" bIns="0" rtlCol="0" anchor="ctr"/>
          <a:lstStyle/>
          <a:p>
            <a:pPr indent="0" marL="0">
              <a:buNone/>
            </a:pPr>
            <a:r>
              <a:rPr lang="en-US" sz="1600" b="1" dirty="0">
                <a:solidFill>
                  <a:srgbClr val="2F3C7E"/>
                </a:solidFill>
                <a:latin typeface="Calibri" pitchFamily="34" charset="0"/>
                <a:ea typeface="Calibri" pitchFamily="34" charset="-122"/>
                <a:cs typeface="Calibri" pitchFamily="34" charset="-120"/>
              </a:rPr>
              <a:t>Producer</a:t>
            </a:r>
            <a:endParaRPr lang="en-US" sz="1600" dirty="0"/>
          </a:p>
        </p:txBody>
      </p:sp>
      <p:sp>
        <p:nvSpPr>
          <p:cNvPr id="11" name="Text 9"/>
          <p:cNvSpPr txBox="1"/>
          <p:nvPr/>
        </p:nvSpPr>
        <p:spPr>
          <a:xfrm>
            <a:off x="7086600" y="2679192"/>
            <a:ext cx="4663440" cy="1280160"/>
          </a:xfrm>
          <a:prstGeom prst="rect">
            <a:avLst/>
          </a:prstGeom>
          <a:noFill/>
          <a:ln/>
        </p:spPr>
        <p:txBody>
          <a:bodyPr wrap="square" lIns="0" tIns="0" rIns="0" bIns="0" rtlCol="0" anchor="ctr"/>
          <a:lstStyle/>
          <a:p>
            <a:pPr indent="0" marL="0">
              <a:lnSpc>
                <a:spcPct val="115000"/>
              </a:lnSpc>
              <a:buNone/>
            </a:pPr>
            <a:r>
              <a:rPr lang="en-US" sz="1250" dirty="0">
                <a:solidFill>
                  <a:srgbClr val="5B5B5B"/>
                </a:solidFill>
                <a:latin typeface="Calibri" pitchFamily="34" charset="0"/>
                <a:ea typeface="Calibri" pitchFamily="34" charset="-122"/>
                <a:cs typeface="Calibri" pitchFamily="34" charset="-120"/>
              </a:rPr>
              <a:t>order-service is the only writer. It publishes one event per status change.</a:t>
            </a:r>
            <a:endParaRPr lang="en-US" sz="1250" dirty="0"/>
          </a:p>
        </p:txBody>
      </p:sp>
      <p:sp>
        <p:nvSpPr>
          <p:cNvPr id="12" name="Shape 10"/>
          <p:cNvSpPr/>
          <p:nvPr/>
        </p:nvSpPr>
        <p:spPr>
          <a:xfrm>
            <a:off x="548640" y="4160520"/>
            <a:ext cx="640080" cy="640080"/>
          </a:xfrm>
          <a:prstGeom prst="ellipse">
            <a:avLst/>
          </a:prstGeom>
          <a:solidFill>
            <a:srgbClr val="2F3C7E"/>
          </a:solidFill>
          <a:ln/>
        </p:spPr>
      </p:sp>
      <p:sp>
        <p:nvSpPr>
          <p:cNvPr id="13" name="Text 11"/>
          <p:cNvSpPr txBox="1"/>
          <p:nvPr/>
        </p:nvSpPr>
        <p:spPr>
          <a:xfrm>
            <a:off x="548640" y="416052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4" name="Text 12"/>
          <p:cNvSpPr txBox="1"/>
          <p:nvPr/>
        </p:nvSpPr>
        <p:spPr>
          <a:xfrm>
            <a:off x="1417320" y="4114800"/>
            <a:ext cx="4663440" cy="365760"/>
          </a:xfrm>
          <a:prstGeom prst="rect">
            <a:avLst/>
          </a:prstGeom>
          <a:noFill/>
          <a:ln/>
        </p:spPr>
        <p:txBody>
          <a:bodyPr wrap="square" lIns="0" tIns="0" rIns="0" bIns="0" rtlCol="0" anchor="ctr"/>
          <a:lstStyle/>
          <a:p>
            <a:pPr indent="0" marL="0">
              <a:buNone/>
            </a:pPr>
            <a:r>
              <a:rPr lang="en-US" sz="1600" b="1" dirty="0">
                <a:solidFill>
                  <a:srgbClr val="2F3C7E"/>
                </a:solidFill>
                <a:latin typeface="Calibri" pitchFamily="34" charset="0"/>
                <a:ea typeface="Calibri" pitchFamily="34" charset="-122"/>
                <a:cs typeface="Calibri" pitchFamily="34" charset="-120"/>
              </a:rPr>
              <a:t>Consumer Group</a:t>
            </a:r>
            <a:endParaRPr lang="en-US" sz="1600" dirty="0"/>
          </a:p>
        </p:txBody>
      </p:sp>
      <p:sp>
        <p:nvSpPr>
          <p:cNvPr id="15" name="Text 13"/>
          <p:cNvSpPr txBox="1"/>
          <p:nvPr/>
        </p:nvSpPr>
        <p:spPr>
          <a:xfrm>
            <a:off x="1417320" y="4507992"/>
            <a:ext cx="4663440" cy="1280160"/>
          </a:xfrm>
          <a:prstGeom prst="rect">
            <a:avLst/>
          </a:prstGeom>
          <a:noFill/>
          <a:ln/>
        </p:spPr>
        <p:txBody>
          <a:bodyPr wrap="square" lIns="0" tIns="0" rIns="0" bIns="0" rtlCol="0" anchor="ctr"/>
          <a:lstStyle/>
          <a:p>
            <a:pPr indent="0" marL="0">
              <a:lnSpc>
                <a:spcPct val="115000"/>
              </a:lnSpc>
              <a:buNone/>
            </a:pPr>
            <a:r>
              <a:rPr lang="en-US" sz="1250" dirty="0">
                <a:solidFill>
                  <a:srgbClr val="5B5B5B"/>
                </a:solidFill>
                <a:latin typeface="Calibri" pitchFamily="34" charset="0"/>
                <a:ea typeface="Calibri" pitchFamily="34" charset="-122"/>
                <a:cs typeface="Calibri" pitchFamily="34" charset="-120"/>
              </a:rPr>
              <a:t>Each downstream service (customer, rider, notification) reads with its own group — they don’t compete or block each other.</a:t>
            </a:r>
            <a:endParaRPr lang="en-US" sz="1250" dirty="0"/>
          </a:p>
        </p:txBody>
      </p:sp>
      <p:sp>
        <p:nvSpPr>
          <p:cNvPr id="16" name="Shape 14"/>
          <p:cNvSpPr/>
          <p:nvPr/>
        </p:nvSpPr>
        <p:spPr>
          <a:xfrm>
            <a:off x="6217920" y="4160520"/>
            <a:ext cx="640080" cy="640080"/>
          </a:xfrm>
          <a:prstGeom prst="ellipse">
            <a:avLst/>
          </a:prstGeom>
          <a:solidFill>
            <a:srgbClr val="F96167"/>
          </a:solidFill>
          <a:ln/>
        </p:spPr>
      </p:sp>
      <p:sp>
        <p:nvSpPr>
          <p:cNvPr id="17" name="Text 15"/>
          <p:cNvSpPr txBox="1"/>
          <p:nvPr/>
        </p:nvSpPr>
        <p:spPr>
          <a:xfrm>
            <a:off x="6217920" y="416052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8" name="Text 16"/>
          <p:cNvSpPr txBox="1"/>
          <p:nvPr/>
        </p:nvSpPr>
        <p:spPr>
          <a:xfrm>
            <a:off x="7086600" y="4114800"/>
            <a:ext cx="4663440" cy="365760"/>
          </a:xfrm>
          <a:prstGeom prst="rect">
            <a:avLst/>
          </a:prstGeom>
          <a:noFill/>
          <a:ln/>
        </p:spPr>
        <p:txBody>
          <a:bodyPr wrap="square" lIns="0" tIns="0" rIns="0" bIns="0" rtlCol="0" anchor="ctr"/>
          <a:lstStyle/>
          <a:p>
            <a:pPr indent="0" marL="0">
              <a:buNone/>
            </a:pPr>
            <a:r>
              <a:rPr lang="en-US" sz="1600" b="1" dirty="0">
                <a:solidFill>
                  <a:srgbClr val="2F3C7E"/>
                </a:solidFill>
                <a:latin typeface="Calibri" pitchFamily="34" charset="0"/>
                <a:ea typeface="Calibri" pitchFamily="34" charset="-122"/>
                <a:cs typeface="Calibri" pitchFamily="34" charset="-120"/>
              </a:rPr>
              <a:t>Offset &amp; Replay</a:t>
            </a:r>
            <a:endParaRPr lang="en-US" sz="1600" dirty="0"/>
          </a:p>
        </p:txBody>
      </p:sp>
      <p:sp>
        <p:nvSpPr>
          <p:cNvPr id="19" name="Text 17"/>
          <p:cNvSpPr txBox="1"/>
          <p:nvPr/>
        </p:nvSpPr>
        <p:spPr>
          <a:xfrm>
            <a:off x="7086600" y="4507992"/>
            <a:ext cx="4663440" cy="1280160"/>
          </a:xfrm>
          <a:prstGeom prst="rect">
            <a:avLst/>
          </a:prstGeom>
          <a:noFill/>
          <a:ln/>
        </p:spPr>
        <p:txBody>
          <a:bodyPr wrap="square" lIns="0" tIns="0" rIns="0" bIns="0" rtlCol="0" anchor="ctr"/>
          <a:lstStyle/>
          <a:p>
            <a:pPr indent="0" marL="0">
              <a:lnSpc>
                <a:spcPct val="115000"/>
              </a:lnSpc>
              <a:buNone/>
            </a:pPr>
            <a:r>
              <a:rPr lang="en-US" sz="1250" dirty="0">
                <a:solidFill>
                  <a:srgbClr val="5B5B5B"/>
                </a:solidFill>
                <a:latin typeface="Calibri" pitchFamily="34" charset="0"/>
                <a:ea typeface="Calibri" pitchFamily="34" charset="-122"/>
                <a:cs typeface="Calibri" pitchFamily="34" charset="-120"/>
              </a:rPr>
              <a:t>Kafka remembers what each group has read. A restarted service resumes exactly where it left off.</a:t>
            </a:r>
            <a:endParaRPr lang="en-US" sz="1250" dirty="0"/>
          </a:p>
        </p:txBody>
      </p:sp>
      <p:sp>
        <p:nvSpPr>
          <p:cNvPr id="20" name="Text 18"/>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1000" dirty="0">
                <a:solidFill>
                  <a:srgbClr val="9AA0A6"/>
                </a:solidFill>
                <a:latin typeface="Calibri" pitchFamily="34" charset="0"/>
                <a:ea typeface="Calibri" pitchFamily="34" charset="-122"/>
                <a:cs typeface="Calibri" pitchFamily="34" charset="-120"/>
              </a:rPr>
              <a:t>2 · Technology of Interest</a:t>
            </a:r>
            <a:endParaRPr lang="en-US" sz="1000" dirty="0"/>
          </a:p>
        </p:txBody>
      </p:sp>
      <p:sp>
        <p:nvSpPr>
          <p:cNvPr id="21" name="Text 19"/>
          <p:cNvSpPr txBox="1"/>
          <p:nvPr/>
        </p:nvSpPr>
        <p:spPr>
          <a:xfrm>
            <a:off x="11338560" y="6510528"/>
            <a:ext cx="365760" cy="274320"/>
          </a:xfrm>
          <a:prstGeom prst="rect">
            <a:avLst/>
          </a:prstGeom>
          <a:noFill/>
          <a:ln/>
        </p:spPr>
        <p:txBody>
          <a:bodyPr wrap="square" lIns="0" tIns="0" rIns="0" bIns="0" rtlCol="0" anchor="ctr"/>
          <a:lstStyle/>
          <a:p>
            <a:pPr algn="r" indent="0" marL="0">
              <a:buNone/>
            </a:pPr>
            <a:r>
              <a:rPr lang="en-US" sz="1000" dirty="0">
                <a:solidFill>
                  <a:srgbClr val="9AA0A6"/>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algn="l" indent="0" marL="0">
              <a:buNone/>
            </a:pPr>
            <a:r>
              <a:rPr lang="en-US" sz="3000" b="1" dirty="0">
                <a:solidFill>
                  <a:srgbClr val="2F3C7E"/>
                </a:solidFill>
                <a:latin typeface="Cambria" pitchFamily="34" charset="0"/>
                <a:ea typeface="Cambria" pitchFamily="34" charset="-122"/>
                <a:cs typeface="Cambria" pitchFamily="34" charset="-120"/>
              </a:rPr>
              <a:t>Implementation: Architecture (After)</a:t>
            </a:r>
            <a:endParaRPr lang="en-US" sz="3000" dirty="0"/>
          </a:p>
        </p:txBody>
      </p:sp>
      <p:sp>
        <p:nvSpPr>
          <p:cNvPr id="3" name="Shape 1"/>
          <p:cNvSpPr/>
          <p:nvPr/>
        </p:nvSpPr>
        <p:spPr>
          <a:xfrm>
            <a:off x="548640" y="2377440"/>
            <a:ext cx="2377440" cy="1188720"/>
          </a:xfrm>
          <a:prstGeom prst="roundRect">
            <a:avLst>
              <a:gd name="adj" fmla="val 6154"/>
            </a:avLst>
          </a:prstGeom>
          <a:solidFill>
            <a:srgbClr val="E8F0FE"/>
          </a:solidFill>
          <a:ln w="19050">
            <a:solidFill>
              <a:srgbClr val="2F3C7E"/>
            </a:solidFill>
            <a:prstDash val="solid"/>
          </a:ln>
        </p:spPr>
      </p:sp>
      <p:sp>
        <p:nvSpPr>
          <p:cNvPr id="4" name="Text 2"/>
          <p:cNvSpPr txBox="1"/>
          <p:nvPr/>
        </p:nvSpPr>
        <p:spPr>
          <a:xfrm>
            <a:off x="640080" y="2487168"/>
            <a:ext cx="2194560" cy="320040"/>
          </a:xfrm>
          <a:prstGeom prst="rect">
            <a:avLst/>
          </a:prstGeom>
          <a:noFill/>
          <a:ln/>
        </p:spPr>
        <p:txBody>
          <a:bodyPr wrap="square" lIns="0" tIns="0" rIns="0" bIns="0" rtlCol="0" anchor="ctr"/>
          <a:lstStyle/>
          <a:p>
            <a:pPr indent="0" marL="0">
              <a:buNone/>
            </a:pPr>
            <a:r>
              <a:rPr lang="en-US" sz="1350" b="1" dirty="0">
                <a:solidFill>
                  <a:srgbClr val="2F3C7E"/>
                </a:solidFill>
                <a:latin typeface="Calibri" pitchFamily="34" charset="0"/>
                <a:ea typeface="Calibri" pitchFamily="34" charset="-122"/>
                <a:cs typeface="Calibri" pitchFamily="34" charset="-120"/>
              </a:rPr>
              <a:t>Order Service</a:t>
            </a:r>
            <a:endParaRPr lang="en-US" sz="1350" dirty="0"/>
          </a:p>
        </p:txBody>
      </p:sp>
      <p:sp>
        <p:nvSpPr>
          <p:cNvPr id="5" name="Text 3"/>
          <p:cNvSpPr txBox="1"/>
          <p:nvPr/>
        </p:nvSpPr>
        <p:spPr>
          <a:xfrm>
            <a:off x="640080" y="2816352"/>
            <a:ext cx="2194560" cy="685800"/>
          </a:xfrm>
          <a:prstGeom prst="rect">
            <a:avLst/>
          </a:prstGeom>
          <a:noFill/>
          <a:ln/>
        </p:spPr>
        <p:txBody>
          <a:bodyPr wrap="square" lIns="0" tIns="0" rIns="0" bIns="0" rtlCol="0" anchor="ctr"/>
          <a:lstStyle/>
          <a:p>
            <a:pPr indent="0" marL="0">
              <a:buNone/>
            </a:pPr>
            <a:r>
              <a:rPr lang="en-US" sz="1100" dirty="0">
                <a:solidFill>
                  <a:srgbClr val="5B5B5B"/>
                </a:solidFill>
                <a:latin typeface="Calibri" pitchFamily="34" charset="0"/>
                <a:ea typeface="Calibri" pitchFamily="34" charset="-122"/>
                <a:cs typeface="Calibri" pitchFamily="34" charset="-120"/>
              </a:rPr>
              <a:t>Node.js + Express</a:t>
            </a:r>
            <a:endParaRPr lang="en-US" sz="1100" dirty="0"/>
          </a:p>
          <a:p>
            <a:pPr indent="0" marL="0">
              <a:buNone/>
            </a:pPr>
            <a:r>
              <a:rPr lang="en-US" sz="1100" dirty="0">
                <a:solidFill>
                  <a:srgbClr val="5B5B5B"/>
                </a:solidFill>
                <a:latin typeface="Calibri" pitchFamily="34" charset="0"/>
                <a:ea typeface="Calibri" pitchFamily="34" charset="-122"/>
                <a:cs typeface="Calibri" pitchFamily="34" charset="-120"/>
              </a:rPr>
              <a:t>Kafka Producer</a:t>
            </a:r>
            <a:endParaRPr lang="en-US" sz="1100" dirty="0"/>
          </a:p>
        </p:txBody>
      </p:sp>
      <p:sp>
        <p:nvSpPr>
          <p:cNvPr id="6" name="Shape 4"/>
          <p:cNvSpPr/>
          <p:nvPr/>
        </p:nvSpPr>
        <p:spPr>
          <a:xfrm>
            <a:off x="3977640" y="2148840"/>
            <a:ext cx="2834640" cy="1691640"/>
          </a:xfrm>
          <a:prstGeom prst="roundRect">
            <a:avLst>
              <a:gd name="adj" fmla="val 4324"/>
            </a:avLst>
          </a:prstGeom>
          <a:solidFill>
            <a:srgbClr val="FFF3E0"/>
          </a:solidFill>
          <a:ln w="19050">
            <a:solidFill>
              <a:srgbClr val="E07B00"/>
            </a:solidFill>
            <a:prstDash val="solid"/>
          </a:ln>
        </p:spPr>
      </p:sp>
      <p:sp>
        <p:nvSpPr>
          <p:cNvPr id="7" name="Text 5"/>
          <p:cNvSpPr txBox="1"/>
          <p:nvPr/>
        </p:nvSpPr>
        <p:spPr>
          <a:xfrm>
            <a:off x="4069080" y="2267712"/>
            <a:ext cx="2651760" cy="320040"/>
          </a:xfrm>
          <a:prstGeom prst="rect">
            <a:avLst/>
          </a:prstGeom>
          <a:noFill/>
          <a:ln/>
        </p:spPr>
        <p:txBody>
          <a:bodyPr wrap="square" lIns="0" tIns="0" rIns="0" bIns="0" rtlCol="0" anchor="ctr"/>
          <a:lstStyle/>
          <a:p>
            <a:pPr indent="0" marL="0">
              <a:buNone/>
            </a:pPr>
            <a:r>
              <a:rPr lang="en-US" sz="1400" b="1" dirty="0">
                <a:solidFill>
                  <a:srgbClr val="8A4B00"/>
                </a:solidFill>
                <a:latin typeface="Calibri" pitchFamily="34" charset="0"/>
                <a:ea typeface="Calibri" pitchFamily="34" charset="-122"/>
                <a:cs typeface="Calibri" pitchFamily="34" charset="-120"/>
              </a:rPr>
              <a:t>Apache Kafka</a:t>
            </a:r>
            <a:endParaRPr lang="en-US" sz="1400" dirty="0"/>
          </a:p>
        </p:txBody>
      </p:sp>
      <p:sp>
        <p:nvSpPr>
          <p:cNvPr id="8" name="Text 6"/>
          <p:cNvSpPr txBox="1"/>
          <p:nvPr/>
        </p:nvSpPr>
        <p:spPr>
          <a:xfrm>
            <a:off x="4069080" y="2606040"/>
            <a:ext cx="2651760" cy="1188720"/>
          </a:xfrm>
          <a:prstGeom prst="rect">
            <a:avLst/>
          </a:prstGeom>
          <a:noFill/>
          <a:ln/>
        </p:spPr>
        <p:txBody>
          <a:bodyPr wrap="square" lIns="0" tIns="0" rIns="0" bIns="0" rtlCol="0" anchor="ctr"/>
          <a:lstStyle/>
          <a:p>
            <a:pPr indent="0" marL="0">
              <a:lnSpc>
                <a:spcPct val="120000"/>
              </a:lnSpc>
              <a:buNone/>
            </a:pPr>
            <a:r>
              <a:rPr lang="en-US" sz="1050" dirty="0">
                <a:solidFill>
                  <a:srgbClr val="6B4400"/>
                </a:solidFill>
                <a:latin typeface="Calibri" pitchFamily="34" charset="0"/>
                <a:ea typeface="Calibri" pitchFamily="34" charset="-122"/>
                <a:cs typeface="Calibri" pitchFamily="34" charset="-120"/>
              </a:rPr>
              <a:t>topic: order.status.updated</a:t>
            </a:r>
            <a:endParaRPr lang="en-US" sz="1050" dirty="0"/>
          </a:p>
          <a:p>
            <a:pPr indent="0" marL="0">
              <a:lnSpc>
                <a:spcPct val="120000"/>
              </a:lnSpc>
              <a:buNone/>
            </a:pPr>
            <a:r>
              <a:rPr lang="en-US" sz="1050" dirty="0">
                <a:solidFill>
                  <a:srgbClr val="6B4400"/>
                </a:solidFill>
                <a:latin typeface="Calibri" pitchFamily="34" charset="0"/>
                <a:ea typeface="Calibri" pitchFamily="34" charset="-122"/>
                <a:cs typeface="Calibri" pitchFamily="34" charset="-120"/>
              </a:rPr>
              <a:t>Events retained on disk —</a:t>
            </a:r>
            <a:endParaRPr lang="en-US" sz="1050" dirty="0"/>
          </a:p>
          <a:p>
            <a:pPr indent="0" marL="0">
              <a:lnSpc>
                <a:spcPct val="120000"/>
              </a:lnSpc>
              <a:buNone/>
            </a:pPr>
            <a:r>
              <a:rPr lang="en-US" sz="1050" dirty="0">
                <a:solidFill>
                  <a:srgbClr val="6B4400"/>
                </a:solidFill>
                <a:latin typeface="Calibri" pitchFamily="34" charset="0"/>
                <a:ea typeface="Calibri" pitchFamily="34" charset="-122"/>
                <a:cs typeface="Calibri" pitchFamily="34" charset="-120"/>
              </a:rPr>
              <a:t>consumers can replay after restart</a:t>
            </a:r>
            <a:endParaRPr lang="en-US" sz="1050" dirty="0"/>
          </a:p>
        </p:txBody>
      </p:sp>
      <p:sp>
        <p:nvSpPr>
          <p:cNvPr id="9" name="Shape 7"/>
          <p:cNvSpPr/>
          <p:nvPr/>
        </p:nvSpPr>
        <p:spPr>
          <a:xfrm>
            <a:off x="8732520" y="960120"/>
            <a:ext cx="2880360" cy="1188720"/>
          </a:xfrm>
          <a:prstGeom prst="roundRect">
            <a:avLst>
              <a:gd name="adj" fmla="val 6154"/>
            </a:avLst>
          </a:prstGeom>
          <a:solidFill>
            <a:srgbClr val="E6F4EA"/>
          </a:solidFill>
          <a:ln w="19050">
            <a:solidFill>
              <a:srgbClr val="1E8E3E"/>
            </a:solidFill>
            <a:prstDash val="solid"/>
          </a:ln>
        </p:spPr>
      </p:sp>
      <p:sp>
        <p:nvSpPr>
          <p:cNvPr id="10" name="Text 8"/>
          <p:cNvSpPr txBox="1"/>
          <p:nvPr/>
        </p:nvSpPr>
        <p:spPr>
          <a:xfrm>
            <a:off x="8851392" y="1069848"/>
            <a:ext cx="2651760" cy="320040"/>
          </a:xfrm>
          <a:prstGeom prst="rect">
            <a:avLst/>
          </a:prstGeom>
          <a:noFill/>
          <a:ln/>
        </p:spPr>
        <p:txBody>
          <a:bodyPr wrap="square" lIns="0" tIns="0" rIns="0" bIns="0" rtlCol="0" anchor="ctr"/>
          <a:lstStyle/>
          <a:p>
            <a:pPr indent="0" marL="0">
              <a:buNone/>
            </a:pPr>
            <a:r>
              <a:rPr lang="en-US" sz="1250" b="1" dirty="0">
                <a:solidFill>
                  <a:srgbClr val="155724"/>
                </a:solidFill>
                <a:latin typeface="Calibri" pitchFamily="34" charset="0"/>
                <a:ea typeface="Calibri" pitchFamily="34" charset="-122"/>
                <a:cs typeface="Calibri" pitchFamily="34" charset="-120"/>
              </a:rPr>
              <a:t>Customer Service</a:t>
            </a:r>
            <a:endParaRPr lang="en-US" sz="1250" dirty="0"/>
          </a:p>
        </p:txBody>
      </p:sp>
      <p:sp>
        <p:nvSpPr>
          <p:cNvPr id="11" name="Text 9"/>
          <p:cNvSpPr txBox="1"/>
          <p:nvPr/>
        </p:nvSpPr>
        <p:spPr>
          <a:xfrm>
            <a:off x="8851392" y="1399032"/>
            <a:ext cx="2651760" cy="640080"/>
          </a:xfrm>
          <a:prstGeom prst="rect">
            <a:avLst/>
          </a:prstGeom>
          <a:noFill/>
          <a:ln/>
        </p:spPr>
        <p:txBody>
          <a:bodyPr wrap="square" lIns="0" tIns="0" rIns="0" bIns="0" rtlCol="0" anchor="ctr"/>
          <a:lstStyle/>
          <a:p>
            <a:pPr indent="0" marL="0">
              <a:lnSpc>
                <a:spcPct val="115000"/>
              </a:lnSpc>
              <a:buNone/>
            </a:pPr>
            <a:r>
              <a:rPr lang="en-US" sz="1000" dirty="0">
                <a:solidFill>
                  <a:srgbClr val="3A6B45"/>
                </a:solidFill>
                <a:latin typeface="Calibri" pitchFamily="34" charset="0"/>
                <a:ea typeface="Calibri" pitchFamily="34" charset="-122"/>
                <a:cs typeface="Calibri" pitchFamily="34" charset="-120"/>
              </a:rPr>
              <a:t>consumer group:</a:t>
            </a:r>
            <a:endParaRPr lang="en-US" sz="1000" dirty="0"/>
          </a:p>
          <a:p>
            <a:pPr indent="0" marL="0">
              <a:lnSpc>
                <a:spcPct val="115000"/>
              </a:lnSpc>
              <a:buNone/>
            </a:pPr>
            <a:r>
              <a:rPr lang="en-US" sz="1000" dirty="0">
                <a:solidFill>
                  <a:srgbClr val="3A6B45"/>
                </a:solidFill>
                <a:latin typeface="Calibri" pitchFamily="34" charset="0"/>
                <a:ea typeface="Calibri" pitchFamily="34" charset="-122"/>
                <a:cs typeface="Calibri" pitchFamily="34" charset="-120"/>
              </a:rPr>
              <a:t>customer-service-group</a:t>
            </a:r>
            <a:endParaRPr lang="en-US" sz="1000" dirty="0"/>
          </a:p>
        </p:txBody>
      </p:sp>
      <p:sp>
        <p:nvSpPr>
          <p:cNvPr id="12" name="Shape 10"/>
          <p:cNvSpPr/>
          <p:nvPr/>
        </p:nvSpPr>
        <p:spPr>
          <a:xfrm>
            <a:off x="8732520" y="2423160"/>
            <a:ext cx="2880360" cy="1188720"/>
          </a:xfrm>
          <a:prstGeom prst="roundRect">
            <a:avLst>
              <a:gd name="adj" fmla="val 6154"/>
            </a:avLst>
          </a:prstGeom>
          <a:solidFill>
            <a:srgbClr val="E6F4EA"/>
          </a:solidFill>
          <a:ln w="19050">
            <a:solidFill>
              <a:srgbClr val="1E8E3E"/>
            </a:solidFill>
            <a:prstDash val="solid"/>
          </a:ln>
        </p:spPr>
      </p:sp>
      <p:sp>
        <p:nvSpPr>
          <p:cNvPr id="13" name="Text 11"/>
          <p:cNvSpPr txBox="1"/>
          <p:nvPr/>
        </p:nvSpPr>
        <p:spPr>
          <a:xfrm>
            <a:off x="8851392" y="2532888"/>
            <a:ext cx="2651760" cy="320040"/>
          </a:xfrm>
          <a:prstGeom prst="rect">
            <a:avLst/>
          </a:prstGeom>
          <a:noFill/>
          <a:ln/>
        </p:spPr>
        <p:txBody>
          <a:bodyPr wrap="square" lIns="0" tIns="0" rIns="0" bIns="0" rtlCol="0" anchor="ctr"/>
          <a:lstStyle/>
          <a:p>
            <a:pPr indent="0" marL="0">
              <a:buNone/>
            </a:pPr>
            <a:r>
              <a:rPr lang="en-US" sz="1250" b="1" dirty="0">
                <a:solidFill>
                  <a:srgbClr val="155724"/>
                </a:solidFill>
                <a:latin typeface="Calibri" pitchFamily="34" charset="0"/>
                <a:ea typeface="Calibri" pitchFamily="34" charset="-122"/>
                <a:cs typeface="Calibri" pitchFamily="34" charset="-120"/>
              </a:rPr>
              <a:t>Rider Service</a:t>
            </a:r>
            <a:endParaRPr lang="en-US" sz="1250" dirty="0"/>
          </a:p>
        </p:txBody>
      </p:sp>
      <p:sp>
        <p:nvSpPr>
          <p:cNvPr id="14" name="Text 12"/>
          <p:cNvSpPr txBox="1"/>
          <p:nvPr/>
        </p:nvSpPr>
        <p:spPr>
          <a:xfrm>
            <a:off x="8851392" y="2862072"/>
            <a:ext cx="2651760" cy="640080"/>
          </a:xfrm>
          <a:prstGeom prst="rect">
            <a:avLst/>
          </a:prstGeom>
          <a:noFill/>
          <a:ln/>
        </p:spPr>
        <p:txBody>
          <a:bodyPr wrap="square" lIns="0" tIns="0" rIns="0" bIns="0" rtlCol="0" anchor="ctr"/>
          <a:lstStyle/>
          <a:p>
            <a:pPr indent="0" marL="0">
              <a:lnSpc>
                <a:spcPct val="115000"/>
              </a:lnSpc>
              <a:buNone/>
            </a:pPr>
            <a:r>
              <a:rPr lang="en-US" sz="1000" dirty="0">
                <a:solidFill>
                  <a:srgbClr val="3A6B45"/>
                </a:solidFill>
                <a:latin typeface="Calibri" pitchFamily="34" charset="0"/>
                <a:ea typeface="Calibri" pitchFamily="34" charset="-122"/>
                <a:cs typeface="Calibri" pitchFamily="34" charset="-120"/>
              </a:rPr>
              <a:t>consumer group:</a:t>
            </a:r>
            <a:endParaRPr lang="en-US" sz="1000" dirty="0"/>
          </a:p>
          <a:p>
            <a:pPr indent="0" marL="0">
              <a:lnSpc>
                <a:spcPct val="115000"/>
              </a:lnSpc>
              <a:buNone/>
            </a:pPr>
            <a:r>
              <a:rPr lang="en-US" sz="1000" dirty="0">
                <a:solidFill>
                  <a:srgbClr val="3A6B45"/>
                </a:solidFill>
                <a:latin typeface="Calibri" pitchFamily="34" charset="0"/>
                <a:ea typeface="Calibri" pitchFamily="34" charset="-122"/>
                <a:cs typeface="Calibri" pitchFamily="34" charset="-120"/>
              </a:rPr>
              <a:t>rider-service-group</a:t>
            </a:r>
            <a:endParaRPr lang="en-US" sz="1000" dirty="0"/>
          </a:p>
        </p:txBody>
      </p:sp>
      <p:sp>
        <p:nvSpPr>
          <p:cNvPr id="15" name="Shape 13"/>
          <p:cNvSpPr/>
          <p:nvPr/>
        </p:nvSpPr>
        <p:spPr>
          <a:xfrm>
            <a:off x="8732520" y="3886200"/>
            <a:ext cx="2880360" cy="1188720"/>
          </a:xfrm>
          <a:prstGeom prst="roundRect">
            <a:avLst>
              <a:gd name="adj" fmla="val 6154"/>
            </a:avLst>
          </a:prstGeom>
          <a:solidFill>
            <a:srgbClr val="E6F4EA"/>
          </a:solidFill>
          <a:ln w="19050">
            <a:solidFill>
              <a:srgbClr val="1E8E3E"/>
            </a:solidFill>
            <a:prstDash val="solid"/>
          </a:ln>
        </p:spPr>
      </p:sp>
      <p:sp>
        <p:nvSpPr>
          <p:cNvPr id="16" name="Text 14"/>
          <p:cNvSpPr txBox="1"/>
          <p:nvPr/>
        </p:nvSpPr>
        <p:spPr>
          <a:xfrm>
            <a:off x="8851392" y="3995928"/>
            <a:ext cx="2651760" cy="320040"/>
          </a:xfrm>
          <a:prstGeom prst="rect">
            <a:avLst/>
          </a:prstGeom>
          <a:noFill/>
          <a:ln/>
        </p:spPr>
        <p:txBody>
          <a:bodyPr wrap="square" lIns="0" tIns="0" rIns="0" bIns="0" rtlCol="0" anchor="ctr"/>
          <a:lstStyle/>
          <a:p>
            <a:pPr indent="0" marL="0">
              <a:buNone/>
            </a:pPr>
            <a:r>
              <a:rPr lang="en-US" sz="1250" b="1" dirty="0">
                <a:solidFill>
                  <a:srgbClr val="155724"/>
                </a:solidFill>
                <a:latin typeface="Calibri" pitchFamily="34" charset="0"/>
                <a:ea typeface="Calibri" pitchFamily="34" charset="-122"/>
                <a:cs typeface="Calibri" pitchFamily="34" charset="-120"/>
              </a:rPr>
              <a:t>Notification Service</a:t>
            </a:r>
            <a:endParaRPr lang="en-US" sz="1250" dirty="0"/>
          </a:p>
        </p:txBody>
      </p:sp>
      <p:sp>
        <p:nvSpPr>
          <p:cNvPr id="17" name="Text 15"/>
          <p:cNvSpPr txBox="1"/>
          <p:nvPr/>
        </p:nvSpPr>
        <p:spPr>
          <a:xfrm>
            <a:off x="8851392" y="4325112"/>
            <a:ext cx="2651760" cy="640080"/>
          </a:xfrm>
          <a:prstGeom prst="rect">
            <a:avLst/>
          </a:prstGeom>
          <a:noFill/>
          <a:ln/>
        </p:spPr>
        <p:txBody>
          <a:bodyPr wrap="square" lIns="0" tIns="0" rIns="0" bIns="0" rtlCol="0" anchor="ctr"/>
          <a:lstStyle/>
          <a:p>
            <a:pPr indent="0" marL="0">
              <a:lnSpc>
                <a:spcPct val="115000"/>
              </a:lnSpc>
              <a:buNone/>
            </a:pPr>
            <a:r>
              <a:rPr lang="en-US" sz="1000" dirty="0">
                <a:solidFill>
                  <a:srgbClr val="3A6B45"/>
                </a:solidFill>
                <a:latin typeface="Calibri" pitchFamily="34" charset="0"/>
                <a:ea typeface="Calibri" pitchFamily="34" charset="-122"/>
                <a:cs typeface="Calibri" pitchFamily="34" charset="-120"/>
              </a:rPr>
              <a:t>consumer group:</a:t>
            </a:r>
            <a:endParaRPr lang="en-US" sz="1000" dirty="0"/>
          </a:p>
          <a:p>
            <a:pPr indent="0" marL="0">
              <a:lnSpc>
                <a:spcPct val="115000"/>
              </a:lnSpc>
              <a:buNone/>
            </a:pPr>
            <a:r>
              <a:rPr lang="en-US" sz="1000" dirty="0">
                <a:solidFill>
                  <a:srgbClr val="3A6B45"/>
                </a:solidFill>
                <a:latin typeface="Calibri" pitchFamily="34" charset="0"/>
                <a:ea typeface="Calibri" pitchFamily="34" charset="-122"/>
                <a:cs typeface="Calibri" pitchFamily="34" charset="-120"/>
              </a:rPr>
              <a:t>notification-service-group</a:t>
            </a:r>
            <a:endParaRPr lang="en-US" sz="1000" dirty="0"/>
          </a:p>
        </p:txBody>
      </p:sp>
      <p:sp>
        <p:nvSpPr>
          <p:cNvPr id="18" name="Shape 16"/>
          <p:cNvSpPr/>
          <p:nvPr/>
        </p:nvSpPr>
        <p:spPr>
          <a:xfrm>
            <a:off x="2926080" y="2971800"/>
            <a:ext cx="1051560" cy="9144"/>
          </a:xfrm>
          <a:prstGeom prst="line">
            <a:avLst/>
          </a:prstGeom>
          <a:noFill/>
          <a:ln w="25400">
            <a:solidFill>
              <a:srgbClr val="5B5B5B"/>
            </a:solidFill>
            <a:prstDash val="solid"/>
            <a:tailEnd type="arrow"/>
          </a:ln>
        </p:spPr>
      </p:sp>
      <p:sp>
        <p:nvSpPr>
          <p:cNvPr id="19" name="Shape 17"/>
          <p:cNvSpPr/>
          <p:nvPr/>
        </p:nvSpPr>
        <p:spPr>
          <a:xfrm flipV="1">
            <a:off x="6812280" y="2971800"/>
            <a:ext cx="1920240" cy="-1417320"/>
          </a:xfrm>
          <a:prstGeom prst="line">
            <a:avLst/>
          </a:prstGeom>
          <a:noFill/>
          <a:ln w="25400">
            <a:solidFill>
              <a:srgbClr val="5B5B5B"/>
            </a:solidFill>
            <a:prstDash val="solid"/>
            <a:tailEnd type="arrow"/>
          </a:ln>
        </p:spPr>
      </p:sp>
      <p:sp>
        <p:nvSpPr>
          <p:cNvPr id="20" name="Shape 18"/>
          <p:cNvSpPr/>
          <p:nvPr/>
        </p:nvSpPr>
        <p:spPr>
          <a:xfrm>
            <a:off x="6812280" y="2971800"/>
            <a:ext cx="1920240" cy="45720"/>
          </a:xfrm>
          <a:prstGeom prst="line">
            <a:avLst/>
          </a:prstGeom>
          <a:noFill/>
          <a:ln w="25400">
            <a:solidFill>
              <a:srgbClr val="5B5B5B"/>
            </a:solidFill>
            <a:prstDash val="solid"/>
            <a:tailEnd type="arrow"/>
          </a:ln>
        </p:spPr>
      </p:sp>
      <p:sp>
        <p:nvSpPr>
          <p:cNvPr id="21" name="Shape 19"/>
          <p:cNvSpPr/>
          <p:nvPr/>
        </p:nvSpPr>
        <p:spPr>
          <a:xfrm>
            <a:off x="6812280" y="2971800"/>
            <a:ext cx="1920240" cy="1508760"/>
          </a:xfrm>
          <a:prstGeom prst="line">
            <a:avLst/>
          </a:prstGeom>
          <a:noFill/>
          <a:ln w="25400">
            <a:solidFill>
              <a:srgbClr val="5B5B5B"/>
            </a:solidFill>
            <a:prstDash val="solid"/>
            <a:tailEnd type="arrow"/>
          </a:ln>
        </p:spPr>
      </p:sp>
      <p:sp>
        <p:nvSpPr>
          <p:cNvPr id="22" name="Text 20"/>
          <p:cNvSpPr txBox="1"/>
          <p:nvPr/>
        </p:nvSpPr>
        <p:spPr>
          <a:xfrm>
            <a:off x="2971800" y="2606040"/>
            <a:ext cx="1005840" cy="274320"/>
          </a:xfrm>
          <a:prstGeom prst="rect">
            <a:avLst/>
          </a:prstGeom>
          <a:noFill/>
          <a:ln/>
        </p:spPr>
        <p:txBody>
          <a:bodyPr wrap="square" lIns="0" tIns="0" rIns="0" bIns="0" rtlCol="0" anchor="ctr"/>
          <a:lstStyle/>
          <a:p>
            <a:pPr indent="0" marL="0">
              <a:buNone/>
            </a:pPr>
            <a:r>
              <a:rPr lang="en-US" sz="1050" dirty="0">
                <a:solidFill>
                  <a:srgbClr val="5B5B5B"/>
                </a:solidFill>
                <a:latin typeface="Calibri" pitchFamily="34" charset="0"/>
                <a:ea typeface="Calibri" pitchFamily="34" charset="-122"/>
                <a:cs typeface="Calibri" pitchFamily="34" charset="-120"/>
              </a:rPr>
              <a:t>publish</a:t>
            </a:r>
            <a:endParaRPr lang="en-US" sz="1050" dirty="0"/>
          </a:p>
        </p:txBody>
      </p:sp>
      <p:sp>
        <p:nvSpPr>
          <p:cNvPr id="23" name="Text 21"/>
          <p:cNvSpPr txBox="1"/>
          <p:nvPr/>
        </p:nvSpPr>
        <p:spPr>
          <a:xfrm>
            <a:off x="7178040" y="3063240"/>
            <a:ext cx="1417320" cy="914400"/>
          </a:xfrm>
          <a:prstGeom prst="rect">
            <a:avLst/>
          </a:prstGeom>
          <a:noFill/>
          <a:ln/>
        </p:spPr>
        <p:txBody>
          <a:bodyPr wrap="square" lIns="0" tIns="0" rIns="0" bIns="0" rtlCol="0" anchor="ctr"/>
          <a:lstStyle/>
          <a:p>
            <a:pPr algn="ctr" indent="0" marL="0">
              <a:lnSpc>
                <a:spcPct val="110000"/>
              </a:lnSpc>
              <a:buNone/>
            </a:pPr>
            <a:r>
              <a:rPr lang="en-US" sz="1000" dirty="0">
                <a:solidFill>
                  <a:srgbClr val="5B5B5B"/>
                </a:solidFill>
                <a:latin typeface="Calibri" pitchFamily="34" charset="0"/>
                <a:ea typeface="Calibri" pitchFamily="34" charset="-122"/>
                <a:cs typeface="Calibri" pitchFamily="34" charset="-120"/>
              </a:rPr>
              <a:t>consume</a:t>
            </a:r>
            <a:endParaRPr lang="en-US" sz="1000" dirty="0"/>
          </a:p>
          <a:p>
            <a:pPr algn="ctr" indent="0" marL="0">
              <a:lnSpc>
                <a:spcPct val="110000"/>
              </a:lnSpc>
              <a:buNone/>
            </a:pPr>
            <a:r>
              <a:rPr lang="en-US" sz="1000" dirty="0">
                <a:solidFill>
                  <a:srgbClr val="5B5B5B"/>
                </a:solidFill>
                <a:latin typeface="Calibri" pitchFamily="34" charset="0"/>
                <a:ea typeface="Calibri" pitchFamily="34" charset="-122"/>
                <a:cs typeface="Calibri" pitchFamily="34" charset="-120"/>
              </a:rPr>
              <a:t>independently,</a:t>
            </a:r>
            <a:endParaRPr lang="en-US" sz="1000" dirty="0"/>
          </a:p>
          <a:p>
            <a:pPr algn="ctr" indent="0" marL="0">
              <a:lnSpc>
                <a:spcPct val="110000"/>
              </a:lnSpc>
              <a:buNone/>
            </a:pPr>
            <a:r>
              <a:rPr lang="en-US" sz="1000" dirty="0">
                <a:solidFill>
                  <a:srgbClr val="5B5B5B"/>
                </a:solidFill>
                <a:latin typeface="Calibri" pitchFamily="34" charset="0"/>
                <a:ea typeface="Calibri" pitchFamily="34" charset="-122"/>
                <a:cs typeface="Calibri" pitchFamily="34" charset="-120"/>
              </a:rPr>
              <a:t>own pace</a:t>
            </a:r>
            <a:endParaRPr lang="en-US" sz="1000" dirty="0"/>
          </a:p>
        </p:txBody>
      </p:sp>
      <p:sp>
        <p:nvSpPr>
          <p:cNvPr id="24" name="Shape 22"/>
          <p:cNvSpPr/>
          <p:nvPr/>
        </p:nvSpPr>
        <p:spPr>
          <a:xfrm>
            <a:off x="548640" y="5349240"/>
            <a:ext cx="11064240" cy="914400"/>
          </a:xfrm>
          <a:prstGeom prst="roundRect">
            <a:avLst>
              <a:gd name="adj" fmla="val 8000"/>
            </a:avLst>
          </a:prstGeom>
          <a:solidFill>
            <a:srgbClr val="FDECEA"/>
          </a:solidFill>
          <a:ln w="12700">
            <a:solidFill>
              <a:srgbClr val="F96167"/>
            </a:solidFill>
            <a:prstDash val="solid"/>
          </a:ln>
        </p:spPr>
      </p:sp>
      <p:sp>
        <p:nvSpPr>
          <p:cNvPr id="25" name="Text 23"/>
          <p:cNvSpPr txBox="1"/>
          <p:nvPr/>
        </p:nvSpPr>
        <p:spPr>
          <a:xfrm>
            <a:off x="777240" y="5486400"/>
            <a:ext cx="10607040" cy="640080"/>
          </a:xfrm>
          <a:prstGeom prst="rect">
            <a:avLst/>
          </a:prstGeom>
          <a:noFill/>
          <a:ln/>
        </p:spPr>
        <p:txBody>
          <a:bodyPr wrap="square" lIns="0" tIns="0" rIns="0" bIns="0" rtlCol="0" anchor="ctr"/>
          <a:lstStyle/>
          <a:p>
            <a:pPr indent="0" marL="0">
              <a:buNone/>
            </a:pPr>
            <a:r>
              <a:rPr lang="en-US" sz="1300" i="1" dirty="0">
                <a:solidFill>
                  <a:srgbClr val="7A1F1A"/>
                </a:solidFill>
                <a:latin typeface="Calibri" pitchFamily="34" charset="0"/>
                <a:ea typeface="Calibri" pitchFamily="34" charset="-122"/>
                <a:cs typeface="Calibri" pitchFamily="34" charset="-120"/>
              </a:rPr>
              <a:t>Key change: order-service never calls the other three services. It only writes to Kafka — removing the coupling that caused the pain point.</a:t>
            </a:r>
            <a:endParaRPr lang="en-US" sz="1300" dirty="0"/>
          </a:p>
        </p:txBody>
      </p:sp>
      <p:sp>
        <p:nvSpPr>
          <p:cNvPr id="26" name="Text 24"/>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1000" dirty="0">
                <a:solidFill>
                  <a:srgbClr val="9AA0A6"/>
                </a:solidFill>
                <a:latin typeface="Calibri" pitchFamily="34" charset="0"/>
                <a:ea typeface="Calibri" pitchFamily="34" charset="-122"/>
                <a:cs typeface="Calibri" pitchFamily="34" charset="-120"/>
              </a:rPr>
              <a:t>3 · Implementation — Architecture</a:t>
            </a:r>
            <a:endParaRPr lang="en-US" sz="1000" dirty="0"/>
          </a:p>
        </p:txBody>
      </p:sp>
      <p:sp>
        <p:nvSpPr>
          <p:cNvPr id="27" name="Text 25"/>
          <p:cNvSpPr txBox="1"/>
          <p:nvPr/>
        </p:nvSpPr>
        <p:spPr>
          <a:xfrm>
            <a:off x="11338560" y="6510528"/>
            <a:ext cx="365760" cy="274320"/>
          </a:xfrm>
          <a:prstGeom prst="rect">
            <a:avLst/>
          </a:prstGeom>
          <a:noFill/>
          <a:ln/>
        </p:spPr>
        <p:txBody>
          <a:bodyPr wrap="square" lIns="0" tIns="0" rIns="0" bIns="0" rtlCol="0" anchor="ctr"/>
          <a:lstStyle/>
          <a:p>
            <a:pPr algn="r" indent="0" marL="0">
              <a:buNone/>
            </a:pPr>
            <a:r>
              <a:rPr lang="en-US" sz="1000" dirty="0">
                <a:solidFill>
                  <a:srgbClr val="9AA0A6"/>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algn="l" indent="0" marL="0">
              <a:buNone/>
            </a:pPr>
            <a:r>
              <a:rPr lang="en-US" sz="3000" b="1" dirty="0">
                <a:solidFill>
                  <a:srgbClr val="2F3C7E"/>
                </a:solidFill>
                <a:latin typeface="Cambria" pitchFamily="34" charset="0"/>
                <a:ea typeface="Cambria" pitchFamily="34" charset="-122"/>
                <a:cs typeface="Cambria" pitchFamily="34" charset="-120"/>
              </a:rPr>
              <a:t>Implementation: Order Status Lifecycle</a:t>
            </a:r>
            <a:endParaRPr lang="en-US" sz="3000" dirty="0"/>
          </a:p>
        </p:txBody>
      </p:sp>
      <p:sp>
        <p:nvSpPr>
          <p:cNvPr id="3" name="Shape 1"/>
          <p:cNvSpPr/>
          <p:nvPr/>
        </p:nvSpPr>
        <p:spPr>
          <a:xfrm>
            <a:off x="548640" y="1691640"/>
            <a:ext cx="1645920" cy="914400"/>
          </a:xfrm>
          <a:prstGeom prst="roundRect">
            <a:avLst>
              <a:gd name="adj" fmla="val 50000"/>
            </a:avLst>
          </a:prstGeom>
          <a:solidFill>
            <a:srgbClr val="2F3C7E"/>
          </a:solidFill>
          <a:ln/>
        </p:spPr>
      </p:sp>
      <p:sp>
        <p:nvSpPr>
          <p:cNvPr id="4" name="Text 2"/>
          <p:cNvSpPr txBox="1"/>
          <p:nvPr/>
        </p:nvSpPr>
        <p:spPr>
          <a:xfrm>
            <a:off x="548640" y="1691640"/>
            <a:ext cx="1645920" cy="9144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PLACED</a:t>
            </a:r>
            <a:endParaRPr lang="en-US" sz="1150" dirty="0"/>
          </a:p>
        </p:txBody>
      </p:sp>
      <p:sp>
        <p:nvSpPr>
          <p:cNvPr id="5" name="Shape 3"/>
          <p:cNvSpPr/>
          <p:nvPr/>
        </p:nvSpPr>
        <p:spPr>
          <a:xfrm>
            <a:off x="2194560" y="2148840"/>
            <a:ext cx="237744" cy="0"/>
          </a:xfrm>
          <a:prstGeom prst="line">
            <a:avLst/>
          </a:prstGeom>
          <a:noFill/>
          <a:ln w="25400">
            <a:solidFill>
              <a:srgbClr val="5B5B5B"/>
            </a:solidFill>
            <a:prstDash val="solid"/>
            <a:tailEnd type="arrow"/>
          </a:ln>
        </p:spPr>
      </p:sp>
      <p:sp>
        <p:nvSpPr>
          <p:cNvPr id="6" name="Shape 4"/>
          <p:cNvSpPr/>
          <p:nvPr/>
        </p:nvSpPr>
        <p:spPr>
          <a:xfrm>
            <a:off x="2432304" y="1691640"/>
            <a:ext cx="1645920" cy="914400"/>
          </a:xfrm>
          <a:prstGeom prst="roundRect">
            <a:avLst>
              <a:gd name="adj" fmla="val 50000"/>
            </a:avLst>
          </a:prstGeom>
          <a:solidFill>
            <a:srgbClr val="2F3C7E"/>
          </a:solidFill>
          <a:ln/>
        </p:spPr>
      </p:sp>
      <p:sp>
        <p:nvSpPr>
          <p:cNvPr id="7" name="Text 5"/>
          <p:cNvSpPr txBox="1"/>
          <p:nvPr/>
        </p:nvSpPr>
        <p:spPr>
          <a:xfrm>
            <a:off x="2432304" y="1691640"/>
            <a:ext cx="1645920" cy="9144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CONFIRMED</a:t>
            </a:r>
            <a:endParaRPr lang="en-US" sz="1150" dirty="0"/>
          </a:p>
        </p:txBody>
      </p:sp>
      <p:sp>
        <p:nvSpPr>
          <p:cNvPr id="8" name="Shape 6"/>
          <p:cNvSpPr/>
          <p:nvPr/>
        </p:nvSpPr>
        <p:spPr>
          <a:xfrm>
            <a:off x="4078224" y="2148840"/>
            <a:ext cx="237744" cy="0"/>
          </a:xfrm>
          <a:prstGeom prst="line">
            <a:avLst/>
          </a:prstGeom>
          <a:noFill/>
          <a:ln w="25400">
            <a:solidFill>
              <a:srgbClr val="5B5B5B"/>
            </a:solidFill>
            <a:prstDash val="solid"/>
            <a:tailEnd type="arrow"/>
          </a:ln>
        </p:spPr>
      </p:sp>
      <p:sp>
        <p:nvSpPr>
          <p:cNvPr id="9" name="Shape 7"/>
          <p:cNvSpPr/>
          <p:nvPr/>
        </p:nvSpPr>
        <p:spPr>
          <a:xfrm>
            <a:off x="4315968" y="1691640"/>
            <a:ext cx="1645920" cy="914400"/>
          </a:xfrm>
          <a:prstGeom prst="roundRect">
            <a:avLst>
              <a:gd name="adj" fmla="val 50000"/>
            </a:avLst>
          </a:prstGeom>
          <a:solidFill>
            <a:srgbClr val="2F3C7E"/>
          </a:solidFill>
          <a:ln/>
        </p:spPr>
      </p:sp>
      <p:sp>
        <p:nvSpPr>
          <p:cNvPr id="10" name="Text 8"/>
          <p:cNvSpPr txBox="1"/>
          <p:nvPr/>
        </p:nvSpPr>
        <p:spPr>
          <a:xfrm>
            <a:off x="4315968" y="1691640"/>
            <a:ext cx="1645920" cy="9144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PREPARING</a:t>
            </a:r>
            <a:endParaRPr lang="en-US" sz="1150" dirty="0"/>
          </a:p>
        </p:txBody>
      </p:sp>
      <p:sp>
        <p:nvSpPr>
          <p:cNvPr id="11" name="Shape 9"/>
          <p:cNvSpPr/>
          <p:nvPr/>
        </p:nvSpPr>
        <p:spPr>
          <a:xfrm>
            <a:off x="5961888" y="2148840"/>
            <a:ext cx="237744" cy="0"/>
          </a:xfrm>
          <a:prstGeom prst="line">
            <a:avLst/>
          </a:prstGeom>
          <a:noFill/>
          <a:ln w="25400">
            <a:solidFill>
              <a:srgbClr val="5B5B5B"/>
            </a:solidFill>
            <a:prstDash val="solid"/>
            <a:tailEnd type="arrow"/>
          </a:ln>
        </p:spPr>
      </p:sp>
      <p:sp>
        <p:nvSpPr>
          <p:cNvPr id="12" name="Shape 10"/>
          <p:cNvSpPr/>
          <p:nvPr/>
        </p:nvSpPr>
        <p:spPr>
          <a:xfrm>
            <a:off x="6199632" y="1691640"/>
            <a:ext cx="1645920" cy="914400"/>
          </a:xfrm>
          <a:prstGeom prst="roundRect">
            <a:avLst>
              <a:gd name="adj" fmla="val 50000"/>
            </a:avLst>
          </a:prstGeom>
          <a:solidFill>
            <a:srgbClr val="F96167"/>
          </a:solidFill>
          <a:ln/>
        </p:spPr>
      </p:sp>
      <p:sp>
        <p:nvSpPr>
          <p:cNvPr id="13" name="Text 11"/>
          <p:cNvSpPr txBox="1"/>
          <p:nvPr/>
        </p:nvSpPr>
        <p:spPr>
          <a:xfrm>
            <a:off x="6199632" y="1691640"/>
            <a:ext cx="1645920" cy="9144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READY_</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FOR_PICKUP</a:t>
            </a:r>
            <a:endParaRPr lang="en-US" sz="1150" dirty="0"/>
          </a:p>
        </p:txBody>
      </p:sp>
      <p:sp>
        <p:nvSpPr>
          <p:cNvPr id="14" name="Shape 12"/>
          <p:cNvSpPr/>
          <p:nvPr/>
        </p:nvSpPr>
        <p:spPr>
          <a:xfrm>
            <a:off x="7845552" y="2148840"/>
            <a:ext cx="237744" cy="0"/>
          </a:xfrm>
          <a:prstGeom prst="line">
            <a:avLst/>
          </a:prstGeom>
          <a:noFill/>
          <a:ln w="25400">
            <a:solidFill>
              <a:srgbClr val="5B5B5B"/>
            </a:solidFill>
            <a:prstDash val="solid"/>
            <a:tailEnd type="arrow"/>
          </a:ln>
        </p:spPr>
      </p:sp>
      <p:sp>
        <p:nvSpPr>
          <p:cNvPr id="15" name="Shape 13"/>
          <p:cNvSpPr/>
          <p:nvPr/>
        </p:nvSpPr>
        <p:spPr>
          <a:xfrm>
            <a:off x="8083296" y="1691640"/>
            <a:ext cx="1645920" cy="914400"/>
          </a:xfrm>
          <a:prstGeom prst="roundRect">
            <a:avLst>
              <a:gd name="adj" fmla="val 50000"/>
            </a:avLst>
          </a:prstGeom>
          <a:solidFill>
            <a:srgbClr val="2F3C7E"/>
          </a:solidFill>
          <a:ln/>
        </p:spPr>
      </p:sp>
      <p:sp>
        <p:nvSpPr>
          <p:cNvPr id="16" name="Text 14"/>
          <p:cNvSpPr txBox="1"/>
          <p:nvPr/>
        </p:nvSpPr>
        <p:spPr>
          <a:xfrm>
            <a:off x="8083296" y="1691640"/>
            <a:ext cx="1645920" cy="9144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PICKED_UP</a:t>
            </a:r>
            <a:endParaRPr lang="en-US" sz="1150" dirty="0"/>
          </a:p>
        </p:txBody>
      </p:sp>
      <p:sp>
        <p:nvSpPr>
          <p:cNvPr id="17" name="Shape 15"/>
          <p:cNvSpPr/>
          <p:nvPr/>
        </p:nvSpPr>
        <p:spPr>
          <a:xfrm>
            <a:off x="9729216" y="2148840"/>
            <a:ext cx="237744" cy="0"/>
          </a:xfrm>
          <a:prstGeom prst="line">
            <a:avLst/>
          </a:prstGeom>
          <a:noFill/>
          <a:ln w="25400">
            <a:solidFill>
              <a:srgbClr val="5B5B5B"/>
            </a:solidFill>
            <a:prstDash val="solid"/>
            <a:tailEnd type="arrow"/>
          </a:ln>
        </p:spPr>
      </p:sp>
      <p:sp>
        <p:nvSpPr>
          <p:cNvPr id="18" name="Shape 16"/>
          <p:cNvSpPr/>
          <p:nvPr/>
        </p:nvSpPr>
        <p:spPr>
          <a:xfrm>
            <a:off x="9966960" y="1691640"/>
            <a:ext cx="1645920" cy="914400"/>
          </a:xfrm>
          <a:prstGeom prst="roundRect">
            <a:avLst>
              <a:gd name="adj" fmla="val 50000"/>
            </a:avLst>
          </a:prstGeom>
          <a:solidFill>
            <a:srgbClr val="2F3C7E"/>
          </a:solidFill>
          <a:ln/>
        </p:spPr>
      </p:sp>
      <p:sp>
        <p:nvSpPr>
          <p:cNvPr id="19" name="Text 17"/>
          <p:cNvSpPr txBox="1"/>
          <p:nvPr/>
        </p:nvSpPr>
        <p:spPr>
          <a:xfrm>
            <a:off x="9966960" y="1691640"/>
            <a:ext cx="1645920" cy="9144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DELIVERED</a:t>
            </a:r>
            <a:endParaRPr lang="en-US" sz="1150" dirty="0"/>
          </a:p>
        </p:txBody>
      </p:sp>
      <p:sp>
        <p:nvSpPr>
          <p:cNvPr id="20" name="Text 18"/>
          <p:cNvSpPr txBox="1"/>
          <p:nvPr/>
        </p:nvSpPr>
        <p:spPr>
          <a:xfrm>
            <a:off x="548640" y="2788920"/>
            <a:ext cx="11064240" cy="411480"/>
          </a:xfrm>
          <a:prstGeom prst="rect">
            <a:avLst/>
          </a:prstGeom>
          <a:noFill/>
          <a:ln/>
        </p:spPr>
        <p:txBody>
          <a:bodyPr wrap="square" lIns="0" tIns="0" rIns="0" bIns="0" rtlCol="0" anchor="ctr"/>
          <a:lstStyle/>
          <a:p>
            <a:pPr indent="0" marL="0">
              <a:buNone/>
            </a:pPr>
            <a:r>
              <a:rPr lang="en-US" sz="1300" i="1" dirty="0">
                <a:solidFill>
                  <a:srgbClr val="5B5B5B"/>
                </a:solidFill>
                <a:latin typeface="Calibri" pitchFamily="34" charset="0"/>
                <a:ea typeface="Calibri" pitchFamily="34" charset="-122"/>
                <a:cs typeface="Calibri" pitchFamily="34" charset="-120"/>
              </a:rPr>
              <a:t>Each transition = one PATCH /orders/:id/status call on order-service → one event published to Kafka.</a:t>
            </a:r>
            <a:endParaRPr lang="en-US" sz="1300" dirty="0"/>
          </a:p>
        </p:txBody>
      </p:sp>
      <p:sp>
        <p:nvSpPr>
          <p:cNvPr id="21" name="Shape 19"/>
          <p:cNvSpPr/>
          <p:nvPr/>
        </p:nvSpPr>
        <p:spPr>
          <a:xfrm>
            <a:off x="548640" y="3383280"/>
            <a:ext cx="11064240" cy="2788920"/>
          </a:xfrm>
          <a:prstGeom prst="roundRect">
            <a:avLst>
              <a:gd name="adj" fmla="val 2623"/>
            </a:avLst>
          </a:prstGeom>
          <a:solidFill>
            <a:srgbClr val="F7F8FC"/>
          </a:solidFill>
          <a:ln w="12700">
            <a:solidFill>
              <a:srgbClr val="DADFEE"/>
            </a:solidFill>
            <a:prstDash val="solid"/>
          </a:ln>
        </p:spPr>
      </p:sp>
      <p:sp>
        <p:nvSpPr>
          <p:cNvPr id="22" name="Text 20"/>
          <p:cNvSpPr txBox="1"/>
          <p:nvPr/>
        </p:nvSpPr>
        <p:spPr>
          <a:xfrm>
            <a:off x="822960" y="3566160"/>
            <a:ext cx="7315200" cy="320040"/>
          </a:xfrm>
          <a:prstGeom prst="rect">
            <a:avLst/>
          </a:prstGeom>
          <a:noFill/>
          <a:ln/>
        </p:spPr>
        <p:txBody>
          <a:bodyPr wrap="square" lIns="0" tIns="0" rIns="0" bIns="0" rtlCol="0" anchor="ctr"/>
          <a:lstStyle/>
          <a:p>
            <a:pPr indent="0" marL="0">
              <a:buNone/>
            </a:pPr>
            <a:r>
              <a:rPr lang="en-US" sz="1350" b="1" dirty="0">
                <a:solidFill>
                  <a:srgbClr val="2F3C7E"/>
                </a:solidFill>
                <a:latin typeface="Calibri" pitchFamily="34" charset="0"/>
                <a:ea typeface="Calibri" pitchFamily="34" charset="-122"/>
                <a:cs typeface="Calibri" pitchFamily="34" charset="-120"/>
              </a:rPr>
              <a:t>What each event carries (order.status.updated payload)</a:t>
            </a:r>
            <a:endParaRPr lang="en-US" sz="1350" dirty="0"/>
          </a:p>
        </p:txBody>
      </p:sp>
      <p:sp>
        <p:nvSpPr>
          <p:cNvPr id="23" name="Text 21"/>
          <p:cNvSpPr txBox="1"/>
          <p:nvPr/>
        </p:nvSpPr>
        <p:spPr>
          <a:xfrm>
            <a:off x="822960" y="3931920"/>
            <a:ext cx="5486400" cy="2103120"/>
          </a:xfrm>
          <a:prstGeom prst="rect">
            <a:avLst/>
          </a:prstGeom>
          <a:solidFill>
            <a:srgbClr val="1E2A44"/>
          </a:solidFill>
          <a:ln/>
        </p:spPr>
        <p:txBody>
          <a:bodyPr wrap="square" lIns="1016" tIns="1016" rIns="1016" bIns="1016" rtlCol="0" anchor="ctr"/>
          <a:lstStyle/>
          <a:p>
            <a:pPr indent="0" marL="0">
              <a:buNone/>
            </a:pPr>
            <a:r>
              <a:rPr lang="en-US" sz="1200" dirty="0">
                <a:solidFill>
                  <a:srgbClr val="222222"/>
                </a:solidFill>
                <a:latin typeface="Courier New" pitchFamily="34" charset="0"/>
                <a:ea typeface="Courier New" pitchFamily="34" charset="-122"/>
                <a:cs typeface="Courier New" pitchFamily="34" charset="-120"/>
              </a:rPr>
              <a:t>{
</a:t>
            </a:r>
            <a:pPr indent="0" marL="0">
              <a:buNone/>
            </a:pPr>
            <a:r>
              <a:rPr lang="en-US" sz="1200" dirty="0">
                <a:solidFill>
                  <a:srgbClr val="222222"/>
                </a:solidFill>
                <a:latin typeface="Courier New" pitchFamily="34" charset="0"/>
                <a:ea typeface="Courier New" pitchFamily="34" charset="-122"/>
                <a:cs typeface="Courier New" pitchFamily="34" charset="-120"/>
              </a:rPr>
              <a:t>  "orderId": 1,
</a:t>
            </a:r>
            <a:pPr indent="0" marL="0">
              <a:buNone/>
            </a:pPr>
            <a:r>
              <a:rPr lang="en-US" sz="1200" dirty="0">
                <a:solidFill>
                  <a:srgbClr val="222222"/>
                </a:solidFill>
                <a:latin typeface="Courier New" pitchFamily="34" charset="0"/>
                <a:ea typeface="Courier New" pitchFamily="34" charset="-122"/>
                <a:cs typeface="Courier New" pitchFamily="34" charset="-120"/>
              </a:rPr>
              <a:t>  "restaurantId": "resto-1",
</a:t>
            </a:r>
            <a:pPr indent="0" marL="0">
              <a:buNone/>
            </a:pPr>
            <a:r>
              <a:rPr lang="en-US" sz="1200" dirty="0">
                <a:solidFill>
                  <a:srgbClr val="222222"/>
                </a:solidFill>
                <a:latin typeface="Courier New" pitchFamily="34" charset="0"/>
                <a:ea typeface="Courier New" pitchFamily="34" charset="-122"/>
                <a:cs typeface="Courier New" pitchFamily="34" charset="-120"/>
              </a:rPr>
              <a:t>  "customerId": "cust-1",
</a:t>
            </a:r>
            <a:pPr indent="0" marL="0">
              <a:buNone/>
            </a:pPr>
            <a:r>
              <a:rPr lang="en-US" sz="1200" dirty="0">
                <a:solidFill>
                  <a:srgbClr val="222222"/>
                </a:solidFill>
                <a:latin typeface="Courier New" pitchFamily="34" charset="0"/>
                <a:ea typeface="Courier New" pitchFamily="34" charset="-122"/>
                <a:cs typeface="Courier New" pitchFamily="34" charset="-120"/>
              </a:rPr>
              <a:t>  "riderId": "rider-9",
</a:t>
            </a:r>
            <a:pPr indent="0" marL="0">
              <a:buNone/>
            </a:pPr>
            <a:r>
              <a:rPr lang="en-US" sz="1200" b="1" dirty="0">
                <a:solidFill>
                  <a:srgbClr val="F96167"/>
                </a:solidFill>
                <a:latin typeface="Courier New" pitchFamily="34" charset="0"/>
                <a:ea typeface="Courier New" pitchFamily="34" charset="-122"/>
                <a:cs typeface="Courier New" pitchFamily="34" charset="-120"/>
              </a:rPr>
              <a:t>  "status": "READY_FOR_PICKUP",
</a:t>
            </a:r>
            <a:pPr indent="0" marL="0">
              <a:buNone/>
            </a:pPr>
            <a:r>
              <a:rPr lang="en-US" sz="1200" dirty="0">
                <a:solidFill>
                  <a:srgbClr val="222222"/>
                </a:solidFill>
                <a:latin typeface="Courier New" pitchFamily="34" charset="0"/>
                <a:ea typeface="Courier New" pitchFamily="34" charset="-122"/>
                <a:cs typeface="Courier New" pitchFamily="34" charset="-120"/>
              </a:rPr>
              <a:t>  "updatedAt": "2026-09-22T14:37:03.6Z"
</a:t>
            </a:r>
            <a:pPr indent="0" marL="0">
              <a:buNone/>
            </a:pPr>
            <a:r>
              <a:rPr lang="en-US" sz="1200" dirty="0">
                <a:solidFill>
                  <a:srgbClr val="222222"/>
                </a:solidFill>
                <a:latin typeface="Courier New" pitchFamily="34" charset="0"/>
                <a:ea typeface="Courier New" pitchFamily="34" charset="-122"/>
                <a:cs typeface="Courier New" pitchFamily="34" charset="-120"/>
              </a:rPr>
              <a:t>}</a:t>
            </a:r>
            <a:endParaRPr lang="en-US" sz="1200" dirty="0"/>
          </a:p>
        </p:txBody>
      </p:sp>
      <p:sp>
        <p:nvSpPr>
          <p:cNvPr id="24" name="Shape 22"/>
          <p:cNvSpPr/>
          <p:nvPr/>
        </p:nvSpPr>
        <p:spPr>
          <a:xfrm>
            <a:off x="822960" y="3931920"/>
            <a:ext cx="5486400" cy="2103120"/>
          </a:xfrm>
          <a:prstGeom prst="roundRect">
            <a:avLst>
              <a:gd name="adj" fmla="val 2174"/>
            </a:avLst>
          </a:prstGeom>
          <a:solidFill>
            <a:srgbClr val="1E2A44"/>
          </a:solidFill>
          <a:ln/>
        </p:spPr>
      </p:sp>
      <p:sp>
        <p:nvSpPr>
          <p:cNvPr id="25" name="Text 23"/>
          <p:cNvSpPr txBox="1"/>
          <p:nvPr/>
        </p:nvSpPr>
        <p:spPr>
          <a:xfrm>
            <a:off x="1005840" y="4041648"/>
            <a:ext cx="5212080" cy="1920240"/>
          </a:xfrm>
          <a:prstGeom prst="rect">
            <a:avLst/>
          </a:prstGeom>
          <a:noFill/>
          <a:ln/>
        </p:spPr>
        <p:txBody>
          <a:bodyPr wrap="square" lIns="0" tIns="0" rIns="0" bIns="0" rtlCol="0" anchor="ctr"/>
          <a:lstStyle/>
          <a:p>
            <a:pPr indent="0" marL="0">
              <a:lnSpc>
                <a:spcPct val="115000"/>
              </a:lnSpc>
              <a:buNone/>
            </a:pPr>
            <a:r>
              <a:rPr lang="en-US" sz="1200" dirty="0">
                <a:solidFill>
                  <a:srgbClr val="9FB3E8"/>
                </a:solidFill>
                <a:latin typeface="Courier New" pitchFamily="34" charset="0"/>
                <a:ea typeface="Courier New" pitchFamily="34" charset="-122"/>
                <a:cs typeface="Courier New" pitchFamily="34" charset="-120"/>
              </a:rPr>
              <a:t>{
</a:t>
            </a:r>
            <a:pPr indent="0" marL="0">
              <a:lnSpc>
                <a:spcPct val="115000"/>
              </a:lnSpc>
              <a:buNone/>
            </a:pPr>
            <a:r>
              <a:rPr lang="en-US" sz="1200" dirty="0">
                <a:solidFill>
                  <a:srgbClr val="E8ECFA"/>
                </a:solidFill>
                <a:latin typeface="Courier New" pitchFamily="34" charset="0"/>
                <a:ea typeface="Courier New" pitchFamily="34" charset="-122"/>
                <a:cs typeface="Courier New" pitchFamily="34" charset="-120"/>
              </a:rPr>
              <a:t>  "orderId": 1,
</a:t>
            </a:r>
            <a:pPr indent="0" marL="0">
              <a:lnSpc>
                <a:spcPct val="115000"/>
              </a:lnSpc>
              <a:buNone/>
            </a:pPr>
            <a:r>
              <a:rPr lang="en-US" sz="1200" dirty="0">
                <a:solidFill>
                  <a:srgbClr val="E8ECFA"/>
                </a:solidFill>
                <a:latin typeface="Courier New" pitchFamily="34" charset="0"/>
                <a:ea typeface="Courier New" pitchFamily="34" charset="-122"/>
                <a:cs typeface="Courier New" pitchFamily="34" charset="-120"/>
              </a:rPr>
              <a:t>  "restaurantId": "resto-1",
</a:t>
            </a:r>
            <a:pPr indent="0" marL="0">
              <a:lnSpc>
                <a:spcPct val="115000"/>
              </a:lnSpc>
              <a:buNone/>
            </a:pPr>
            <a:r>
              <a:rPr lang="en-US" sz="1200" dirty="0">
                <a:solidFill>
                  <a:srgbClr val="E8ECFA"/>
                </a:solidFill>
                <a:latin typeface="Courier New" pitchFamily="34" charset="0"/>
                <a:ea typeface="Courier New" pitchFamily="34" charset="-122"/>
                <a:cs typeface="Courier New" pitchFamily="34" charset="-120"/>
              </a:rPr>
              <a:t>  "customerId": "cust-1",
</a:t>
            </a:r>
            <a:pPr indent="0" marL="0">
              <a:lnSpc>
                <a:spcPct val="115000"/>
              </a:lnSpc>
              <a:buNone/>
            </a:pPr>
            <a:r>
              <a:rPr lang="en-US" sz="1200" dirty="0">
                <a:solidFill>
                  <a:srgbClr val="E8ECFA"/>
                </a:solidFill>
                <a:latin typeface="Courier New" pitchFamily="34" charset="0"/>
                <a:ea typeface="Courier New" pitchFamily="34" charset="-122"/>
                <a:cs typeface="Courier New" pitchFamily="34" charset="-120"/>
              </a:rPr>
              <a:t>  "riderId": "rider-9",
</a:t>
            </a:r>
            <a:pPr indent="0" marL="0">
              <a:lnSpc>
                <a:spcPct val="115000"/>
              </a:lnSpc>
              <a:buNone/>
            </a:pPr>
            <a:r>
              <a:rPr lang="en-US" sz="1200" b="1" dirty="0">
                <a:solidFill>
                  <a:srgbClr val="F9E795"/>
                </a:solidFill>
                <a:latin typeface="Courier New" pitchFamily="34" charset="0"/>
                <a:ea typeface="Courier New" pitchFamily="34" charset="-122"/>
                <a:cs typeface="Courier New" pitchFamily="34" charset="-120"/>
              </a:rPr>
              <a:t>  "status": "READY_FOR_PICKUP",
</a:t>
            </a:r>
            <a:pPr indent="0" marL="0">
              <a:lnSpc>
                <a:spcPct val="115000"/>
              </a:lnSpc>
              <a:buNone/>
            </a:pPr>
            <a:r>
              <a:rPr lang="en-US" sz="1200" dirty="0">
                <a:solidFill>
                  <a:srgbClr val="E8ECFA"/>
                </a:solidFill>
                <a:latin typeface="Courier New" pitchFamily="34" charset="0"/>
                <a:ea typeface="Courier New" pitchFamily="34" charset="-122"/>
                <a:cs typeface="Courier New" pitchFamily="34" charset="-120"/>
              </a:rPr>
              <a:t>  "updatedAt": "2026-09-22T14:37:03.6Z"
</a:t>
            </a:r>
            <a:pPr indent="0" marL="0">
              <a:lnSpc>
                <a:spcPct val="115000"/>
              </a:lnSpc>
              <a:buNone/>
            </a:pPr>
            <a:r>
              <a:rPr lang="en-US" sz="1200" dirty="0">
                <a:solidFill>
                  <a:srgbClr val="9FB3E8"/>
                </a:solidFill>
                <a:latin typeface="Courier New" pitchFamily="34" charset="0"/>
                <a:ea typeface="Courier New" pitchFamily="34" charset="-122"/>
                <a:cs typeface="Courier New" pitchFamily="34" charset="-120"/>
              </a:rPr>
              <a:t>}</a:t>
            </a:r>
            <a:endParaRPr lang="en-US" sz="1200" dirty="0"/>
          </a:p>
        </p:txBody>
      </p:sp>
      <p:sp>
        <p:nvSpPr>
          <p:cNvPr id="26" name="Text 24"/>
          <p:cNvSpPr txBox="1"/>
          <p:nvPr/>
        </p:nvSpPr>
        <p:spPr>
          <a:xfrm>
            <a:off x="6492240" y="3566160"/>
            <a:ext cx="4846320" cy="320040"/>
          </a:xfrm>
          <a:prstGeom prst="rect">
            <a:avLst/>
          </a:prstGeom>
          <a:noFill/>
          <a:ln/>
        </p:spPr>
        <p:txBody>
          <a:bodyPr wrap="square" lIns="0" tIns="0" rIns="0" bIns="0" rtlCol="0" anchor="ctr"/>
          <a:lstStyle/>
          <a:p>
            <a:pPr indent="0" marL="0">
              <a:buNone/>
            </a:pPr>
            <a:r>
              <a:rPr lang="en-US" sz="1350" b="1" dirty="0">
                <a:solidFill>
                  <a:srgbClr val="2F3C7E"/>
                </a:solidFill>
                <a:latin typeface="Calibri" pitchFamily="34" charset="0"/>
                <a:ea typeface="Calibri" pitchFamily="34" charset="-122"/>
                <a:cs typeface="Calibri" pitchFamily="34" charset="-120"/>
              </a:rPr>
              <a:t>Why this matters</a:t>
            </a:r>
            <a:endParaRPr lang="en-US" sz="1350" dirty="0"/>
          </a:p>
        </p:txBody>
      </p:sp>
      <p:sp>
        <p:nvSpPr>
          <p:cNvPr id="27" name="Text 25"/>
          <p:cNvSpPr txBox="1"/>
          <p:nvPr/>
        </p:nvSpPr>
        <p:spPr>
          <a:xfrm>
            <a:off x="6492240" y="3931920"/>
            <a:ext cx="4846320" cy="2011680"/>
          </a:xfrm>
          <a:prstGeom prst="rect">
            <a:avLst/>
          </a:prstGeom>
          <a:noFill/>
          <a:ln/>
        </p:spPr>
        <p:txBody>
          <a:bodyPr wrap="square" lIns="0" tIns="0" rIns="0" bIns="0" rtlCol="0" anchor="ctr"/>
          <a:lstStyle/>
          <a:p>
            <a:pPr indent="0" marL="0">
              <a:lnSpc>
                <a:spcPct val="125000"/>
              </a:lnSpc>
              <a:buNone/>
            </a:pPr>
            <a:r>
              <a:rPr lang="en-US" sz="1300" dirty="0">
                <a:solidFill>
                  <a:srgbClr val="222222"/>
                </a:solidFill>
                <a:latin typeface="Calibri" pitchFamily="34" charset="0"/>
                <a:ea typeface="Calibri" pitchFamily="34" charset="-122"/>
                <a:cs typeface="Calibri" pitchFamily="34" charset="-120"/>
              </a:rPr>
              <a:t>customer-service, rider-service, and notification-service all read this same event independently. None of them ask order-service for it — they just consume the topic, which means a slow or restarting consumer never blocks the others.</a:t>
            </a:r>
            <a:endParaRPr lang="en-US" sz="1300" dirty="0"/>
          </a:p>
        </p:txBody>
      </p:sp>
      <p:sp>
        <p:nvSpPr>
          <p:cNvPr id="28" name="Text 26"/>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1000" dirty="0">
                <a:solidFill>
                  <a:srgbClr val="9AA0A6"/>
                </a:solidFill>
                <a:latin typeface="Calibri" pitchFamily="34" charset="0"/>
                <a:ea typeface="Calibri" pitchFamily="34" charset="-122"/>
                <a:cs typeface="Calibri" pitchFamily="34" charset="-120"/>
              </a:rPr>
              <a:t>3 · Implementation — Event Flow</a:t>
            </a:r>
            <a:endParaRPr lang="en-US" sz="1000" dirty="0"/>
          </a:p>
        </p:txBody>
      </p:sp>
      <p:sp>
        <p:nvSpPr>
          <p:cNvPr id="29" name="Text 27"/>
          <p:cNvSpPr txBox="1"/>
          <p:nvPr/>
        </p:nvSpPr>
        <p:spPr>
          <a:xfrm>
            <a:off x="11338560" y="6510528"/>
            <a:ext cx="365760" cy="274320"/>
          </a:xfrm>
          <a:prstGeom prst="rect">
            <a:avLst/>
          </a:prstGeom>
          <a:noFill/>
          <a:ln/>
        </p:spPr>
        <p:txBody>
          <a:bodyPr wrap="square" lIns="0" tIns="0" rIns="0" bIns="0" rtlCol="0" anchor="ctr"/>
          <a:lstStyle/>
          <a:p>
            <a:pPr algn="r" indent="0" marL="0">
              <a:buNone/>
            </a:pPr>
            <a:r>
              <a:rPr lang="en-US" sz="1000" dirty="0">
                <a:solidFill>
                  <a:srgbClr val="9AA0A6"/>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algn="l" indent="0" marL="0">
              <a:buNone/>
            </a:pPr>
            <a:r>
              <a:rPr lang="en-US" sz="3000" b="1" dirty="0">
                <a:solidFill>
                  <a:srgbClr val="2F3C7E"/>
                </a:solidFill>
                <a:latin typeface="Cambria" pitchFamily="34" charset="0"/>
                <a:ea typeface="Cambria" pitchFamily="34" charset="-122"/>
                <a:cs typeface="Cambria" pitchFamily="34" charset="-120"/>
              </a:rPr>
              <a:t>Implementation: Tech Stack &amp; Runnable Code</a:t>
            </a:r>
            <a:endParaRPr lang="en-US" sz="3000" dirty="0"/>
          </a:p>
        </p:txBody>
      </p:sp>
      <p:sp>
        <p:nvSpPr>
          <p:cNvPr id="3" name="Shape 1"/>
          <p:cNvSpPr/>
          <p:nvPr/>
        </p:nvSpPr>
        <p:spPr>
          <a:xfrm>
            <a:off x="548640" y="1417320"/>
            <a:ext cx="5303520" cy="1188720"/>
          </a:xfrm>
          <a:prstGeom prst="roundRect">
            <a:avLst>
              <a:gd name="adj" fmla="val 6154"/>
            </a:avLst>
          </a:prstGeom>
          <a:solidFill>
            <a:srgbClr val="F7F8FC"/>
          </a:solidFill>
          <a:ln w="12700">
            <a:solidFill>
              <a:srgbClr val="DADFEE"/>
            </a:solidFill>
            <a:prstDash val="solid"/>
          </a:ln>
        </p:spPr>
      </p:sp>
      <p:sp>
        <p:nvSpPr>
          <p:cNvPr id="4" name="Shape 2"/>
          <p:cNvSpPr/>
          <p:nvPr/>
        </p:nvSpPr>
        <p:spPr>
          <a:xfrm>
            <a:off x="777240" y="1691640"/>
            <a:ext cx="640080" cy="640080"/>
          </a:xfrm>
          <a:prstGeom prst="ellipse">
            <a:avLst/>
          </a:prstGeom>
          <a:solidFill>
            <a:srgbClr val="2F3C7E"/>
          </a:solidFill>
          <a:ln/>
        </p:spPr>
      </p:sp>
      <p:sp>
        <p:nvSpPr>
          <p:cNvPr id="5" name="Text 3"/>
          <p:cNvSpPr txBox="1"/>
          <p:nvPr/>
        </p:nvSpPr>
        <p:spPr>
          <a:xfrm>
            <a:off x="777240" y="16916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600200" y="1554480"/>
            <a:ext cx="4023360" cy="320040"/>
          </a:xfrm>
          <a:prstGeom prst="rect">
            <a:avLst/>
          </a:prstGeom>
          <a:noFill/>
          <a:ln/>
        </p:spPr>
        <p:txBody>
          <a:bodyPr wrap="square" lIns="0" tIns="0" rIns="0" bIns="0" rtlCol="0" anchor="ctr"/>
          <a:lstStyle/>
          <a:p>
            <a:pPr indent="0" marL="0">
              <a:buNone/>
            </a:pPr>
            <a:r>
              <a:rPr lang="en-US" sz="1400" b="1" dirty="0">
                <a:solidFill>
                  <a:srgbClr val="2F3C7E"/>
                </a:solidFill>
                <a:latin typeface="Calibri" pitchFamily="34" charset="0"/>
                <a:ea typeface="Calibri" pitchFamily="34" charset="-122"/>
                <a:cs typeface="Calibri" pitchFamily="34" charset="-120"/>
              </a:rPr>
              <a:t>Apache Kafka</a:t>
            </a:r>
            <a:endParaRPr lang="en-US" sz="1400" dirty="0"/>
          </a:p>
        </p:txBody>
      </p:sp>
      <p:sp>
        <p:nvSpPr>
          <p:cNvPr id="7" name="Text 5"/>
          <p:cNvSpPr txBox="1"/>
          <p:nvPr/>
        </p:nvSpPr>
        <p:spPr>
          <a:xfrm>
            <a:off x="1600200" y="1892808"/>
            <a:ext cx="4114800" cy="640080"/>
          </a:xfrm>
          <a:prstGeom prst="rect">
            <a:avLst/>
          </a:prstGeom>
          <a:noFill/>
          <a:ln/>
        </p:spPr>
        <p:txBody>
          <a:bodyPr wrap="square" lIns="0" tIns="0" rIns="0" bIns="0" rtlCol="0" anchor="ctr"/>
          <a:lstStyle/>
          <a:p>
            <a:pPr indent="0" marL="0">
              <a:lnSpc>
                <a:spcPct val="115000"/>
              </a:lnSpc>
              <a:buNone/>
            </a:pPr>
            <a:r>
              <a:rPr lang="en-US" sz="1100" dirty="0">
                <a:solidFill>
                  <a:srgbClr val="5B5B5B"/>
                </a:solidFill>
                <a:latin typeface="Calibri" pitchFamily="34" charset="0"/>
                <a:ea typeface="Calibri" pitchFamily="34" charset="-122"/>
                <a:cs typeface="Calibri" pitchFamily="34" charset="-120"/>
              </a:rPr>
              <a:t>Event-streaming platform — single-node KRaft mode, no Zookeeper.</a:t>
            </a:r>
            <a:endParaRPr lang="en-US" sz="1100" dirty="0"/>
          </a:p>
        </p:txBody>
      </p:sp>
      <p:sp>
        <p:nvSpPr>
          <p:cNvPr id="8" name="Shape 6"/>
          <p:cNvSpPr/>
          <p:nvPr/>
        </p:nvSpPr>
        <p:spPr>
          <a:xfrm>
            <a:off x="6217920" y="1417320"/>
            <a:ext cx="5303520" cy="1188720"/>
          </a:xfrm>
          <a:prstGeom prst="roundRect">
            <a:avLst>
              <a:gd name="adj" fmla="val 6154"/>
            </a:avLst>
          </a:prstGeom>
          <a:solidFill>
            <a:srgbClr val="F7F8FC"/>
          </a:solidFill>
          <a:ln w="12700">
            <a:solidFill>
              <a:srgbClr val="DADFEE"/>
            </a:solidFill>
            <a:prstDash val="solid"/>
          </a:ln>
        </p:spPr>
      </p:sp>
      <p:sp>
        <p:nvSpPr>
          <p:cNvPr id="9" name="Shape 7"/>
          <p:cNvSpPr/>
          <p:nvPr/>
        </p:nvSpPr>
        <p:spPr>
          <a:xfrm>
            <a:off x="6446520" y="1691640"/>
            <a:ext cx="640080" cy="640080"/>
          </a:xfrm>
          <a:prstGeom prst="ellipse">
            <a:avLst/>
          </a:prstGeom>
          <a:solidFill>
            <a:srgbClr val="F96167"/>
          </a:solidFill>
          <a:ln/>
        </p:spPr>
      </p:sp>
      <p:sp>
        <p:nvSpPr>
          <p:cNvPr id="10" name="Text 8"/>
          <p:cNvSpPr txBox="1"/>
          <p:nvPr/>
        </p:nvSpPr>
        <p:spPr>
          <a:xfrm>
            <a:off x="6446520" y="16916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9"/>
          <p:cNvSpPr txBox="1"/>
          <p:nvPr/>
        </p:nvSpPr>
        <p:spPr>
          <a:xfrm>
            <a:off x="7269480" y="1554480"/>
            <a:ext cx="4023360" cy="320040"/>
          </a:xfrm>
          <a:prstGeom prst="rect">
            <a:avLst/>
          </a:prstGeom>
          <a:noFill/>
          <a:ln/>
        </p:spPr>
        <p:txBody>
          <a:bodyPr wrap="square" lIns="0" tIns="0" rIns="0" bIns="0" rtlCol="0" anchor="ctr"/>
          <a:lstStyle/>
          <a:p>
            <a:pPr indent="0" marL="0">
              <a:buNone/>
            </a:pPr>
            <a:r>
              <a:rPr lang="en-US" sz="1400" b="1" dirty="0">
                <a:solidFill>
                  <a:srgbClr val="2F3C7E"/>
                </a:solidFill>
                <a:latin typeface="Calibri" pitchFamily="34" charset="0"/>
                <a:ea typeface="Calibri" pitchFamily="34" charset="-122"/>
                <a:cs typeface="Calibri" pitchFamily="34" charset="-120"/>
              </a:rPr>
              <a:t>Node.js + Express</a:t>
            </a:r>
            <a:endParaRPr lang="en-US" sz="1400" dirty="0"/>
          </a:p>
        </p:txBody>
      </p:sp>
      <p:sp>
        <p:nvSpPr>
          <p:cNvPr id="12" name="Text 10"/>
          <p:cNvSpPr txBox="1"/>
          <p:nvPr/>
        </p:nvSpPr>
        <p:spPr>
          <a:xfrm>
            <a:off x="7269480" y="1892808"/>
            <a:ext cx="4114800" cy="640080"/>
          </a:xfrm>
          <a:prstGeom prst="rect">
            <a:avLst/>
          </a:prstGeom>
          <a:noFill/>
          <a:ln/>
        </p:spPr>
        <p:txBody>
          <a:bodyPr wrap="square" lIns="0" tIns="0" rIns="0" bIns="0" rtlCol="0" anchor="ctr"/>
          <a:lstStyle/>
          <a:p>
            <a:pPr indent="0" marL="0">
              <a:lnSpc>
                <a:spcPct val="115000"/>
              </a:lnSpc>
              <a:buNone/>
            </a:pPr>
            <a:r>
              <a:rPr lang="en-US" sz="1100" dirty="0">
                <a:solidFill>
                  <a:srgbClr val="5B5B5B"/>
                </a:solidFill>
                <a:latin typeface="Calibri" pitchFamily="34" charset="0"/>
                <a:ea typeface="Calibri" pitchFamily="34" charset="-122"/>
                <a:cs typeface="Calibri" pitchFamily="34" charset="-120"/>
              </a:rPr>
              <a:t>HTTP APIs for all four services.</a:t>
            </a:r>
            <a:endParaRPr lang="en-US" sz="1100" dirty="0"/>
          </a:p>
        </p:txBody>
      </p:sp>
      <p:sp>
        <p:nvSpPr>
          <p:cNvPr id="13" name="Shape 11"/>
          <p:cNvSpPr/>
          <p:nvPr/>
        </p:nvSpPr>
        <p:spPr>
          <a:xfrm>
            <a:off x="548640" y="2834640"/>
            <a:ext cx="5303520" cy="1188720"/>
          </a:xfrm>
          <a:prstGeom prst="roundRect">
            <a:avLst>
              <a:gd name="adj" fmla="val 6154"/>
            </a:avLst>
          </a:prstGeom>
          <a:solidFill>
            <a:srgbClr val="F7F8FC"/>
          </a:solidFill>
          <a:ln w="12700">
            <a:solidFill>
              <a:srgbClr val="DADFEE"/>
            </a:solidFill>
            <a:prstDash val="solid"/>
          </a:ln>
        </p:spPr>
      </p:sp>
      <p:sp>
        <p:nvSpPr>
          <p:cNvPr id="14" name="Shape 12"/>
          <p:cNvSpPr/>
          <p:nvPr/>
        </p:nvSpPr>
        <p:spPr>
          <a:xfrm>
            <a:off x="777240" y="3108960"/>
            <a:ext cx="640080" cy="640080"/>
          </a:xfrm>
          <a:prstGeom prst="ellipse">
            <a:avLst/>
          </a:prstGeom>
          <a:solidFill>
            <a:srgbClr val="2F3C7E"/>
          </a:solidFill>
          <a:ln/>
        </p:spPr>
      </p:sp>
      <p:sp>
        <p:nvSpPr>
          <p:cNvPr id="15" name="Text 13"/>
          <p:cNvSpPr txBox="1"/>
          <p:nvPr/>
        </p:nvSpPr>
        <p:spPr>
          <a:xfrm>
            <a:off x="777240" y="310896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6" name="Text 14"/>
          <p:cNvSpPr txBox="1"/>
          <p:nvPr/>
        </p:nvSpPr>
        <p:spPr>
          <a:xfrm>
            <a:off x="1600200" y="2971800"/>
            <a:ext cx="4023360" cy="320040"/>
          </a:xfrm>
          <a:prstGeom prst="rect">
            <a:avLst/>
          </a:prstGeom>
          <a:noFill/>
          <a:ln/>
        </p:spPr>
        <p:txBody>
          <a:bodyPr wrap="square" lIns="0" tIns="0" rIns="0" bIns="0" rtlCol="0" anchor="ctr"/>
          <a:lstStyle/>
          <a:p>
            <a:pPr indent="0" marL="0">
              <a:buNone/>
            </a:pPr>
            <a:r>
              <a:rPr lang="en-US" sz="1400" b="1" dirty="0">
                <a:solidFill>
                  <a:srgbClr val="2F3C7E"/>
                </a:solidFill>
                <a:latin typeface="Calibri" pitchFamily="34" charset="0"/>
                <a:ea typeface="Calibri" pitchFamily="34" charset="-122"/>
                <a:cs typeface="Calibri" pitchFamily="34" charset="-120"/>
              </a:rPr>
              <a:t>KafkaJS</a:t>
            </a:r>
            <a:endParaRPr lang="en-US" sz="1400" dirty="0"/>
          </a:p>
        </p:txBody>
      </p:sp>
      <p:sp>
        <p:nvSpPr>
          <p:cNvPr id="17" name="Text 15"/>
          <p:cNvSpPr txBox="1"/>
          <p:nvPr/>
        </p:nvSpPr>
        <p:spPr>
          <a:xfrm>
            <a:off x="1600200" y="3310128"/>
            <a:ext cx="4114800" cy="640080"/>
          </a:xfrm>
          <a:prstGeom prst="rect">
            <a:avLst/>
          </a:prstGeom>
          <a:noFill/>
          <a:ln/>
        </p:spPr>
        <p:txBody>
          <a:bodyPr wrap="square" lIns="0" tIns="0" rIns="0" bIns="0" rtlCol="0" anchor="ctr"/>
          <a:lstStyle/>
          <a:p>
            <a:pPr indent="0" marL="0">
              <a:lnSpc>
                <a:spcPct val="115000"/>
              </a:lnSpc>
              <a:buNone/>
            </a:pPr>
            <a:r>
              <a:rPr lang="en-US" sz="1100" dirty="0">
                <a:solidFill>
                  <a:srgbClr val="5B5B5B"/>
                </a:solidFill>
                <a:latin typeface="Calibri" pitchFamily="34" charset="0"/>
                <a:ea typeface="Calibri" pitchFamily="34" charset="-122"/>
                <a:cs typeface="Calibri" pitchFamily="34" charset="-120"/>
              </a:rPr>
              <a:t>Kafka client library used by every service to produce/consume.</a:t>
            </a:r>
            <a:endParaRPr lang="en-US" sz="1100" dirty="0"/>
          </a:p>
        </p:txBody>
      </p:sp>
      <p:sp>
        <p:nvSpPr>
          <p:cNvPr id="18" name="Shape 16"/>
          <p:cNvSpPr/>
          <p:nvPr/>
        </p:nvSpPr>
        <p:spPr>
          <a:xfrm>
            <a:off x="6217920" y="2834640"/>
            <a:ext cx="5303520" cy="1188720"/>
          </a:xfrm>
          <a:prstGeom prst="roundRect">
            <a:avLst>
              <a:gd name="adj" fmla="val 6154"/>
            </a:avLst>
          </a:prstGeom>
          <a:solidFill>
            <a:srgbClr val="F7F8FC"/>
          </a:solidFill>
          <a:ln w="12700">
            <a:solidFill>
              <a:srgbClr val="DADFEE"/>
            </a:solidFill>
            <a:prstDash val="solid"/>
          </a:ln>
        </p:spPr>
      </p:sp>
      <p:sp>
        <p:nvSpPr>
          <p:cNvPr id="19" name="Shape 17"/>
          <p:cNvSpPr/>
          <p:nvPr/>
        </p:nvSpPr>
        <p:spPr>
          <a:xfrm>
            <a:off x="6446520" y="3108960"/>
            <a:ext cx="640080" cy="640080"/>
          </a:xfrm>
          <a:prstGeom prst="ellipse">
            <a:avLst/>
          </a:prstGeom>
          <a:solidFill>
            <a:srgbClr val="F96167"/>
          </a:solidFill>
          <a:ln/>
        </p:spPr>
      </p:sp>
      <p:sp>
        <p:nvSpPr>
          <p:cNvPr id="20" name="Text 18"/>
          <p:cNvSpPr txBox="1"/>
          <p:nvPr/>
        </p:nvSpPr>
        <p:spPr>
          <a:xfrm>
            <a:off x="6446520" y="310896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1" name="Text 19"/>
          <p:cNvSpPr txBox="1"/>
          <p:nvPr/>
        </p:nvSpPr>
        <p:spPr>
          <a:xfrm>
            <a:off x="7269480" y="2971800"/>
            <a:ext cx="4023360" cy="320040"/>
          </a:xfrm>
          <a:prstGeom prst="rect">
            <a:avLst/>
          </a:prstGeom>
          <a:noFill/>
          <a:ln/>
        </p:spPr>
        <p:txBody>
          <a:bodyPr wrap="square" lIns="0" tIns="0" rIns="0" bIns="0" rtlCol="0" anchor="ctr"/>
          <a:lstStyle/>
          <a:p>
            <a:pPr indent="0" marL="0">
              <a:buNone/>
            </a:pPr>
            <a:r>
              <a:rPr lang="en-US" sz="1400" b="1" dirty="0">
                <a:solidFill>
                  <a:srgbClr val="2F3C7E"/>
                </a:solidFill>
                <a:latin typeface="Calibri" pitchFamily="34" charset="0"/>
                <a:ea typeface="Calibri" pitchFamily="34" charset="-122"/>
                <a:cs typeface="Calibri" pitchFamily="34" charset="-120"/>
              </a:rPr>
              <a:t>Docker Compose</a:t>
            </a:r>
            <a:endParaRPr lang="en-US" sz="1400" dirty="0"/>
          </a:p>
        </p:txBody>
      </p:sp>
      <p:sp>
        <p:nvSpPr>
          <p:cNvPr id="22" name="Text 20"/>
          <p:cNvSpPr txBox="1"/>
          <p:nvPr/>
        </p:nvSpPr>
        <p:spPr>
          <a:xfrm>
            <a:off x="7269480" y="3310128"/>
            <a:ext cx="4114800" cy="640080"/>
          </a:xfrm>
          <a:prstGeom prst="rect">
            <a:avLst/>
          </a:prstGeom>
          <a:noFill/>
          <a:ln/>
        </p:spPr>
        <p:txBody>
          <a:bodyPr wrap="square" lIns="0" tIns="0" rIns="0" bIns="0" rtlCol="0" anchor="ctr"/>
          <a:lstStyle/>
          <a:p>
            <a:pPr indent="0" marL="0">
              <a:lnSpc>
                <a:spcPct val="115000"/>
              </a:lnSpc>
              <a:buNone/>
            </a:pPr>
            <a:r>
              <a:rPr lang="en-US" sz="1100" dirty="0">
                <a:solidFill>
                  <a:srgbClr val="5B5B5B"/>
                </a:solidFill>
                <a:latin typeface="Calibri" pitchFamily="34" charset="0"/>
                <a:ea typeface="Calibri" pitchFamily="34" charset="-122"/>
                <a:cs typeface="Calibri" pitchFamily="34" charset="-120"/>
              </a:rPr>
              <a:t>One command brings up Kafka, Kafka UI, and all 4 services.</a:t>
            </a:r>
            <a:endParaRPr lang="en-US" sz="1100" dirty="0"/>
          </a:p>
        </p:txBody>
      </p:sp>
      <p:sp>
        <p:nvSpPr>
          <p:cNvPr id="23" name="Shape 21"/>
          <p:cNvSpPr/>
          <p:nvPr/>
        </p:nvSpPr>
        <p:spPr>
          <a:xfrm>
            <a:off x="548640" y="4251960"/>
            <a:ext cx="5303520" cy="1188720"/>
          </a:xfrm>
          <a:prstGeom prst="roundRect">
            <a:avLst>
              <a:gd name="adj" fmla="val 6154"/>
            </a:avLst>
          </a:prstGeom>
          <a:solidFill>
            <a:srgbClr val="F7F8FC"/>
          </a:solidFill>
          <a:ln w="12700">
            <a:solidFill>
              <a:srgbClr val="DADFEE"/>
            </a:solidFill>
            <a:prstDash val="solid"/>
          </a:ln>
        </p:spPr>
      </p:sp>
      <p:sp>
        <p:nvSpPr>
          <p:cNvPr id="24" name="Shape 22"/>
          <p:cNvSpPr/>
          <p:nvPr/>
        </p:nvSpPr>
        <p:spPr>
          <a:xfrm>
            <a:off x="777240" y="4526280"/>
            <a:ext cx="640080" cy="640080"/>
          </a:xfrm>
          <a:prstGeom prst="ellipse">
            <a:avLst/>
          </a:prstGeom>
          <a:solidFill>
            <a:srgbClr val="2F3C7E"/>
          </a:solidFill>
          <a:ln/>
        </p:spPr>
      </p:sp>
      <p:sp>
        <p:nvSpPr>
          <p:cNvPr id="25" name="Text 23"/>
          <p:cNvSpPr txBox="1"/>
          <p:nvPr/>
        </p:nvSpPr>
        <p:spPr>
          <a:xfrm>
            <a:off x="777240" y="452628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6" name="Text 24"/>
          <p:cNvSpPr txBox="1"/>
          <p:nvPr/>
        </p:nvSpPr>
        <p:spPr>
          <a:xfrm>
            <a:off x="1600200" y="4389120"/>
            <a:ext cx="4023360" cy="320040"/>
          </a:xfrm>
          <a:prstGeom prst="rect">
            <a:avLst/>
          </a:prstGeom>
          <a:noFill/>
          <a:ln/>
        </p:spPr>
        <p:txBody>
          <a:bodyPr wrap="square" lIns="0" tIns="0" rIns="0" bIns="0" rtlCol="0" anchor="ctr"/>
          <a:lstStyle/>
          <a:p>
            <a:pPr indent="0" marL="0">
              <a:buNone/>
            </a:pPr>
            <a:r>
              <a:rPr lang="en-US" sz="1400" b="1" dirty="0">
                <a:solidFill>
                  <a:srgbClr val="2F3C7E"/>
                </a:solidFill>
                <a:latin typeface="Calibri" pitchFamily="34" charset="0"/>
                <a:ea typeface="Calibri" pitchFamily="34" charset="-122"/>
                <a:cs typeface="Calibri" pitchFamily="34" charset="-120"/>
              </a:rPr>
              <a:t>Kafka UI</a:t>
            </a:r>
            <a:endParaRPr lang="en-US" sz="1400" dirty="0"/>
          </a:p>
        </p:txBody>
      </p:sp>
      <p:sp>
        <p:nvSpPr>
          <p:cNvPr id="27" name="Text 25"/>
          <p:cNvSpPr txBox="1"/>
          <p:nvPr/>
        </p:nvSpPr>
        <p:spPr>
          <a:xfrm>
            <a:off x="1600200" y="4727448"/>
            <a:ext cx="4114800" cy="640080"/>
          </a:xfrm>
          <a:prstGeom prst="rect">
            <a:avLst/>
          </a:prstGeom>
          <a:noFill/>
          <a:ln/>
        </p:spPr>
        <p:txBody>
          <a:bodyPr wrap="square" lIns="0" tIns="0" rIns="0" bIns="0" rtlCol="0" anchor="ctr"/>
          <a:lstStyle/>
          <a:p>
            <a:pPr indent="0" marL="0">
              <a:lnSpc>
                <a:spcPct val="115000"/>
              </a:lnSpc>
              <a:buNone/>
            </a:pPr>
            <a:r>
              <a:rPr lang="en-US" sz="1100" dirty="0">
                <a:solidFill>
                  <a:srgbClr val="5B5B5B"/>
                </a:solidFill>
                <a:latin typeface="Calibri" pitchFamily="34" charset="0"/>
                <a:ea typeface="Calibri" pitchFamily="34" charset="-122"/>
                <a:cs typeface="Calibri" pitchFamily="34" charset="-120"/>
              </a:rPr>
              <a:t>Visual proof during the demo: live topic &amp; consumer-group offsets.</a:t>
            </a:r>
            <a:endParaRPr lang="en-US" sz="1100" dirty="0"/>
          </a:p>
        </p:txBody>
      </p:sp>
      <p:sp>
        <p:nvSpPr>
          <p:cNvPr id="28" name="Shape 26"/>
          <p:cNvSpPr/>
          <p:nvPr/>
        </p:nvSpPr>
        <p:spPr>
          <a:xfrm>
            <a:off x="6217920" y="4251960"/>
            <a:ext cx="5303520" cy="1188720"/>
          </a:xfrm>
          <a:prstGeom prst="roundRect">
            <a:avLst>
              <a:gd name="adj" fmla="val 6154"/>
            </a:avLst>
          </a:prstGeom>
          <a:solidFill>
            <a:srgbClr val="F7F8FC"/>
          </a:solidFill>
          <a:ln w="12700">
            <a:solidFill>
              <a:srgbClr val="DADFEE"/>
            </a:solidFill>
            <a:prstDash val="solid"/>
          </a:ln>
        </p:spPr>
      </p:sp>
      <p:sp>
        <p:nvSpPr>
          <p:cNvPr id="29" name="Shape 27"/>
          <p:cNvSpPr/>
          <p:nvPr/>
        </p:nvSpPr>
        <p:spPr>
          <a:xfrm>
            <a:off x="6446520" y="4526280"/>
            <a:ext cx="640080" cy="640080"/>
          </a:xfrm>
          <a:prstGeom prst="ellipse">
            <a:avLst/>
          </a:prstGeom>
          <a:solidFill>
            <a:srgbClr val="F96167"/>
          </a:solidFill>
          <a:ln/>
        </p:spPr>
      </p:sp>
      <p:sp>
        <p:nvSpPr>
          <p:cNvPr id="30" name="Text 28"/>
          <p:cNvSpPr txBox="1"/>
          <p:nvPr/>
        </p:nvSpPr>
        <p:spPr>
          <a:xfrm>
            <a:off x="6446520" y="452628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31" name="Text 29"/>
          <p:cNvSpPr txBox="1"/>
          <p:nvPr/>
        </p:nvSpPr>
        <p:spPr>
          <a:xfrm>
            <a:off x="7269480" y="4389120"/>
            <a:ext cx="4023360" cy="320040"/>
          </a:xfrm>
          <a:prstGeom prst="rect">
            <a:avLst/>
          </a:prstGeom>
          <a:noFill/>
          <a:ln/>
        </p:spPr>
        <p:txBody>
          <a:bodyPr wrap="square" lIns="0" tIns="0" rIns="0" bIns="0" rtlCol="0" anchor="ctr"/>
          <a:lstStyle/>
          <a:p>
            <a:pPr indent="0" marL="0">
              <a:buNone/>
            </a:pPr>
            <a:r>
              <a:rPr lang="en-US" sz="1400" b="1" dirty="0">
                <a:solidFill>
                  <a:srgbClr val="2F3C7E"/>
                </a:solidFill>
                <a:latin typeface="Calibri" pitchFamily="34" charset="0"/>
                <a:ea typeface="Calibri" pitchFamily="34" charset="-122"/>
                <a:cs typeface="Calibri" pitchFamily="34" charset="-120"/>
              </a:rPr>
              <a:t>GitHub</a:t>
            </a:r>
            <a:endParaRPr lang="en-US" sz="1400" dirty="0"/>
          </a:p>
        </p:txBody>
      </p:sp>
      <p:sp>
        <p:nvSpPr>
          <p:cNvPr id="32" name="Text 30"/>
          <p:cNvSpPr txBox="1"/>
          <p:nvPr/>
        </p:nvSpPr>
        <p:spPr>
          <a:xfrm>
            <a:off x="7269480" y="4727448"/>
            <a:ext cx="4114800" cy="640080"/>
          </a:xfrm>
          <a:prstGeom prst="rect">
            <a:avLst/>
          </a:prstGeom>
          <a:noFill/>
          <a:ln/>
        </p:spPr>
        <p:txBody>
          <a:bodyPr wrap="square" lIns="0" tIns="0" rIns="0" bIns="0" rtlCol="0" anchor="ctr"/>
          <a:lstStyle/>
          <a:p>
            <a:pPr indent="0" marL="0">
              <a:lnSpc>
                <a:spcPct val="115000"/>
              </a:lnSpc>
              <a:buNone/>
            </a:pPr>
            <a:r>
              <a:rPr lang="en-US" sz="1100" dirty="0">
                <a:solidFill>
                  <a:srgbClr val="5B5B5B"/>
                </a:solidFill>
                <a:latin typeface="Calibri" pitchFamily="34" charset="0"/>
                <a:ea typeface="Calibri" pitchFamily="34" charset="-122"/>
                <a:cs typeface="Calibri" pitchFamily="34" charset="-120"/>
              </a:rPr>
              <a:t>Full runnable source, README, and demo script.</a:t>
            </a:r>
            <a:endParaRPr lang="en-US" sz="1100" dirty="0"/>
          </a:p>
        </p:txBody>
      </p:sp>
      <p:sp>
        <p:nvSpPr>
          <p:cNvPr id="33" name="Shape 31"/>
          <p:cNvSpPr/>
          <p:nvPr/>
        </p:nvSpPr>
        <p:spPr>
          <a:xfrm>
            <a:off x="548640" y="5760720"/>
            <a:ext cx="11064240" cy="685800"/>
          </a:xfrm>
          <a:prstGeom prst="roundRect">
            <a:avLst>
              <a:gd name="adj" fmla="val 10667"/>
            </a:avLst>
          </a:prstGeom>
          <a:solidFill>
            <a:srgbClr val="2F3C7E"/>
          </a:solidFill>
          <a:ln/>
        </p:spPr>
      </p:sp>
      <p:sp>
        <p:nvSpPr>
          <p:cNvPr id="34" name="Text 32"/>
          <p:cNvSpPr txBox="1"/>
          <p:nvPr/>
        </p:nvSpPr>
        <p:spPr>
          <a:xfrm>
            <a:off x="822960" y="5760720"/>
            <a:ext cx="10607040" cy="68580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GitHub repo: </a:t>
            </a:r>
            <a:pPr indent="0" marL="0">
              <a:buNone/>
            </a:pPr>
            <a:r>
              <a:rPr lang="en-US" sz="1250" dirty="0">
                <a:solidFill>
                  <a:srgbClr val="CADCFC"/>
                </a:solidFill>
                <a:latin typeface="Calibri" pitchFamily="34" charset="0"/>
                <a:ea typeface="Calibri" pitchFamily="34" charset="-122"/>
                <a:cs typeface="Calibri" pitchFamily="34" charset="-120"/>
              </a:rPr>
              <a:t>order-service / customer-service / rider-service / notification-service / docs / postman / docker-compose.yml</a:t>
            </a:r>
            <a:endParaRPr lang="en-US" sz="1250" dirty="0"/>
          </a:p>
        </p:txBody>
      </p:sp>
      <p:sp>
        <p:nvSpPr>
          <p:cNvPr id="35" name="Text 33"/>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1000" dirty="0">
                <a:solidFill>
                  <a:srgbClr val="9AA0A6"/>
                </a:solidFill>
                <a:latin typeface="Calibri" pitchFamily="34" charset="0"/>
                <a:ea typeface="Calibri" pitchFamily="34" charset="-122"/>
                <a:cs typeface="Calibri" pitchFamily="34" charset="-120"/>
              </a:rPr>
              <a:t>3 · Implementation — Tech Stack</a:t>
            </a:r>
            <a:endParaRPr lang="en-US" sz="1000" dirty="0"/>
          </a:p>
        </p:txBody>
      </p:sp>
      <p:sp>
        <p:nvSpPr>
          <p:cNvPr id="36" name="Text 34"/>
          <p:cNvSpPr txBox="1"/>
          <p:nvPr/>
        </p:nvSpPr>
        <p:spPr>
          <a:xfrm>
            <a:off x="11338560" y="6510528"/>
            <a:ext cx="365760" cy="274320"/>
          </a:xfrm>
          <a:prstGeom prst="rect">
            <a:avLst/>
          </a:prstGeom>
          <a:noFill/>
          <a:ln/>
        </p:spPr>
        <p:txBody>
          <a:bodyPr wrap="square" lIns="0" tIns="0" rIns="0" bIns="0" rtlCol="0" anchor="ctr"/>
          <a:lstStyle/>
          <a:p>
            <a:pPr algn="r" indent="0" marL="0">
              <a:buNone/>
            </a:pPr>
            <a:r>
              <a:rPr lang="en-US" sz="1000" dirty="0">
                <a:solidFill>
                  <a:srgbClr val="9AA0A6"/>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algn="l" indent="0" marL="0">
              <a:buNone/>
            </a:pPr>
            <a:r>
              <a:rPr lang="en-US" sz="3000" b="1" dirty="0">
                <a:solidFill>
                  <a:srgbClr val="2F3C7E"/>
                </a:solidFill>
                <a:latin typeface="Cambria" pitchFamily="34" charset="0"/>
                <a:ea typeface="Cambria" pitchFamily="34" charset="-122"/>
                <a:cs typeface="Cambria" pitchFamily="34" charset="-120"/>
              </a:rPr>
              <a:t>Proving the Fix: Rider Service Goes Down Mid-Order</a:t>
            </a:r>
            <a:endParaRPr lang="en-US" sz="3000" dirty="0"/>
          </a:p>
        </p:txBody>
      </p:sp>
      <p:sp>
        <p:nvSpPr>
          <p:cNvPr id="3" name="Shape 1"/>
          <p:cNvSpPr/>
          <p:nvPr/>
        </p:nvSpPr>
        <p:spPr>
          <a:xfrm>
            <a:off x="548640" y="1371600"/>
            <a:ext cx="5349240" cy="4480560"/>
          </a:xfrm>
          <a:prstGeom prst="roundRect">
            <a:avLst>
              <a:gd name="adj" fmla="val 1633"/>
            </a:avLst>
          </a:prstGeom>
          <a:solidFill>
            <a:srgbClr val="FDECEA"/>
          </a:solidFill>
          <a:ln w="19050">
            <a:solidFill>
              <a:srgbClr val="F96167"/>
            </a:solidFill>
            <a:prstDash val="solid"/>
          </a:ln>
        </p:spPr>
      </p:sp>
      <p:sp>
        <p:nvSpPr>
          <p:cNvPr id="4" name="Text 2"/>
          <p:cNvSpPr txBox="1"/>
          <p:nvPr/>
        </p:nvSpPr>
        <p:spPr>
          <a:xfrm>
            <a:off x="777240" y="1536192"/>
            <a:ext cx="4892040" cy="365760"/>
          </a:xfrm>
          <a:prstGeom prst="rect">
            <a:avLst/>
          </a:prstGeom>
          <a:noFill/>
          <a:ln/>
        </p:spPr>
        <p:txBody>
          <a:bodyPr wrap="square" lIns="0" tIns="0" rIns="0" bIns="0" rtlCol="0" anchor="ctr"/>
          <a:lstStyle/>
          <a:p>
            <a:pPr indent="0" marL="0">
              <a:buNone/>
            </a:pPr>
            <a:r>
              <a:rPr lang="en-US" sz="1500" b="1" dirty="0">
                <a:solidFill>
                  <a:srgbClr val="7A1F1A"/>
                </a:solidFill>
                <a:latin typeface="Calibri" pitchFamily="34" charset="0"/>
                <a:ea typeface="Calibri" pitchFamily="34" charset="-122"/>
                <a:cs typeface="Calibri" pitchFamily="34" charset="-120"/>
              </a:rPr>
              <a:t>Direct HTTP calls (before)</a:t>
            </a:r>
            <a:endParaRPr lang="en-US" sz="1500" dirty="0"/>
          </a:p>
        </p:txBody>
      </p:sp>
      <p:sp>
        <p:nvSpPr>
          <p:cNvPr id="5" name="Text 3"/>
          <p:cNvSpPr txBox="1"/>
          <p:nvPr/>
        </p:nvSpPr>
        <p:spPr>
          <a:xfrm>
            <a:off x="868680" y="2057400"/>
            <a:ext cx="4709160" cy="548640"/>
          </a:xfrm>
          <a:prstGeom prst="rect">
            <a:avLst/>
          </a:prstGeom>
          <a:noFill/>
          <a:ln/>
        </p:spPr>
        <p:txBody>
          <a:bodyPr wrap="square" lIns="0" tIns="0" rIns="0" bIns="0" rtlCol="0" anchor="t"/>
          <a:lstStyle/>
          <a:p>
            <a:pPr indent="0" marL="0">
              <a:buNone/>
            </a:pPr>
            <a:r>
              <a:rPr lang="en-US" sz="1250" dirty="0">
                <a:solidFill>
                  <a:srgbClr val="5B1E1A"/>
                </a:solidFill>
                <a:latin typeface="Calibri" pitchFamily="34" charset="0"/>
                <a:ea typeface="Calibri" pitchFamily="34" charset="-122"/>
                <a:cs typeface="Calibri" pitchFamily="34" charset="-120"/>
              </a:rPr>
              <a:t>1. Restaurant marks order READY_FOR_PICKUP.</a:t>
            </a:r>
            <a:endParaRPr lang="en-US" sz="1250" dirty="0"/>
          </a:p>
        </p:txBody>
      </p:sp>
      <p:sp>
        <p:nvSpPr>
          <p:cNvPr id="6" name="Text 4"/>
          <p:cNvSpPr txBox="1"/>
          <p:nvPr/>
        </p:nvSpPr>
        <p:spPr>
          <a:xfrm>
            <a:off x="868680" y="2679192"/>
            <a:ext cx="4709160" cy="548640"/>
          </a:xfrm>
          <a:prstGeom prst="rect">
            <a:avLst/>
          </a:prstGeom>
          <a:noFill/>
          <a:ln/>
        </p:spPr>
        <p:txBody>
          <a:bodyPr wrap="square" lIns="0" tIns="0" rIns="0" bIns="0" rtlCol="0" anchor="t"/>
          <a:lstStyle/>
          <a:p>
            <a:pPr indent="0" marL="0">
              <a:buNone/>
            </a:pPr>
            <a:r>
              <a:rPr lang="en-US" sz="1250" dirty="0">
                <a:solidFill>
                  <a:srgbClr val="5B1E1A"/>
                </a:solidFill>
                <a:latin typeface="Calibri" pitchFamily="34" charset="0"/>
                <a:ea typeface="Calibri" pitchFamily="34" charset="-122"/>
                <a:cs typeface="Calibri" pitchFamily="34" charset="-120"/>
              </a:rPr>
              <a:t>2. order-service calls rider-service directly.</a:t>
            </a:r>
            <a:endParaRPr lang="en-US" sz="1250" dirty="0"/>
          </a:p>
        </p:txBody>
      </p:sp>
      <p:sp>
        <p:nvSpPr>
          <p:cNvPr id="7" name="Text 5"/>
          <p:cNvSpPr txBox="1"/>
          <p:nvPr/>
        </p:nvSpPr>
        <p:spPr>
          <a:xfrm>
            <a:off x="868680" y="3300984"/>
            <a:ext cx="4709160" cy="548640"/>
          </a:xfrm>
          <a:prstGeom prst="rect">
            <a:avLst/>
          </a:prstGeom>
          <a:noFill/>
          <a:ln/>
        </p:spPr>
        <p:txBody>
          <a:bodyPr wrap="square" lIns="0" tIns="0" rIns="0" bIns="0" rtlCol="0" anchor="t"/>
          <a:lstStyle/>
          <a:p>
            <a:pPr indent="0" marL="0">
              <a:buNone/>
            </a:pPr>
            <a:r>
              <a:rPr lang="en-US" sz="1250" dirty="0">
                <a:solidFill>
                  <a:srgbClr val="5B1E1A"/>
                </a:solidFill>
                <a:latin typeface="Calibri" pitchFamily="34" charset="0"/>
                <a:ea typeface="Calibri" pitchFamily="34" charset="-122"/>
                <a:cs typeface="Calibri" pitchFamily="34" charset="-120"/>
              </a:rPr>
              <a:t>3. rider-service is restarting → connection refused.</a:t>
            </a:r>
            <a:endParaRPr lang="en-US" sz="1250" dirty="0"/>
          </a:p>
        </p:txBody>
      </p:sp>
      <p:sp>
        <p:nvSpPr>
          <p:cNvPr id="8" name="Text 6"/>
          <p:cNvSpPr txBox="1"/>
          <p:nvPr/>
        </p:nvSpPr>
        <p:spPr>
          <a:xfrm>
            <a:off x="868680" y="3922776"/>
            <a:ext cx="4709160" cy="548640"/>
          </a:xfrm>
          <a:prstGeom prst="rect">
            <a:avLst/>
          </a:prstGeom>
          <a:noFill/>
          <a:ln/>
        </p:spPr>
        <p:txBody>
          <a:bodyPr wrap="square" lIns="0" tIns="0" rIns="0" bIns="0" rtlCol="0" anchor="t"/>
          <a:lstStyle/>
          <a:p>
            <a:pPr indent="0" marL="0">
              <a:buNone/>
            </a:pPr>
            <a:r>
              <a:rPr lang="en-US" sz="1250" dirty="0">
                <a:solidFill>
                  <a:srgbClr val="5B1E1A"/>
                </a:solidFill>
                <a:latin typeface="Calibri" pitchFamily="34" charset="0"/>
                <a:ea typeface="Calibri" pitchFamily="34" charset="-122"/>
                <a:cs typeface="Calibri" pitchFamily="34" charset="-120"/>
              </a:rPr>
              <a:t>4. The call fails. Nothing retries it.</a:t>
            </a:r>
            <a:endParaRPr lang="en-US" sz="1250" dirty="0"/>
          </a:p>
        </p:txBody>
      </p:sp>
      <p:sp>
        <p:nvSpPr>
          <p:cNvPr id="9" name="Text 7"/>
          <p:cNvSpPr txBox="1"/>
          <p:nvPr/>
        </p:nvSpPr>
        <p:spPr>
          <a:xfrm>
            <a:off x="868680" y="4544568"/>
            <a:ext cx="4709160" cy="548640"/>
          </a:xfrm>
          <a:prstGeom prst="rect">
            <a:avLst/>
          </a:prstGeom>
          <a:noFill/>
          <a:ln/>
        </p:spPr>
        <p:txBody>
          <a:bodyPr wrap="square" lIns="0" tIns="0" rIns="0" bIns="0" rtlCol="0" anchor="t"/>
          <a:lstStyle/>
          <a:p>
            <a:pPr indent="0" marL="0">
              <a:buNone/>
            </a:pPr>
            <a:r>
              <a:rPr lang="en-US" sz="1250" dirty="0">
                <a:solidFill>
                  <a:srgbClr val="5B1E1A"/>
                </a:solidFill>
                <a:latin typeface="Calibri" pitchFamily="34" charset="0"/>
                <a:ea typeface="Calibri" pitchFamily="34" charset="-122"/>
                <a:cs typeface="Calibri" pitchFamily="34" charset="-120"/>
              </a:rPr>
              <a:t>5. The rider never learns the order is ready — the update is gone for good.</a:t>
            </a:r>
            <a:endParaRPr lang="en-US" sz="1250" dirty="0"/>
          </a:p>
        </p:txBody>
      </p:sp>
      <p:sp>
        <p:nvSpPr>
          <p:cNvPr id="10" name="Shape 8"/>
          <p:cNvSpPr/>
          <p:nvPr/>
        </p:nvSpPr>
        <p:spPr>
          <a:xfrm>
            <a:off x="6263640" y="1371600"/>
            <a:ext cx="5349240" cy="4480560"/>
          </a:xfrm>
          <a:prstGeom prst="roundRect">
            <a:avLst>
              <a:gd name="adj" fmla="val 1633"/>
            </a:avLst>
          </a:prstGeom>
          <a:solidFill>
            <a:srgbClr val="E6F4EA"/>
          </a:solidFill>
          <a:ln w="19050">
            <a:solidFill>
              <a:srgbClr val="1E8E3E"/>
            </a:solidFill>
            <a:prstDash val="solid"/>
          </a:ln>
        </p:spPr>
      </p:sp>
      <p:sp>
        <p:nvSpPr>
          <p:cNvPr id="11" name="Text 9"/>
          <p:cNvSpPr txBox="1"/>
          <p:nvPr/>
        </p:nvSpPr>
        <p:spPr>
          <a:xfrm>
            <a:off x="6492240" y="1536192"/>
            <a:ext cx="4892040" cy="365760"/>
          </a:xfrm>
          <a:prstGeom prst="rect">
            <a:avLst/>
          </a:prstGeom>
          <a:noFill/>
          <a:ln/>
        </p:spPr>
        <p:txBody>
          <a:bodyPr wrap="square" lIns="0" tIns="0" rIns="0" bIns="0" rtlCol="0" anchor="ctr"/>
          <a:lstStyle/>
          <a:p>
            <a:pPr indent="0" marL="0">
              <a:buNone/>
            </a:pPr>
            <a:r>
              <a:rPr lang="en-US" sz="1500" b="1" dirty="0">
                <a:solidFill>
                  <a:srgbClr val="155724"/>
                </a:solidFill>
                <a:latin typeface="Calibri" pitchFamily="34" charset="0"/>
                <a:ea typeface="Calibri" pitchFamily="34" charset="-122"/>
                <a:cs typeface="Calibri" pitchFamily="34" charset="-120"/>
              </a:rPr>
              <a:t>Kafka event stream (after)</a:t>
            </a:r>
            <a:endParaRPr lang="en-US" sz="1500" dirty="0"/>
          </a:p>
        </p:txBody>
      </p:sp>
      <p:sp>
        <p:nvSpPr>
          <p:cNvPr id="12" name="Text 10"/>
          <p:cNvSpPr txBox="1"/>
          <p:nvPr/>
        </p:nvSpPr>
        <p:spPr>
          <a:xfrm>
            <a:off x="6583680" y="2057400"/>
            <a:ext cx="4709160" cy="548640"/>
          </a:xfrm>
          <a:prstGeom prst="rect">
            <a:avLst/>
          </a:prstGeom>
          <a:noFill/>
          <a:ln/>
        </p:spPr>
        <p:txBody>
          <a:bodyPr wrap="square" lIns="0" tIns="0" rIns="0" bIns="0" rtlCol="0" anchor="t"/>
          <a:lstStyle/>
          <a:p>
            <a:pPr indent="0" marL="0">
              <a:buNone/>
            </a:pPr>
            <a:r>
              <a:rPr lang="en-US" sz="1250" dirty="0">
                <a:solidFill>
                  <a:srgbClr val="1B4D2E"/>
                </a:solidFill>
                <a:latin typeface="Calibri" pitchFamily="34" charset="0"/>
                <a:ea typeface="Calibri" pitchFamily="34" charset="-122"/>
                <a:cs typeface="Calibri" pitchFamily="34" charset="-120"/>
              </a:rPr>
              <a:t>1. Restaurant marks order READY_FOR_PICKUP.</a:t>
            </a:r>
            <a:endParaRPr lang="en-US" sz="1250" dirty="0"/>
          </a:p>
        </p:txBody>
      </p:sp>
      <p:sp>
        <p:nvSpPr>
          <p:cNvPr id="13" name="Text 11"/>
          <p:cNvSpPr txBox="1"/>
          <p:nvPr/>
        </p:nvSpPr>
        <p:spPr>
          <a:xfrm>
            <a:off x="6583680" y="2679192"/>
            <a:ext cx="4709160" cy="548640"/>
          </a:xfrm>
          <a:prstGeom prst="rect">
            <a:avLst/>
          </a:prstGeom>
          <a:noFill/>
          <a:ln/>
        </p:spPr>
        <p:txBody>
          <a:bodyPr wrap="square" lIns="0" tIns="0" rIns="0" bIns="0" rtlCol="0" anchor="t"/>
          <a:lstStyle/>
          <a:p>
            <a:pPr indent="0" marL="0">
              <a:buNone/>
            </a:pPr>
            <a:r>
              <a:rPr lang="en-US" sz="1250" dirty="0">
                <a:solidFill>
                  <a:srgbClr val="1B4D2E"/>
                </a:solidFill>
                <a:latin typeface="Calibri" pitchFamily="34" charset="0"/>
                <a:ea typeface="Calibri" pitchFamily="34" charset="-122"/>
                <a:cs typeface="Calibri" pitchFamily="34" charset="-120"/>
              </a:rPr>
              <a:t>2. order-service publishes the event to Kafka and moves on.</a:t>
            </a:r>
            <a:endParaRPr lang="en-US" sz="1250" dirty="0"/>
          </a:p>
        </p:txBody>
      </p:sp>
      <p:sp>
        <p:nvSpPr>
          <p:cNvPr id="14" name="Text 12"/>
          <p:cNvSpPr txBox="1"/>
          <p:nvPr/>
        </p:nvSpPr>
        <p:spPr>
          <a:xfrm>
            <a:off x="6583680" y="3300984"/>
            <a:ext cx="4709160" cy="548640"/>
          </a:xfrm>
          <a:prstGeom prst="rect">
            <a:avLst/>
          </a:prstGeom>
          <a:noFill/>
          <a:ln/>
        </p:spPr>
        <p:txBody>
          <a:bodyPr wrap="square" lIns="0" tIns="0" rIns="0" bIns="0" rtlCol="0" anchor="t"/>
          <a:lstStyle/>
          <a:p>
            <a:pPr indent="0" marL="0">
              <a:buNone/>
            </a:pPr>
            <a:r>
              <a:rPr lang="en-US" sz="1250" dirty="0">
                <a:solidFill>
                  <a:srgbClr val="1B4D2E"/>
                </a:solidFill>
                <a:latin typeface="Calibri" pitchFamily="34" charset="0"/>
                <a:ea typeface="Calibri" pitchFamily="34" charset="-122"/>
                <a:cs typeface="Calibri" pitchFamily="34" charset="-120"/>
              </a:rPr>
              <a:t>3. rider-service is restarting — Kafka just holds the event.</a:t>
            </a:r>
            <a:endParaRPr lang="en-US" sz="1250" dirty="0"/>
          </a:p>
        </p:txBody>
      </p:sp>
      <p:sp>
        <p:nvSpPr>
          <p:cNvPr id="15" name="Text 13"/>
          <p:cNvSpPr txBox="1"/>
          <p:nvPr/>
        </p:nvSpPr>
        <p:spPr>
          <a:xfrm>
            <a:off x="6583680" y="3922776"/>
            <a:ext cx="4709160" cy="548640"/>
          </a:xfrm>
          <a:prstGeom prst="rect">
            <a:avLst/>
          </a:prstGeom>
          <a:noFill/>
          <a:ln/>
        </p:spPr>
        <p:txBody>
          <a:bodyPr wrap="square" lIns="0" tIns="0" rIns="0" bIns="0" rtlCol="0" anchor="t"/>
          <a:lstStyle/>
          <a:p>
            <a:pPr indent="0" marL="0">
              <a:buNone/>
            </a:pPr>
            <a:r>
              <a:rPr lang="en-US" sz="1250" dirty="0">
                <a:solidFill>
                  <a:srgbClr val="1B4D2E"/>
                </a:solidFill>
                <a:latin typeface="Calibri" pitchFamily="34" charset="0"/>
                <a:ea typeface="Calibri" pitchFamily="34" charset="-122"/>
                <a:cs typeface="Calibri" pitchFamily="34" charset="-120"/>
              </a:rPr>
              <a:t>4. rider-service comes back and resumes from its last committed offset.</a:t>
            </a:r>
            <a:endParaRPr lang="en-US" sz="1250" dirty="0"/>
          </a:p>
        </p:txBody>
      </p:sp>
      <p:sp>
        <p:nvSpPr>
          <p:cNvPr id="16" name="Text 14"/>
          <p:cNvSpPr txBox="1"/>
          <p:nvPr/>
        </p:nvSpPr>
        <p:spPr>
          <a:xfrm>
            <a:off x="6583680" y="4544568"/>
            <a:ext cx="4709160" cy="548640"/>
          </a:xfrm>
          <a:prstGeom prst="rect">
            <a:avLst/>
          </a:prstGeom>
          <a:noFill/>
          <a:ln/>
        </p:spPr>
        <p:txBody>
          <a:bodyPr wrap="square" lIns="0" tIns="0" rIns="0" bIns="0" rtlCol="0" anchor="t"/>
          <a:lstStyle/>
          <a:p>
            <a:pPr indent="0" marL="0">
              <a:buNone/>
            </a:pPr>
            <a:r>
              <a:rPr lang="en-US" sz="1250" dirty="0">
                <a:solidFill>
                  <a:srgbClr val="1B4D2E"/>
                </a:solidFill>
                <a:latin typeface="Calibri" pitchFamily="34" charset="0"/>
                <a:ea typeface="Calibri" pitchFamily="34" charset="-122"/>
                <a:cs typeface="Calibri" pitchFamily="34" charset="-120"/>
              </a:rPr>
              <a:t>5. It consumes the missed event — the pickup pool is correct again.</a:t>
            </a:r>
            <a:endParaRPr lang="en-US" sz="1250" dirty="0"/>
          </a:p>
        </p:txBody>
      </p:sp>
      <p:sp>
        <p:nvSpPr>
          <p:cNvPr id="17" name="Text 15"/>
          <p:cNvSpPr txBox="1"/>
          <p:nvPr/>
        </p:nvSpPr>
        <p:spPr>
          <a:xfrm>
            <a:off x="548640" y="5989320"/>
            <a:ext cx="11064240" cy="548640"/>
          </a:xfrm>
          <a:prstGeom prst="rect">
            <a:avLst/>
          </a:prstGeom>
          <a:noFill/>
          <a:ln/>
        </p:spPr>
        <p:txBody>
          <a:bodyPr wrap="square" lIns="0" tIns="0" rIns="0" bIns="0" rtlCol="0" anchor="ctr"/>
          <a:lstStyle/>
          <a:p>
            <a:pPr indent="0" marL="0">
              <a:buNone/>
            </a:pPr>
            <a:r>
              <a:rPr lang="en-US" sz="1150" i="1" dirty="0">
                <a:solidFill>
                  <a:srgbClr val="5B5B5B"/>
                </a:solidFill>
                <a:latin typeface="Calibri" pitchFamily="34" charset="0"/>
                <a:ea typeface="Calibri" pitchFamily="34" charset="-122"/>
                <a:cs typeface="Calibri" pitchFamily="34" charset="-120"/>
              </a:rPr>
              <a:t>Verified live: docker compose stop rider-service → publish 2 status updates → docker compose start rider-service → GET /pickup-pool still returns the missed order.</a:t>
            </a:r>
            <a:endParaRPr lang="en-US" sz="1150" dirty="0"/>
          </a:p>
        </p:txBody>
      </p:sp>
      <p:sp>
        <p:nvSpPr>
          <p:cNvPr id="18" name="Text 16"/>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1000" dirty="0">
                <a:solidFill>
                  <a:srgbClr val="9AA0A6"/>
                </a:solidFill>
                <a:latin typeface="Calibri" pitchFamily="34" charset="0"/>
                <a:ea typeface="Calibri" pitchFamily="34" charset="-122"/>
                <a:cs typeface="Calibri" pitchFamily="34" charset="-120"/>
              </a:rPr>
              <a:t>3 · Implementation — Resilience</a:t>
            </a:r>
            <a:endParaRPr lang="en-US" sz="1000" dirty="0"/>
          </a:p>
        </p:txBody>
      </p:sp>
      <p:sp>
        <p:nvSpPr>
          <p:cNvPr id="19" name="Text 17"/>
          <p:cNvSpPr txBox="1"/>
          <p:nvPr/>
        </p:nvSpPr>
        <p:spPr>
          <a:xfrm>
            <a:off x="11338560" y="6510528"/>
            <a:ext cx="365760" cy="274320"/>
          </a:xfrm>
          <a:prstGeom prst="rect">
            <a:avLst/>
          </a:prstGeom>
          <a:noFill/>
          <a:ln/>
        </p:spPr>
        <p:txBody>
          <a:bodyPr wrap="square" lIns="0" tIns="0" rIns="0" bIns="0" rtlCol="0" anchor="ctr"/>
          <a:lstStyle/>
          <a:p>
            <a:pPr algn="r" indent="0" marL="0">
              <a:buNone/>
            </a:pPr>
            <a:r>
              <a:rPr lang="en-US" sz="1000" dirty="0">
                <a:solidFill>
                  <a:srgbClr val="9AA0A6"/>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algn="l" indent="0" marL="0">
              <a:buNone/>
            </a:pPr>
            <a:r>
              <a:rPr lang="en-US" sz="3000" b="1" dirty="0">
                <a:solidFill>
                  <a:srgbClr val="2F3C7E"/>
                </a:solidFill>
                <a:latin typeface="Cambria" pitchFamily="34" charset="0"/>
                <a:ea typeface="Cambria" pitchFamily="34" charset="-122"/>
                <a:cs typeface="Cambria" pitchFamily="34" charset="-120"/>
              </a:rPr>
              <a:t>Live Demo</a:t>
            </a:r>
            <a:endParaRPr lang="en-US" sz="3000" dirty="0"/>
          </a:p>
        </p:txBody>
      </p:sp>
      <p:sp>
        <p:nvSpPr>
          <p:cNvPr id="3" name="Shape 1"/>
          <p:cNvSpPr/>
          <p:nvPr/>
        </p:nvSpPr>
        <p:spPr>
          <a:xfrm>
            <a:off x="548640" y="1371600"/>
            <a:ext cx="5394960" cy="4572000"/>
          </a:xfrm>
          <a:prstGeom prst="roundRect">
            <a:avLst>
              <a:gd name="adj" fmla="val 1600"/>
            </a:avLst>
          </a:prstGeom>
          <a:solidFill>
            <a:srgbClr val="1E2A44"/>
          </a:solidFill>
          <a:ln/>
        </p:spPr>
      </p:sp>
      <p:sp>
        <p:nvSpPr>
          <p:cNvPr id="4" name="Text 2"/>
          <p:cNvSpPr txBox="1"/>
          <p:nvPr/>
        </p:nvSpPr>
        <p:spPr>
          <a:xfrm>
            <a:off x="777240" y="1508760"/>
            <a:ext cx="4572000" cy="320040"/>
          </a:xfrm>
          <a:prstGeom prst="rect">
            <a:avLst/>
          </a:prstGeom>
          <a:noFill/>
          <a:ln/>
        </p:spPr>
        <p:txBody>
          <a:bodyPr wrap="square" lIns="0" tIns="0" rIns="0" bIns="0" rtlCol="0" anchor="ctr"/>
          <a:lstStyle/>
          <a:p>
            <a:pPr indent="0" marL="0">
              <a:buNone/>
            </a:pPr>
            <a:r>
              <a:rPr lang="en-US" sz="1300" b="1" dirty="0">
                <a:solidFill>
                  <a:srgbClr val="9FB3E8"/>
                </a:solidFill>
                <a:latin typeface="Calibri" pitchFamily="34" charset="0"/>
                <a:ea typeface="Calibri" pitchFamily="34" charset="-122"/>
                <a:cs typeface="Calibri" pitchFamily="34" charset="-120"/>
              </a:rPr>
              <a:t>Terminal</a:t>
            </a:r>
            <a:endParaRPr lang="en-US" sz="1300" dirty="0"/>
          </a:p>
        </p:txBody>
      </p:sp>
      <p:sp>
        <p:nvSpPr>
          <p:cNvPr id="5" name="Text 3"/>
          <p:cNvSpPr txBox="1"/>
          <p:nvPr/>
        </p:nvSpPr>
        <p:spPr>
          <a:xfrm>
            <a:off x="777240" y="1874520"/>
            <a:ext cx="4937760" cy="3931920"/>
          </a:xfrm>
          <a:prstGeom prst="rect">
            <a:avLst/>
          </a:prstGeom>
          <a:noFill/>
          <a:ln/>
        </p:spPr>
        <p:txBody>
          <a:bodyPr wrap="square" lIns="0" tIns="0" rIns="0" bIns="0" rtlCol="0" anchor="ctr"/>
          <a:lstStyle/>
          <a:p>
            <a:pPr indent="0" marL="0">
              <a:lnSpc>
                <a:spcPct val="120000"/>
              </a:lnSpc>
              <a:buNone/>
            </a:pPr>
            <a:r>
              <a:rPr lang="en-US" sz="1150" dirty="0">
                <a:solidFill>
                  <a:srgbClr val="F9E795"/>
                </a:solidFill>
                <a:latin typeface="Courier New" pitchFamily="34" charset="0"/>
                <a:ea typeface="Courier New" pitchFamily="34" charset="-122"/>
                <a:cs typeface="Courier New" pitchFamily="34" charset="-120"/>
              </a:rPr>
              <a:t>$ docker compose up --build
</a:t>
            </a:r>
            <a:pPr indent="0" marL="0">
              <a:lnSpc>
                <a:spcPct val="120000"/>
              </a:lnSpc>
              <a:buNone/>
            </a:pPr>
            <a:r>
              <a:rPr lang="en-US" sz="1150" dirty="0">
                <a:solidFill>
                  <a:srgbClr val="F9E795"/>
                </a:solidFill>
                <a:latin typeface="Courier New" pitchFamily="34" charset="0"/>
                <a:ea typeface="Courier New" pitchFamily="34" charset="-122"/>
                <a:cs typeface="Courier New" pitchFamily="34" charset="-120"/>
              </a:rPr>
              <a:t>$ ./postman/demo.sh
</a:t>
            </a:r>
            <a:pPr indent="0" marL="0">
              <a:lnSpc>
                <a:spcPct val="120000"/>
              </a:lnSpc>
              <a:buNone/>
            </a:pPr>
            <a:r>
              <a:rPr lang="en-US" sz="1150" dirty="0">
                <a:solidFill>
                  <a:srgbClr val="9FB3E8"/>
                </a:solidFill>
                <a:latin typeface="Courier New" pitchFamily="34" charset="0"/>
                <a:ea typeface="Courier New" pitchFamily="34" charset="-122"/>
                <a:cs typeface="Courier New" pitchFamily="34" charset="-120"/>
              </a:rPr>
              <a:t>== Create order (PLACED) ==
</a:t>
            </a:r>
            <a:pPr indent="0" marL="0">
              <a:lnSpc>
                <a:spcPct val="120000"/>
              </a:lnSpc>
              <a:buNone/>
            </a:pPr>
            <a:r>
              <a:rPr lang="en-US" sz="1150" dirty="0">
                <a:solidFill>
                  <a:srgbClr val="9FB3E8"/>
                </a:solidFill>
                <a:latin typeface="Courier New" pitchFamily="34" charset="0"/>
                <a:ea typeface="Courier New" pitchFamily="34" charset="-122"/>
                <a:cs typeface="Courier New" pitchFamily="34" charset="-120"/>
              </a:rPr>
              <a:t>== CONFIRMED ==
</a:t>
            </a:r>
            <a:pPr indent="0" marL="0">
              <a:lnSpc>
                <a:spcPct val="120000"/>
              </a:lnSpc>
              <a:buNone/>
            </a:pPr>
            <a:r>
              <a:rPr lang="en-US" sz="1150" dirty="0">
                <a:solidFill>
                  <a:srgbClr val="9FB3E8"/>
                </a:solidFill>
                <a:latin typeface="Courier New" pitchFamily="34" charset="0"/>
                <a:ea typeface="Courier New" pitchFamily="34" charset="-122"/>
                <a:cs typeface="Courier New" pitchFamily="34" charset="-120"/>
              </a:rPr>
              <a:t>== READY_FOR_PICKUP ==
</a:t>
            </a:r>
            <a:pPr indent="0" marL="0">
              <a:lnSpc>
                <a:spcPct val="120000"/>
              </a:lnSpc>
              <a:buNone/>
            </a:pPr>
            <a:r>
              <a:rPr lang="en-US" sz="1150" dirty="0">
                <a:solidFill>
                  <a:srgbClr val="9FB3E8"/>
                </a:solidFill>
                <a:latin typeface="Courier New" pitchFamily="34" charset="0"/>
                <a:ea typeface="Courier New" pitchFamily="34" charset="-122"/>
                <a:cs typeface="Courier New" pitchFamily="34" charset="-120"/>
              </a:rPr>
              <a:t>== PICKED_UP by rider-9 ==
</a:t>
            </a:r>
            <a:pPr indent="0" marL="0">
              <a:lnSpc>
                <a:spcPct val="120000"/>
              </a:lnSpc>
              <a:buNone/>
            </a:pPr>
            <a:r>
              <a:rPr lang="en-US" sz="1150" dirty="0">
                <a:solidFill>
                  <a:srgbClr val="9FB3E8"/>
                </a:solidFill>
                <a:latin typeface="Courier New" pitchFamily="34" charset="0"/>
                <a:ea typeface="Courier New" pitchFamily="34" charset="-122"/>
                <a:cs typeface="Courier New" pitchFamily="34" charset="-120"/>
              </a:rPr>
              <a:t>== DELIVERED ==
</a:t>
            </a:r>
            <a:pPr indent="0" marL="0">
              <a:lnSpc>
                <a:spcPct val="120000"/>
              </a:lnSpc>
              <a:buNone/>
            </a:pPr>
            <a:r>
              <a:rPr lang="en-US" sz="1150" dirty="0">
                <a:solidFill>
                  <a:srgbClr val="E8ECFA"/>
                </a:solidFill>
                <a:latin typeface="Courier New" pitchFamily="34" charset="0"/>
                <a:ea typeface="Courier New" pitchFamily="34" charset="-122"/>
                <a:cs typeface="Courier New" pitchFamily="34" charset="-120"/>
              </a:rPr>
              <a:t>customer feed: 5 events received
</a:t>
            </a:r>
            <a:pPr indent="0" marL="0">
              <a:lnSpc>
                <a:spcPct val="120000"/>
              </a:lnSpc>
              <a:buNone/>
            </a:pPr>
            <a:r>
              <a:rPr lang="en-US" sz="1150" dirty="0">
                <a:solidFill>
                  <a:srgbClr val="E8ECFA"/>
                </a:solidFill>
                <a:latin typeface="Courier New" pitchFamily="34" charset="0"/>
                <a:ea typeface="Courier New" pitchFamily="34" charset="-122"/>
                <a:cs typeface="Courier New" pitchFamily="34" charset="-120"/>
              </a:rPr>
              <a:t>rider pickup-pool: []
</a:t>
            </a:r>
            <a:pPr indent="0" marL="0">
              <a:lnSpc>
                <a:spcPct val="120000"/>
              </a:lnSpc>
              <a:buNone/>
            </a:pPr>
            <a:r>
              <a:rPr lang="en-US" sz="1150" dirty="0">
                <a:solidFill>
                  <a:srgbClr val="E8ECFA"/>
                </a:solidFill>
                <a:latin typeface="Courier New" pitchFamily="34" charset="0"/>
                <a:ea typeface="Courier New" pitchFamily="34" charset="-122"/>
                <a:cs typeface="Courier New" pitchFamily="34" charset="-120"/>
              </a:rPr>
              <a:t>notifications sent: 5</a:t>
            </a:r>
            <a:endParaRPr lang="en-US" sz="1150" dirty="0"/>
          </a:p>
        </p:txBody>
      </p:sp>
      <p:sp>
        <p:nvSpPr>
          <p:cNvPr id="6" name="Shape 4"/>
          <p:cNvSpPr/>
          <p:nvPr/>
        </p:nvSpPr>
        <p:spPr>
          <a:xfrm>
            <a:off x="6263640" y="1417320"/>
            <a:ext cx="502920" cy="502920"/>
          </a:xfrm>
          <a:prstGeom prst="ellipse">
            <a:avLst/>
          </a:prstGeom>
          <a:solidFill>
            <a:srgbClr val="2F3C7E"/>
          </a:solidFill>
          <a:ln/>
        </p:spPr>
      </p:sp>
      <p:sp>
        <p:nvSpPr>
          <p:cNvPr id="7" name="Text 5"/>
          <p:cNvSpPr txBox="1"/>
          <p:nvPr/>
        </p:nvSpPr>
        <p:spPr>
          <a:xfrm>
            <a:off x="6263640" y="14173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txBox="1"/>
          <p:nvPr/>
        </p:nvSpPr>
        <p:spPr>
          <a:xfrm>
            <a:off x="6903720" y="1371600"/>
            <a:ext cx="4754880" cy="365760"/>
          </a:xfrm>
          <a:prstGeom prst="rect">
            <a:avLst/>
          </a:prstGeom>
          <a:noFill/>
          <a:ln/>
        </p:spPr>
        <p:txBody>
          <a:bodyPr wrap="square" lIns="0" tIns="0" rIns="0" bIns="0" rtlCol="0" anchor="ctr"/>
          <a:lstStyle/>
          <a:p>
            <a:pPr indent="0" marL="0">
              <a:buNone/>
            </a:pPr>
            <a:r>
              <a:rPr lang="en-US" sz="1350" b="1" dirty="0">
                <a:solidFill>
                  <a:srgbClr val="2F3C7E"/>
                </a:solidFill>
                <a:latin typeface="Calibri" pitchFamily="34" charset="0"/>
                <a:ea typeface="Calibri" pitchFamily="34" charset="-122"/>
                <a:cs typeface="Calibri" pitchFamily="34" charset="-120"/>
              </a:rPr>
              <a:t>Bring the whole stack up with one command</a:t>
            </a:r>
            <a:endParaRPr lang="en-US" sz="1350" dirty="0"/>
          </a:p>
        </p:txBody>
      </p:sp>
      <p:sp>
        <p:nvSpPr>
          <p:cNvPr id="9" name="Text 7"/>
          <p:cNvSpPr txBox="1"/>
          <p:nvPr/>
        </p:nvSpPr>
        <p:spPr>
          <a:xfrm>
            <a:off x="6903720" y="1709928"/>
            <a:ext cx="4754880" cy="640080"/>
          </a:xfrm>
          <a:prstGeom prst="rect">
            <a:avLst/>
          </a:prstGeom>
          <a:noFill/>
          <a:ln/>
        </p:spPr>
        <p:txBody>
          <a:bodyPr wrap="square" lIns="0" tIns="0" rIns="0" bIns="0" rtlCol="0" anchor="ctr"/>
          <a:lstStyle/>
          <a:p>
            <a:pPr indent="0" marL="0">
              <a:lnSpc>
                <a:spcPct val="115000"/>
              </a:lnSpc>
              <a:buNone/>
            </a:pPr>
            <a:r>
              <a:rPr lang="en-US" sz="1150" dirty="0">
                <a:solidFill>
                  <a:srgbClr val="5B5B5B"/>
                </a:solidFill>
                <a:latin typeface="Calibri" pitchFamily="34" charset="0"/>
                <a:ea typeface="Calibri" pitchFamily="34" charset="-122"/>
                <a:cs typeface="Calibri" pitchFamily="34" charset="-120"/>
              </a:rPr>
              <a:t>docker compose up --build — Kafka, Kafka UI, and all 4 services.</a:t>
            </a:r>
            <a:endParaRPr lang="en-US" sz="1150" dirty="0"/>
          </a:p>
        </p:txBody>
      </p:sp>
      <p:sp>
        <p:nvSpPr>
          <p:cNvPr id="10" name="Shape 8"/>
          <p:cNvSpPr/>
          <p:nvPr/>
        </p:nvSpPr>
        <p:spPr>
          <a:xfrm>
            <a:off x="6263640" y="2532888"/>
            <a:ext cx="502920" cy="502920"/>
          </a:xfrm>
          <a:prstGeom prst="ellipse">
            <a:avLst/>
          </a:prstGeom>
          <a:solidFill>
            <a:srgbClr val="F96167"/>
          </a:solidFill>
          <a:ln/>
        </p:spPr>
      </p:sp>
      <p:sp>
        <p:nvSpPr>
          <p:cNvPr id="11" name="Text 9"/>
          <p:cNvSpPr txBox="1"/>
          <p:nvPr/>
        </p:nvSpPr>
        <p:spPr>
          <a:xfrm>
            <a:off x="6263640" y="2532888"/>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txBox="1"/>
          <p:nvPr/>
        </p:nvSpPr>
        <p:spPr>
          <a:xfrm>
            <a:off x="6903720" y="2487168"/>
            <a:ext cx="4754880" cy="365760"/>
          </a:xfrm>
          <a:prstGeom prst="rect">
            <a:avLst/>
          </a:prstGeom>
          <a:noFill/>
          <a:ln/>
        </p:spPr>
        <p:txBody>
          <a:bodyPr wrap="square" lIns="0" tIns="0" rIns="0" bIns="0" rtlCol="0" anchor="ctr"/>
          <a:lstStyle/>
          <a:p>
            <a:pPr indent="0" marL="0">
              <a:buNone/>
            </a:pPr>
            <a:r>
              <a:rPr lang="en-US" sz="1350" b="1" dirty="0">
                <a:solidFill>
                  <a:srgbClr val="2F3C7E"/>
                </a:solidFill>
                <a:latin typeface="Calibri" pitchFamily="34" charset="0"/>
                <a:ea typeface="Calibri" pitchFamily="34" charset="-122"/>
                <a:cs typeface="Calibri" pitchFamily="34" charset="-120"/>
              </a:rPr>
              <a:t>Drive the order through its lifecycle</a:t>
            </a:r>
            <a:endParaRPr lang="en-US" sz="1350" dirty="0"/>
          </a:p>
        </p:txBody>
      </p:sp>
      <p:sp>
        <p:nvSpPr>
          <p:cNvPr id="13" name="Text 11"/>
          <p:cNvSpPr txBox="1"/>
          <p:nvPr/>
        </p:nvSpPr>
        <p:spPr>
          <a:xfrm>
            <a:off x="6903720" y="2825496"/>
            <a:ext cx="4754880" cy="640080"/>
          </a:xfrm>
          <a:prstGeom prst="rect">
            <a:avLst/>
          </a:prstGeom>
          <a:noFill/>
          <a:ln/>
        </p:spPr>
        <p:txBody>
          <a:bodyPr wrap="square" lIns="0" tIns="0" rIns="0" bIns="0" rtlCol="0" anchor="ctr"/>
          <a:lstStyle/>
          <a:p>
            <a:pPr indent="0" marL="0">
              <a:lnSpc>
                <a:spcPct val="115000"/>
              </a:lnSpc>
              <a:buNone/>
            </a:pPr>
            <a:r>
              <a:rPr lang="en-US" sz="1150" dirty="0">
                <a:solidFill>
                  <a:srgbClr val="5B5B5B"/>
                </a:solidFill>
                <a:latin typeface="Calibri" pitchFamily="34" charset="0"/>
                <a:ea typeface="Calibri" pitchFamily="34" charset="-122"/>
                <a:cs typeface="Calibri" pitchFamily="34" charset="-120"/>
              </a:rPr>
              <a:t>postman/demo.sh or postman/demo-requests.http (Postman / REST Client).</a:t>
            </a:r>
            <a:endParaRPr lang="en-US" sz="1150" dirty="0"/>
          </a:p>
        </p:txBody>
      </p:sp>
      <p:sp>
        <p:nvSpPr>
          <p:cNvPr id="14" name="Shape 12"/>
          <p:cNvSpPr/>
          <p:nvPr/>
        </p:nvSpPr>
        <p:spPr>
          <a:xfrm>
            <a:off x="6263640" y="3648456"/>
            <a:ext cx="502920" cy="502920"/>
          </a:xfrm>
          <a:prstGeom prst="ellipse">
            <a:avLst/>
          </a:prstGeom>
          <a:solidFill>
            <a:srgbClr val="2F3C7E"/>
          </a:solidFill>
          <a:ln/>
        </p:spPr>
      </p:sp>
      <p:sp>
        <p:nvSpPr>
          <p:cNvPr id="15" name="Text 13"/>
          <p:cNvSpPr txBox="1"/>
          <p:nvPr/>
        </p:nvSpPr>
        <p:spPr>
          <a:xfrm>
            <a:off x="6263640" y="3648456"/>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6" name="Text 14"/>
          <p:cNvSpPr txBox="1"/>
          <p:nvPr/>
        </p:nvSpPr>
        <p:spPr>
          <a:xfrm>
            <a:off x="6903720" y="3602736"/>
            <a:ext cx="4754880" cy="365760"/>
          </a:xfrm>
          <a:prstGeom prst="rect">
            <a:avLst/>
          </a:prstGeom>
          <a:noFill/>
          <a:ln/>
        </p:spPr>
        <p:txBody>
          <a:bodyPr wrap="square" lIns="0" tIns="0" rIns="0" bIns="0" rtlCol="0" anchor="ctr"/>
          <a:lstStyle/>
          <a:p>
            <a:pPr indent="0" marL="0">
              <a:buNone/>
            </a:pPr>
            <a:r>
              <a:rPr lang="en-US" sz="1350" b="1" dirty="0">
                <a:solidFill>
                  <a:srgbClr val="2F3C7E"/>
                </a:solidFill>
                <a:latin typeface="Calibri" pitchFamily="34" charset="0"/>
                <a:ea typeface="Calibri" pitchFamily="34" charset="-122"/>
                <a:cs typeface="Calibri" pitchFamily="34" charset="-120"/>
              </a:rPr>
              <a:t>Watch Kafka UI</a:t>
            </a:r>
            <a:endParaRPr lang="en-US" sz="1350" dirty="0"/>
          </a:p>
        </p:txBody>
      </p:sp>
      <p:sp>
        <p:nvSpPr>
          <p:cNvPr id="17" name="Text 15"/>
          <p:cNvSpPr txBox="1"/>
          <p:nvPr/>
        </p:nvSpPr>
        <p:spPr>
          <a:xfrm>
            <a:off x="6903720" y="3941064"/>
            <a:ext cx="4754880" cy="640080"/>
          </a:xfrm>
          <a:prstGeom prst="rect">
            <a:avLst/>
          </a:prstGeom>
          <a:noFill/>
          <a:ln/>
        </p:spPr>
        <p:txBody>
          <a:bodyPr wrap="square" lIns="0" tIns="0" rIns="0" bIns="0" rtlCol="0" anchor="ctr"/>
          <a:lstStyle/>
          <a:p>
            <a:pPr indent="0" marL="0">
              <a:lnSpc>
                <a:spcPct val="115000"/>
              </a:lnSpc>
              <a:buNone/>
            </a:pPr>
            <a:r>
              <a:rPr lang="en-US" sz="1150" dirty="0">
                <a:solidFill>
                  <a:srgbClr val="5B5B5B"/>
                </a:solidFill>
                <a:latin typeface="Calibri" pitchFamily="34" charset="0"/>
                <a:ea typeface="Calibri" pitchFamily="34" charset="-122"/>
                <a:cs typeface="Calibri" pitchFamily="34" charset="-120"/>
              </a:rPr>
              <a:t>http://localhost:8090 — topic and consumer-group offsets update live.</a:t>
            </a:r>
            <a:endParaRPr lang="en-US" sz="1150" dirty="0"/>
          </a:p>
        </p:txBody>
      </p:sp>
      <p:sp>
        <p:nvSpPr>
          <p:cNvPr id="18" name="Shape 16"/>
          <p:cNvSpPr/>
          <p:nvPr/>
        </p:nvSpPr>
        <p:spPr>
          <a:xfrm>
            <a:off x="6263640" y="4764024"/>
            <a:ext cx="502920" cy="502920"/>
          </a:xfrm>
          <a:prstGeom prst="ellipse">
            <a:avLst/>
          </a:prstGeom>
          <a:solidFill>
            <a:srgbClr val="F96167"/>
          </a:solidFill>
          <a:ln/>
        </p:spPr>
      </p:sp>
      <p:sp>
        <p:nvSpPr>
          <p:cNvPr id="19" name="Text 17"/>
          <p:cNvSpPr txBox="1"/>
          <p:nvPr/>
        </p:nvSpPr>
        <p:spPr>
          <a:xfrm>
            <a:off x="6263640" y="4764024"/>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0" name="Text 18"/>
          <p:cNvSpPr txBox="1"/>
          <p:nvPr/>
        </p:nvSpPr>
        <p:spPr>
          <a:xfrm>
            <a:off x="6903720" y="4718304"/>
            <a:ext cx="4754880" cy="365760"/>
          </a:xfrm>
          <a:prstGeom prst="rect">
            <a:avLst/>
          </a:prstGeom>
          <a:noFill/>
          <a:ln/>
        </p:spPr>
        <p:txBody>
          <a:bodyPr wrap="square" lIns="0" tIns="0" rIns="0" bIns="0" rtlCol="0" anchor="ctr"/>
          <a:lstStyle/>
          <a:p>
            <a:pPr indent="0" marL="0">
              <a:buNone/>
            </a:pPr>
            <a:r>
              <a:rPr lang="en-US" sz="1350" b="1" dirty="0">
                <a:solidFill>
                  <a:srgbClr val="2F3C7E"/>
                </a:solidFill>
                <a:latin typeface="Calibri" pitchFamily="34" charset="0"/>
                <a:ea typeface="Calibri" pitchFamily="34" charset="-122"/>
                <a:cs typeface="Calibri" pitchFamily="34" charset="-120"/>
              </a:rPr>
              <a:t>Kill and restart a consumer</a:t>
            </a:r>
            <a:endParaRPr lang="en-US" sz="1350" dirty="0"/>
          </a:p>
        </p:txBody>
      </p:sp>
      <p:sp>
        <p:nvSpPr>
          <p:cNvPr id="21" name="Text 19"/>
          <p:cNvSpPr txBox="1"/>
          <p:nvPr/>
        </p:nvSpPr>
        <p:spPr>
          <a:xfrm>
            <a:off x="6903720" y="5056632"/>
            <a:ext cx="4754880" cy="640080"/>
          </a:xfrm>
          <a:prstGeom prst="rect">
            <a:avLst/>
          </a:prstGeom>
          <a:noFill/>
          <a:ln/>
        </p:spPr>
        <p:txBody>
          <a:bodyPr wrap="square" lIns="0" tIns="0" rIns="0" bIns="0" rtlCol="0" anchor="ctr"/>
          <a:lstStyle/>
          <a:p>
            <a:pPr indent="0" marL="0">
              <a:lnSpc>
                <a:spcPct val="115000"/>
              </a:lnSpc>
              <a:buNone/>
            </a:pPr>
            <a:r>
              <a:rPr lang="en-US" sz="1150" dirty="0">
                <a:solidFill>
                  <a:srgbClr val="5B5B5B"/>
                </a:solidFill>
                <a:latin typeface="Calibri" pitchFamily="34" charset="0"/>
                <a:ea typeface="Calibri" pitchFamily="34" charset="-122"/>
                <a:cs typeface="Calibri" pitchFamily="34" charset="-120"/>
              </a:rPr>
              <a:t>docker compose stop/start rider-service — prove no event is lost.</a:t>
            </a:r>
            <a:endParaRPr lang="en-US" sz="1150" dirty="0"/>
          </a:p>
        </p:txBody>
      </p:sp>
      <p:sp>
        <p:nvSpPr>
          <p:cNvPr id="22" name="Text 20"/>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1000" dirty="0">
                <a:solidFill>
                  <a:srgbClr val="9AA0A6"/>
                </a:solidFill>
                <a:latin typeface="Calibri" pitchFamily="34" charset="0"/>
                <a:ea typeface="Calibri" pitchFamily="34" charset="-122"/>
                <a:cs typeface="Calibri" pitchFamily="34" charset="-120"/>
              </a:rPr>
              <a:t>3 · Implementation — Demo</a:t>
            </a:r>
            <a:endParaRPr lang="en-US" sz="1000" dirty="0"/>
          </a:p>
        </p:txBody>
      </p:sp>
      <p:sp>
        <p:nvSpPr>
          <p:cNvPr id="23" name="Text 21"/>
          <p:cNvSpPr txBox="1"/>
          <p:nvPr/>
        </p:nvSpPr>
        <p:spPr>
          <a:xfrm>
            <a:off x="11338560" y="6510528"/>
            <a:ext cx="365760" cy="274320"/>
          </a:xfrm>
          <a:prstGeom prst="rect">
            <a:avLst/>
          </a:prstGeom>
          <a:noFill/>
          <a:ln/>
        </p:spPr>
        <p:txBody>
          <a:bodyPr wrap="square" lIns="0" tIns="0" rIns="0" bIns="0" rtlCol="0" anchor="ctr"/>
          <a:lstStyle/>
          <a:p>
            <a:pPr algn="r" indent="0" marL="0">
              <a:buNone/>
            </a:pPr>
            <a:r>
              <a:rPr lang="en-US" sz="1000" dirty="0">
                <a:solidFill>
                  <a:srgbClr val="9AA0A6"/>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2555"/>
        </a:solidFill>
      </p:bgPr>
    </p:bg>
    <p:spTree>
      <p:nvGrpSpPr>
        <p:cNvPr id="1" name=""/>
        <p:cNvGrpSpPr/>
        <p:nvPr/>
      </p:nvGrpSpPr>
      <p:grpSpPr>
        <a:xfrm>
          <a:off x="0" y="0"/>
          <a:ext cx="0" cy="0"/>
          <a:chOff x="0" y="0"/>
          <a:chExt cx="0" cy="0"/>
        </a:xfrm>
      </p:grpSpPr>
      <p:sp>
        <p:nvSpPr>
          <p:cNvPr id="2" name="Shape 0"/>
          <p:cNvSpPr/>
          <p:nvPr/>
        </p:nvSpPr>
        <p:spPr>
          <a:xfrm>
            <a:off x="-1463040" y="-1645920"/>
            <a:ext cx="4572000" cy="4572000"/>
          </a:xfrm>
          <a:prstGeom prst="ellipse">
            <a:avLst/>
          </a:prstGeom>
          <a:solidFill>
            <a:srgbClr val="2F3C7E">
              <a:alpha val="70000"/>
            </a:srgbClr>
          </a:solidFill>
          <a:ln/>
        </p:spPr>
      </p:sp>
      <p:sp>
        <p:nvSpPr>
          <p:cNvPr id="3" name="Text 1"/>
          <p:cNvSpPr txBox="1"/>
          <p:nvPr/>
        </p:nvSpPr>
        <p:spPr>
          <a:xfrm>
            <a:off x="822960" y="822960"/>
            <a:ext cx="100584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Expected Result</a:t>
            </a:r>
            <a:endParaRPr lang="en-US" sz="3200" dirty="0"/>
          </a:p>
        </p:txBody>
      </p:sp>
      <p:sp>
        <p:nvSpPr>
          <p:cNvPr id="4" name="Text 2"/>
          <p:cNvSpPr txBox="1"/>
          <p:nvPr/>
        </p:nvSpPr>
        <p:spPr>
          <a:xfrm>
            <a:off x="822960" y="1600200"/>
            <a:ext cx="9875520" cy="1005840"/>
          </a:xfrm>
          <a:prstGeom prst="rect">
            <a:avLst/>
          </a:prstGeom>
          <a:noFill/>
          <a:ln/>
        </p:spPr>
        <p:txBody>
          <a:bodyPr wrap="square" lIns="0" tIns="0" rIns="0" bIns="0" rtlCol="0" anchor="ctr"/>
          <a:lstStyle/>
          <a:p>
            <a:pPr indent="0" marL="0">
              <a:lnSpc>
                <a:spcPct val="125000"/>
              </a:lnSpc>
              <a:buNone/>
            </a:pPr>
            <a:r>
              <a:rPr lang="en-US" sz="1600" dirty="0">
                <a:solidFill>
                  <a:srgbClr val="CADCFC"/>
                </a:solidFill>
                <a:latin typeface="Calibri" pitchFamily="34" charset="0"/>
                <a:ea typeface="Calibri" pitchFamily="34" charset="-122"/>
                <a:cs typeface="Calibri" pitchFamily="34" charset="-120"/>
              </a:rPr>
              <a:t>Order status updates reach the customer, rider, and notification services in real time — without any service calling another directly, and without losing an update if one service is briefly unavailable.</a:t>
            </a:r>
            <a:endParaRPr lang="en-US" sz="1600" dirty="0"/>
          </a:p>
        </p:txBody>
      </p:sp>
      <p:sp>
        <p:nvSpPr>
          <p:cNvPr id="5" name="Text 3"/>
          <p:cNvSpPr txBox="1"/>
          <p:nvPr/>
        </p:nvSpPr>
        <p:spPr>
          <a:xfrm>
            <a:off x="822960" y="2880360"/>
            <a:ext cx="3200400" cy="1005840"/>
          </a:xfrm>
          <a:prstGeom prst="rect">
            <a:avLst/>
          </a:prstGeom>
          <a:noFill/>
          <a:ln/>
        </p:spPr>
        <p:txBody>
          <a:bodyPr wrap="square" lIns="0" tIns="0" rIns="0" bIns="0" rtlCol="0" anchor="ctr"/>
          <a:lstStyle/>
          <a:p>
            <a:pPr indent="0" marL="0">
              <a:buNone/>
            </a:pPr>
            <a:r>
              <a:rPr lang="en-US" sz="6000" b="1" dirty="0">
                <a:solidFill>
                  <a:srgbClr val="F9E795"/>
                </a:solidFill>
                <a:latin typeface="Cambria" pitchFamily="34" charset="0"/>
                <a:ea typeface="Cambria" pitchFamily="34" charset="-122"/>
                <a:cs typeface="Cambria" pitchFamily="34" charset="-120"/>
              </a:rPr>
              <a:t>4</a:t>
            </a:r>
            <a:endParaRPr lang="en-US" sz="6000" dirty="0"/>
          </a:p>
        </p:txBody>
      </p:sp>
      <p:sp>
        <p:nvSpPr>
          <p:cNvPr id="6" name="Text 4"/>
          <p:cNvSpPr txBox="1"/>
          <p:nvPr/>
        </p:nvSpPr>
        <p:spPr>
          <a:xfrm>
            <a:off x="822960" y="3886200"/>
            <a:ext cx="3200400" cy="640080"/>
          </a:xfrm>
          <a:prstGeom prst="rect">
            <a:avLst/>
          </a:prstGeom>
          <a:noFill/>
          <a:ln/>
        </p:spPr>
        <p:txBody>
          <a:bodyPr wrap="square" lIns="0" tIns="0" rIns="0" bIns="0" rtlCol="0" anchor="ctr"/>
          <a:lstStyle/>
          <a:p>
            <a:pPr indent="0" marL="0">
              <a:buNone/>
            </a:pPr>
            <a:r>
              <a:rPr lang="en-US" sz="1300" dirty="0">
                <a:solidFill>
                  <a:srgbClr val="AAB2D8"/>
                </a:solidFill>
                <a:latin typeface="Calibri" pitchFamily="34" charset="0"/>
                <a:ea typeface="Calibri" pitchFamily="34" charset="-122"/>
                <a:cs typeface="Calibri" pitchFamily="34" charset="-120"/>
              </a:rPr>
              <a:t>microservices, one shared event log</a:t>
            </a:r>
            <a:endParaRPr lang="en-US" sz="1300" dirty="0"/>
          </a:p>
        </p:txBody>
      </p:sp>
      <p:sp>
        <p:nvSpPr>
          <p:cNvPr id="7" name="Text 5"/>
          <p:cNvSpPr txBox="1"/>
          <p:nvPr/>
        </p:nvSpPr>
        <p:spPr>
          <a:xfrm>
            <a:off x="4480560" y="2880360"/>
            <a:ext cx="3200400" cy="1005840"/>
          </a:xfrm>
          <a:prstGeom prst="rect">
            <a:avLst/>
          </a:prstGeom>
          <a:noFill/>
          <a:ln/>
        </p:spPr>
        <p:txBody>
          <a:bodyPr wrap="square" lIns="0" tIns="0" rIns="0" bIns="0" rtlCol="0" anchor="ctr"/>
          <a:lstStyle/>
          <a:p>
            <a:pPr indent="0" marL="0">
              <a:buNone/>
            </a:pPr>
            <a:r>
              <a:rPr lang="en-US" sz="6000" b="1" dirty="0">
                <a:solidFill>
                  <a:srgbClr val="F9E795"/>
                </a:solidFill>
                <a:latin typeface="Cambria" pitchFamily="34" charset="0"/>
                <a:ea typeface="Cambria" pitchFamily="34" charset="-122"/>
                <a:cs typeface="Cambria" pitchFamily="34" charset="-120"/>
              </a:rPr>
              <a:t>1</a:t>
            </a:r>
            <a:endParaRPr lang="en-US" sz="6000" dirty="0"/>
          </a:p>
        </p:txBody>
      </p:sp>
      <p:sp>
        <p:nvSpPr>
          <p:cNvPr id="8" name="Text 6"/>
          <p:cNvSpPr txBox="1"/>
          <p:nvPr/>
        </p:nvSpPr>
        <p:spPr>
          <a:xfrm>
            <a:off x="4480560" y="3886200"/>
            <a:ext cx="3200400" cy="640080"/>
          </a:xfrm>
          <a:prstGeom prst="rect">
            <a:avLst/>
          </a:prstGeom>
          <a:noFill/>
          <a:ln/>
        </p:spPr>
        <p:txBody>
          <a:bodyPr wrap="square" lIns="0" tIns="0" rIns="0" bIns="0" rtlCol="0" anchor="ctr"/>
          <a:lstStyle/>
          <a:p>
            <a:pPr indent="0" marL="0">
              <a:buNone/>
            </a:pPr>
            <a:r>
              <a:rPr lang="en-US" sz="1300" dirty="0">
                <a:solidFill>
                  <a:srgbClr val="AAB2D8"/>
                </a:solidFill>
                <a:latin typeface="Calibri" pitchFamily="34" charset="0"/>
                <a:ea typeface="Calibri" pitchFamily="34" charset="-122"/>
                <a:cs typeface="Calibri" pitchFamily="34" charset="-120"/>
              </a:rPr>
              <a:t>Kafka topic replaces N x M direct calls</a:t>
            </a:r>
            <a:endParaRPr lang="en-US" sz="1300" dirty="0"/>
          </a:p>
        </p:txBody>
      </p:sp>
      <p:sp>
        <p:nvSpPr>
          <p:cNvPr id="9" name="Text 7"/>
          <p:cNvSpPr txBox="1"/>
          <p:nvPr/>
        </p:nvSpPr>
        <p:spPr>
          <a:xfrm>
            <a:off x="8138160" y="2880360"/>
            <a:ext cx="3200400" cy="1005840"/>
          </a:xfrm>
          <a:prstGeom prst="rect">
            <a:avLst/>
          </a:prstGeom>
          <a:noFill/>
          <a:ln/>
        </p:spPr>
        <p:txBody>
          <a:bodyPr wrap="square" lIns="0" tIns="0" rIns="0" bIns="0" rtlCol="0" anchor="ctr"/>
          <a:lstStyle/>
          <a:p>
            <a:pPr indent="0" marL="0">
              <a:buNone/>
            </a:pPr>
            <a:r>
              <a:rPr lang="en-US" sz="6000" b="1" dirty="0">
                <a:solidFill>
                  <a:srgbClr val="F9E795"/>
                </a:solidFill>
                <a:latin typeface="Cambria" pitchFamily="34" charset="0"/>
                <a:ea typeface="Cambria" pitchFamily="34" charset="-122"/>
                <a:cs typeface="Cambria" pitchFamily="34" charset="-120"/>
              </a:rPr>
              <a:t>0</a:t>
            </a:r>
            <a:endParaRPr lang="en-US" sz="6000" dirty="0"/>
          </a:p>
        </p:txBody>
      </p:sp>
      <p:sp>
        <p:nvSpPr>
          <p:cNvPr id="10" name="Text 8"/>
          <p:cNvSpPr txBox="1"/>
          <p:nvPr/>
        </p:nvSpPr>
        <p:spPr>
          <a:xfrm>
            <a:off x="8138160" y="3886200"/>
            <a:ext cx="3200400" cy="640080"/>
          </a:xfrm>
          <a:prstGeom prst="rect">
            <a:avLst/>
          </a:prstGeom>
          <a:noFill/>
          <a:ln/>
        </p:spPr>
        <p:txBody>
          <a:bodyPr wrap="square" lIns="0" tIns="0" rIns="0" bIns="0" rtlCol="0" anchor="ctr"/>
          <a:lstStyle/>
          <a:p>
            <a:pPr indent="0" marL="0">
              <a:buNone/>
            </a:pPr>
            <a:r>
              <a:rPr lang="en-US" sz="1300" dirty="0">
                <a:solidFill>
                  <a:srgbClr val="AAB2D8"/>
                </a:solidFill>
                <a:latin typeface="Calibri" pitchFamily="34" charset="0"/>
                <a:ea typeface="Calibri" pitchFamily="34" charset="-122"/>
                <a:cs typeface="Calibri" pitchFamily="34" charset="-120"/>
              </a:rPr>
              <a:t>events lost when a consumer restarts</a:t>
            </a:r>
            <a:endParaRPr lang="en-US" sz="1300" dirty="0"/>
          </a:p>
        </p:txBody>
      </p:sp>
      <p:sp>
        <p:nvSpPr>
          <p:cNvPr id="11" name="Shape 9"/>
          <p:cNvSpPr/>
          <p:nvPr/>
        </p:nvSpPr>
        <p:spPr>
          <a:xfrm>
            <a:off x="822960" y="4937760"/>
            <a:ext cx="10515600" cy="1051560"/>
          </a:xfrm>
          <a:prstGeom prst="roundRect">
            <a:avLst>
              <a:gd name="adj" fmla="val 8696"/>
            </a:avLst>
          </a:prstGeom>
          <a:solidFill>
            <a:srgbClr val="2F3C7E">
              <a:alpha val="85000"/>
            </a:srgbClr>
          </a:solidFill>
          <a:ln w="12700">
            <a:solidFill>
              <a:srgbClr val="3A4A9E"/>
            </a:solidFill>
            <a:prstDash val="solid"/>
          </a:ln>
        </p:spPr>
      </p:sp>
      <p:sp>
        <p:nvSpPr>
          <p:cNvPr id="12" name="Text 10"/>
          <p:cNvSpPr txBox="1"/>
          <p:nvPr/>
        </p:nvSpPr>
        <p:spPr>
          <a:xfrm>
            <a:off x="1051560" y="4937760"/>
            <a:ext cx="10058400" cy="105156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Thank you  —  </a:t>
            </a:r>
            <a:pPr indent="0" marL="0">
              <a:buNone/>
            </a:pPr>
            <a:r>
              <a:rPr lang="en-US" sz="1450" dirty="0">
                <a:solidFill>
                  <a:srgbClr val="CADCFC"/>
                </a:solidFill>
                <a:latin typeface="Calibri" pitchFamily="34" charset="0"/>
                <a:ea typeface="Calibri" pitchFamily="34" charset="-122"/>
                <a:cs typeface="Calibri" pitchFamily="34" charset="-120"/>
              </a:rPr>
              <a:t>full runnable source, diagrams, and the demo script are on GitHub.</a:t>
            </a:r>
            <a:endParaRPr lang="en-US" sz="1450" dirty="0"/>
          </a:p>
        </p:txBody>
      </p:sp>
      <p:sp>
        <p:nvSpPr>
          <p:cNvPr id="13" name="Text 11"/>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1000" dirty="0">
                <a:solidFill>
                  <a:srgbClr val="AAB2D8"/>
                </a:solidFill>
                <a:latin typeface="Calibri" pitchFamily="34" charset="0"/>
                <a:ea typeface="Calibri" pitchFamily="34" charset="-122"/>
                <a:cs typeface="Calibri" pitchFamily="34" charset="-120"/>
              </a:rPr>
              <a:t>Real-Time Food Delivery Updates Using Apache Kafka</a:t>
            </a:r>
            <a:endParaRPr lang="en-US" sz="1000" dirty="0"/>
          </a:p>
        </p:txBody>
      </p:sp>
      <p:sp>
        <p:nvSpPr>
          <p:cNvPr id="14" name="Text 12"/>
          <p:cNvSpPr txBox="1"/>
          <p:nvPr/>
        </p:nvSpPr>
        <p:spPr>
          <a:xfrm>
            <a:off x="11338560" y="6510528"/>
            <a:ext cx="365760" cy="274320"/>
          </a:xfrm>
          <a:prstGeom prst="rect">
            <a:avLst/>
          </a:prstGeom>
          <a:noFill/>
          <a:ln/>
        </p:spPr>
        <p:txBody>
          <a:bodyPr wrap="square" lIns="0" tIns="0" rIns="0" bIns="0" rtlCol="0" anchor="ctr"/>
          <a:lstStyle/>
          <a:p>
            <a:pPr algn="r" indent="0" marL="0">
              <a:buNone/>
            </a:pPr>
            <a:r>
              <a:rPr lang="en-US" sz="1000" dirty="0">
                <a:solidFill>
                  <a:srgbClr val="AAB2D8"/>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2026-09-22T14:42:54Z</dcterms:created>
  <dcterms:modified xsi:type="dcterms:W3CDTF">2026-09-22T14:42:54Z</dcterms:modified>
</cp:coreProperties>
</file>