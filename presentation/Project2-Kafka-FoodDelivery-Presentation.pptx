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555"/>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2F3C7E">
              <a:alpha val="70000"/>
            </a:srgbClr>
          </a:solidFill>
          <a:ln/>
        </p:spPr>
      </p:sp>
      <p:sp>
        <p:nvSpPr>
          <p:cNvPr id="3" name="Shape 1"/>
          <p:cNvSpPr/>
          <p:nvPr/>
        </p:nvSpPr>
        <p:spPr>
          <a:xfrm>
            <a:off x="-1280160" y="4846320"/>
            <a:ext cx="3657600" cy="3657600"/>
          </a:xfrm>
          <a:prstGeom prst="ellipse">
            <a:avLst/>
          </a:prstGeom>
          <a:solidFill>
            <a:srgbClr val="F96167">
              <a:alpha val="45000"/>
            </a:srgbClr>
          </a:solidFill>
          <a:ln/>
        </p:spPr>
      </p:sp>
      <p:sp>
        <p:nvSpPr>
          <p:cNvPr id="4" name="Text 2"/>
          <p:cNvSpPr txBox="1"/>
          <p:nvPr/>
        </p:nvSpPr>
        <p:spPr>
          <a:xfrm>
            <a:off x="822960" y="1051560"/>
            <a:ext cx="10058400" cy="365760"/>
          </a:xfrm>
          <a:prstGeom prst="rect">
            <a:avLst/>
          </a:prstGeom>
          <a:noFill/>
          <a:ln/>
        </p:spPr>
        <p:txBody>
          <a:bodyPr wrap="square" lIns="0" tIns="0" rIns="0" bIns="0" rtlCol="0" anchor="ctr"/>
          <a:lstStyle/>
          <a:p>
            <a:pPr indent="0" marL="0">
              <a:buNone/>
            </a:pPr>
            <a:r>
              <a:rPr lang="en-US" sz="1300" b="1" spc="200" kern="0" dirty="0">
                <a:solidFill>
                  <a:srgbClr val="F9E795"/>
                </a:solidFill>
                <a:latin typeface="Calibri" pitchFamily="34" charset="0"/>
                <a:ea typeface="Calibri" pitchFamily="34" charset="-122"/>
                <a:cs typeface="Calibri" pitchFamily="34" charset="-120"/>
              </a:rPr>
              <a:t>PROJECT 2  ·  SOFTWARE ENGINEERING RESEARCH SHOWCASE</a:t>
            </a:r>
            <a:endParaRPr lang="en-US" sz="1300" dirty="0"/>
          </a:p>
        </p:txBody>
      </p:sp>
      <p:sp>
        <p:nvSpPr>
          <p:cNvPr id="5" name="Text 3"/>
          <p:cNvSpPr txBox="1"/>
          <p:nvPr/>
        </p:nvSpPr>
        <p:spPr>
          <a:xfrm>
            <a:off x="822960" y="1508760"/>
            <a:ext cx="1024128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Real-Time Food Delivery Updates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Using Apache Kafka</a:t>
            </a:r>
            <a:endParaRPr lang="en-US" sz="4000" dirty="0"/>
          </a:p>
        </p:txBody>
      </p:sp>
      <p:sp>
        <p:nvSpPr>
          <p:cNvPr id="6" name="Text 4"/>
          <p:cNvSpPr txBox="1"/>
          <p:nvPr/>
        </p:nvSpPr>
        <p:spPr>
          <a:xfrm>
            <a:off x="822960" y="3429000"/>
            <a:ext cx="877824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Decoupling order, customer, rider, and notification services with an event-streaming backbone so a status update is never silently lost.</a:t>
            </a:r>
            <a:endParaRPr lang="en-US" sz="1500" dirty="0"/>
          </a:p>
        </p:txBody>
      </p:sp>
      <p:sp>
        <p:nvSpPr>
          <p:cNvPr id="7" name="Shape 5"/>
          <p:cNvSpPr/>
          <p:nvPr/>
        </p:nvSpPr>
        <p:spPr>
          <a:xfrm>
            <a:off x="822960" y="4709160"/>
            <a:ext cx="3200400" cy="1051560"/>
          </a:xfrm>
          <a:prstGeom prst="roundRect">
            <a:avLst>
              <a:gd name="adj" fmla="val 8696"/>
            </a:avLst>
          </a:prstGeom>
          <a:solidFill>
            <a:srgbClr val="2F3C7E">
              <a:alpha val="85000"/>
            </a:srgbClr>
          </a:solidFill>
          <a:ln w="12700">
            <a:solidFill>
              <a:srgbClr val="3A4A9E"/>
            </a:solidFill>
            <a:prstDash val="solid"/>
          </a:ln>
        </p:spPr>
      </p:sp>
      <p:sp>
        <p:nvSpPr>
          <p:cNvPr id="8" name="Text 6"/>
          <p:cNvSpPr txBox="1"/>
          <p:nvPr/>
        </p:nvSpPr>
        <p:spPr>
          <a:xfrm>
            <a:off x="1005840" y="4828032"/>
            <a:ext cx="2834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Hsu Shwe Yaung</a:t>
            </a:r>
            <a:endParaRPr lang="en-US" sz="1500" dirty="0"/>
          </a:p>
        </p:txBody>
      </p:sp>
      <p:sp>
        <p:nvSpPr>
          <p:cNvPr id="9" name="Text 7"/>
          <p:cNvSpPr txBox="1"/>
          <p:nvPr/>
        </p:nvSpPr>
        <p:spPr>
          <a:xfrm>
            <a:off x="1005840" y="5193792"/>
            <a:ext cx="2834640" cy="365760"/>
          </a:xfrm>
          <a:prstGeom prst="rect">
            <a:avLst/>
          </a:prstGeom>
          <a:noFill/>
          <a:ln/>
        </p:spPr>
        <p:txBody>
          <a:bodyPr wrap="square" lIns="0" tIns="0" rIns="0" bIns="0" rtlCol="0" anchor="ctr"/>
          <a:lstStyle/>
          <a:p>
            <a:pPr indent="0" marL="0">
              <a:buNone/>
            </a:pPr>
            <a:r>
              <a:rPr lang="en-US" sz="1200" dirty="0">
                <a:solidFill>
                  <a:srgbClr val="AAB2D8"/>
                </a:solidFill>
                <a:latin typeface="Calibri" pitchFamily="34" charset="0"/>
                <a:ea typeface="Calibri" pitchFamily="34" charset="-122"/>
                <a:cs typeface="Calibri" pitchFamily="34" charset="-120"/>
              </a:rPr>
              <a:t>ID 6611665</a:t>
            </a:r>
            <a:endParaRPr lang="en-US" sz="1200" dirty="0"/>
          </a:p>
        </p:txBody>
      </p:sp>
      <p:sp>
        <p:nvSpPr>
          <p:cNvPr id="10" name="Shape 8"/>
          <p:cNvSpPr/>
          <p:nvPr/>
        </p:nvSpPr>
        <p:spPr>
          <a:xfrm>
            <a:off x="4389120" y="4709160"/>
            <a:ext cx="3200400" cy="1051560"/>
          </a:xfrm>
          <a:prstGeom prst="roundRect">
            <a:avLst>
              <a:gd name="adj" fmla="val 8696"/>
            </a:avLst>
          </a:prstGeom>
          <a:solidFill>
            <a:srgbClr val="2F3C7E">
              <a:alpha val="85000"/>
            </a:srgbClr>
          </a:solidFill>
          <a:ln w="12700">
            <a:solidFill>
              <a:srgbClr val="3A4A9E"/>
            </a:solidFill>
            <a:prstDash val="solid"/>
          </a:ln>
        </p:spPr>
      </p:sp>
      <p:sp>
        <p:nvSpPr>
          <p:cNvPr id="11" name="Text 9"/>
          <p:cNvSpPr txBox="1"/>
          <p:nvPr/>
        </p:nvSpPr>
        <p:spPr>
          <a:xfrm>
            <a:off x="4572000" y="4828032"/>
            <a:ext cx="2834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Soe Thura Lwin</a:t>
            </a:r>
            <a:endParaRPr lang="en-US" sz="1500" dirty="0"/>
          </a:p>
        </p:txBody>
      </p:sp>
      <p:sp>
        <p:nvSpPr>
          <p:cNvPr id="12" name="Text 10"/>
          <p:cNvSpPr txBox="1"/>
          <p:nvPr/>
        </p:nvSpPr>
        <p:spPr>
          <a:xfrm>
            <a:off x="4572000" y="5193792"/>
            <a:ext cx="2834640" cy="365760"/>
          </a:xfrm>
          <a:prstGeom prst="rect">
            <a:avLst/>
          </a:prstGeom>
          <a:noFill/>
          <a:ln/>
        </p:spPr>
        <p:txBody>
          <a:bodyPr wrap="square" lIns="0" tIns="0" rIns="0" bIns="0" rtlCol="0" anchor="ctr"/>
          <a:lstStyle/>
          <a:p>
            <a:pPr indent="0" marL="0">
              <a:buNone/>
            </a:pPr>
            <a:r>
              <a:rPr lang="en-US" sz="1200" dirty="0">
                <a:solidFill>
                  <a:srgbClr val="AAB2D8"/>
                </a:solidFill>
                <a:latin typeface="Calibri" pitchFamily="34" charset="0"/>
                <a:ea typeface="Calibri" pitchFamily="34" charset="-122"/>
                <a:cs typeface="Calibri" pitchFamily="34" charset="-120"/>
              </a:rPr>
              <a:t>ID 6540062</a:t>
            </a:r>
            <a:endParaRPr lang="en-US" sz="1200" dirty="0"/>
          </a:p>
        </p:txBody>
      </p:sp>
      <p:sp>
        <p:nvSpPr>
          <p:cNvPr id="13" name="Shape 11"/>
          <p:cNvSpPr/>
          <p:nvPr/>
        </p:nvSpPr>
        <p:spPr>
          <a:xfrm>
            <a:off x="7955280" y="4709160"/>
            <a:ext cx="3200400" cy="1051560"/>
          </a:xfrm>
          <a:prstGeom prst="roundRect">
            <a:avLst>
              <a:gd name="adj" fmla="val 8696"/>
            </a:avLst>
          </a:prstGeom>
          <a:solidFill>
            <a:srgbClr val="2F3C7E">
              <a:alpha val="85000"/>
            </a:srgbClr>
          </a:solidFill>
          <a:ln w="12700">
            <a:solidFill>
              <a:srgbClr val="3A4A9E"/>
            </a:solidFill>
            <a:prstDash val="solid"/>
          </a:ln>
        </p:spPr>
      </p:sp>
      <p:sp>
        <p:nvSpPr>
          <p:cNvPr id="14" name="Text 12"/>
          <p:cNvSpPr txBox="1"/>
          <p:nvPr/>
        </p:nvSpPr>
        <p:spPr>
          <a:xfrm>
            <a:off x="8138160" y="4828032"/>
            <a:ext cx="2834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Khaing Zaw Lin</a:t>
            </a:r>
            <a:endParaRPr lang="en-US" sz="1500" dirty="0"/>
          </a:p>
        </p:txBody>
      </p:sp>
      <p:sp>
        <p:nvSpPr>
          <p:cNvPr id="15" name="Text 13"/>
          <p:cNvSpPr txBox="1"/>
          <p:nvPr/>
        </p:nvSpPr>
        <p:spPr>
          <a:xfrm>
            <a:off x="8138160" y="5193792"/>
            <a:ext cx="2834640" cy="365760"/>
          </a:xfrm>
          <a:prstGeom prst="rect">
            <a:avLst/>
          </a:prstGeom>
          <a:noFill/>
          <a:ln/>
        </p:spPr>
        <p:txBody>
          <a:bodyPr wrap="square" lIns="0" tIns="0" rIns="0" bIns="0" rtlCol="0" anchor="ctr"/>
          <a:lstStyle/>
          <a:p>
            <a:pPr indent="0" marL="0">
              <a:buNone/>
            </a:pPr>
            <a:r>
              <a:rPr lang="en-US" sz="1200" dirty="0">
                <a:solidFill>
                  <a:srgbClr val="AAB2D8"/>
                </a:solidFill>
                <a:latin typeface="Calibri" pitchFamily="34" charset="0"/>
                <a:ea typeface="Calibri" pitchFamily="34" charset="-122"/>
                <a:cs typeface="Calibri" pitchFamily="34" charset="-120"/>
              </a:rPr>
              <a:t>ID 6611924</a:t>
            </a:r>
            <a:endParaRPr lang="en-US" sz="1200" dirty="0"/>
          </a:p>
        </p:txBody>
      </p:sp>
      <p:sp>
        <p:nvSpPr>
          <p:cNvPr id="16" name="Text 14"/>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AAB2D8"/>
                </a:solidFill>
                <a:latin typeface="Calibri" pitchFamily="34" charset="0"/>
                <a:ea typeface="Calibri" pitchFamily="34" charset="-122"/>
                <a:cs typeface="Calibri" pitchFamily="34" charset="-120"/>
              </a:rPr>
              <a:t>Presentation · Wednesday, 23 September 2026</a:t>
            </a:r>
            <a:endParaRPr lang="en-US" sz="1000" dirty="0"/>
          </a:p>
        </p:txBody>
      </p:sp>
      <p:sp>
        <p:nvSpPr>
          <p:cNvPr id="17" name="Text 15"/>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AAB2D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The Scenario: a Food Delivery Platform</a:t>
            </a:r>
            <a:endParaRPr lang="en-US" sz="3000" dirty="0"/>
          </a:p>
        </p:txBody>
      </p:sp>
      <p:sp>
        <p:nvSpPr>
          <p:cNvPr id="3" name="Text 1"/>
          <p:cNvSpPr txBox="1"/>
          <p:nvPr/>
        </p:nvSpPr>
        <p:spPr>
          <a:xfrm>
            <a:off x="548640" y="1371600"/>
            <a:ext cx="5486400" cy="822960"/>
          </a:xfrm>
          <a:prstGeom prst="rect">
            <a:avLst/>
          </a:prstGeom>
          <a:noFill/>
          <a:ln/>
        </p:spPr>
        <p:txBody>
          <a:bodyPr wrap="square" lIns="0" tIns="0" rIns="0" bIns="0" rtlCol="0" anchor="t"/>
          <a:lstStyle/>
          <a:p>
            <a:pPr indent="0" marL="0">
              <a:buNone/>
            </a:pPr>
            <a:r>
              <a:rPr lang="en-US" sz="1500" dirty="0">
                <a:solidFill>
                  <a:srgbClr val="222222"/>
                </a:solidFill>
                <a:latin typeface="Calibri" pitchFamily="34" charset="0"/>
                <a:ea typeface="Calibri" pitchFamily="34" charset="-122"/>
                <a:cs typeface="Calibri" pitchFamily="34" charset="-120"/>
              </a:rPr>
              <a:t>Our platform splits work across four services: </a:t>
            </a:r>
            <a:pPr indent="0" marL="0">
              <a:buNone/>
            </a:pPr>
            <a:r>
              <a:rPr lang="en-US" sz="1500" b="1" dirty="0">
                <a:solidFill>
                  <a:srgbClr val="2F3C7E"/>
                </a:solidFill>
                <a:latin typeface="Calibri" pitchFamily="34" charset="0"/>
                <a:ea typeface="Calibri" pitchFamily="34" charset="-122"/>
                <a:cs typeface="Calibri" pitchFamily="34" charset="-120"/>
              </a:rPr>
              <a:t>order, customer, rider, and notification.</a:t>
            </a:r>
            <a:endParaRPr lang="en-US" sz="1500" dirty="0"/>
          </a:p>
        </p:txBody>
      </p:sp>
      <p:sp>
        <p:nvSpPr>
          <p:cNvPr id="4" name="Text 2"/>
          <p:cNvSpPr txBox="1"/>
          <p:nvPr/>
        </p:nvSpPr>
        <p:spPr>
          <a:xfrm>
            <a:off x="548640" y="2331720"/>
            <a:ext cx="2743200" cy="365760"/>
          </a:xfrm>
          <a:prstGeom prst="rect">
            <a:avLst/>
          </a:prstGeom>
          <a:noFill/>
          <a:ln/>
        </p:spPr>
        <p:txBody>
          <a:bodyPr wrap="square" lIns="0" tIns="0" rIns="0" bIns="0" rtlCol="0" anchor="ctr"/>
          <a:lstStyle/>
          <a:p>
            <a:pPr indent="0" marL="0">
              <a:buNone/>
            </a:pPr>
            <a:r>
              <a:rPr lang="en-US" sz="1400" b="1" dirty="0">
                <a:solidFill>
                  <a:srgbClr val="F96167"/>
                </a:solidFill>
                <a:latin typeface="Calibri" pitchFamily="34" charset="0"/>
                <a:ea typeface="Calibri" pitchFamily="34" charset="-122"/>
                <a:cs typeface="Calibri" pitchFamily="34" charset="-120"/>
              </a:rPr>
              <a:t>Pain point</a:t>
            </a:r>
            <a:endParaRPr lang="en-US" sz="1400" dirty="0"/>
          </a:p>
        </p:txBody>
      </p:sp>
      <p:sp>
        <p:nvSpPr>
          <p:cNvPr id="5" name="Text 3"/>
          <p:cNvSpPr txBox="1"/>
          <p:nvPr/>
        </p:nvSpPr>
        <p:spPr>
          <a:xfrm>
            <a:off x="548640" y="2743200"/>
            <a:ext cx="5486400" cy="2011680"/>
          </a:xfrm>
          <a:prstGeom prst="rect">
            <a:avLst/>
          </a:prstGeom>
          <a:noFill/>
          <a:ln/>
        </p:spPr>
        <p:txBody>
          <a:bodyPr wrap="square" lIns="0" tIns="0" rIns="0" bIns="0" rtlCol="0" anchor="t"/>
          <a:lstStyle/>
          <a:p>
            <a:pPr indent="0" marL="0">
              <a:lnSpc>
                <a:spcPct val="120000"/>
              </a:lnSpc>
              <a:buNone/>
            </a:pPr>
            <a:r>
              <a:rPr lang="en-US" sz="1450" dirty="0">
                <a:solidFill>
                  <a:srgbClr val="222222"/>
                </a:solidFill>
                <a:latin typeface="Calibri" pitchFamily="34" charset="0"/>
                <a:ea typeface="Calibri" pitchFamily="34" charset="-122"/>
                <a:cs typeface="Calibri" pitchFamily="34" charset="-120"/>
              </a:rPr>
              <a:t>Services call each other directly. When the restaurant marks an order “ready,” that update is pushed straight to the rider service. If the rider service is briefly unavailable, the update simply disappears — nobody finds out until a rider fails to show up.</a:t>
            </a:r>
            <a:endParaRPr lang="en-US" sz="1450" dirty="0"/>
          </a:p>
        </p:txBody>
      </p:sp>
      <p:sp>
        <p:nvSpPr>
          <p:cNvPr id="6" name="Shape 4"/>
          <p:cNvSpPr/>
          <p:nvPr/>
        </p:nvSpPr>
        <p:spPr>
          <a:xfrm>
            <a:off x="548640" y="4892040"/>
            <a:ext cx="5486400" cy="1051560"/>
          </a:xfrm>
          <a:prstGeom prst="roundRect">
            <a:avLst>
              <a:gd name="adj" fmla="val 6957"/>
            </a:avLst>
          </a:prstGeom>
          <a:solidFill>
            <a:srgbClr val="FDECEA"/>
          </a:solidFill>
          <a:ln w="12700">
            <a:solidFill>
              <a:srgbClr val="F96167"/>
            </a:solidFill>
            <a:prstDash val="solid"/>
          </a:ln>
        </p:spPr>
      </p:sp>
      <p:sp>
        <p:nvSpPr>
          <p:cNvPr id="7" name="Text 5"/>
          <p:cNvSpPr txBox="1"/>
          <p:nvPr/>
        </p:nvSpPr>
        <p:spPr>
          <a:xfrm>
            <a:off x="777240" y="5029200"/>
            <a:ext cx="5029200" cy="822960"/>
          </a:xfrm>
          <a:prstGeom prst="rect">
            <a:avLst/>
          </a:prstGeom>
          <a:noFill/>
          <a:ln/>
        </p:spPr>
        <p:txBody>
          <a:bodyPr wrap="square" lIns="0" tIns="0" rIns="0" bIns="0" rtlCol="0" anchor="ctr"/>
          <a:lstStyle/>
          <a:p>
            <a:pPr indent="0" marL="0">
              <a:buNone/>
            </a:pPr>
            <a:r>
              <a:rPr lang="en-US" sz="1300" i="1" dirty="0">
                <a:solidFill>
                  <a:srgbClr val="7A1F1A"/>
                </a:solidFill>
                <a:latin typeface="Calibri" pitchFamily="34" charset="0"/>
                <a:ea typeface="Calibri" pitchFamily="34" charset="-122"/>
                <a:cs typeface="Calibri" pitchFamily="34" charset="-120"/>
              </a:rPr>
              <a:t>“The restaurant may mark an order as ready while the rider service fails to receive the update.”</a:t>
            </a:r>
            <a:endParaRPr lang="en-US" sz="1300" dirty="0"/>
          </a:p>
        </p:txBody>
      </p:sp>
      <p:sp>
        <p:nvSpPr>
          <p:cNvPr id="8" name="Shape 6"/>
          <p:cNvSpPr/>
          <p:nvPr/>
        </p:nvSpPr>
        <p:spPr>
          <a:xfrm>
            <a:off x="6766560" y="1234440"/>
            <a:ext cx="4846320" cy="4846320"/>
          </a:xfrm>
          <a:prstGeom prst="roundRect">
            <a:avLst>
              <a:gd name="adj" fmla="val 1887"/>
            </a:avLst>
          </a:prstGeom>
          <a:solidFill>
            <a:srgbClr val="F7F8FC"/>
          </a:solidFill>
          <a:ln w="12700">
            <a:solidFill>
              <a:srgbClr val="DADFEE"/>
            </a:solidFill>
            <a:prstDash val="solid"/>
          </a:ln>
        </p:spPr>
      </p:sp>
      <p:sp>
        <p:nvSpPr>
          <p:cNvPr id="9" name="Text 7"/>
          <p:cNvSpPr txBox="1"/>
          <p:nvPr/>
        </p:nvSpPr>
        <p:spPr>
          <a:xfrm>
            <a:off x="6995160" y="1417320"/>
            <a:ext cx="4389120" cy="320040"/>
          </a:xfrm>
          <a:prstGeom prst="rect">
            <a:avLst/>
          </a:prstGeom>
          <a:noFill/>
          <a:ln/>
        </p:spPr>
        <p:txBody>
          <a:bodyPr wrap="square" lIns="0" tIns="0" rIns="0" bIns="0" rtlCol="0" anchor="ctr"/>
          <a:lstStyle/>
          <a:p>
            <a:pPr indent="0" marL="0">
              <a:buNone/>
            </a:pPr>
            <a:r>
              <a:rPr lang="en-US" sz="1250" b="1" dirty="0">
                <a:solidFill>
                  <a:srgbClr val="5B5B5B"/>
                </a:solidFill>
                <a:latin typeface="Calibri" pitchFamily="34" charset="0"/>
                <a:ea typeface="Calibri" pitchFamily="34" charset="-122"/>
                <a:cs typeface="Calibri" pitchFamily="34" charset="-120"/>
              </a:rPr>
              <a:t>Before: tightly coupled, direct calls</a:t>
            </a:r>
            <a:endParaRPr lang="en-US" sz="1250" dirty="0"/>
          </a:p>
        </p:txBody>
      </p:sp>
      <p:sp>
        <p:nvSpPr>
          <p:cNvPr id="10" name="Shape 8"/>
          <p:cNvSpPr/>
          <p:nvPr/>
        </p:nvSpPr>
        <p:spPr>
          <a:xfrm>
            <a:off x="8686800" y="2011680"/>
            <a:ext cx="1005840" cy="1005840"/>
          </a:xfrm>
          <a:prstGeom prst="ellipse">
            <a:avLst/>
          </a:prstGeom>
          <a:solidFill>
            <a:srgbClr val="2F3C7E"/>
          </a:solidFill>
          <a:ln/>
        </p:spPr>
      </p:sp>
      <p:sp>
        <p:nvSpPr>
          <p:cNvPr id="11" name="Text 9"/>
          <p:cNvSpPr txBox="1"/>
          <p:nvPr/>
        </p:nvSpPr>
        <p:spPr>
          <a:xfrm>
            <a:off x="8686800" y="2011680"/>
            <a:ext cx="1005840"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Order</a:t>
            </a:r>
            <a:endParaRPr lang="en-US" sz="2200" dirty="0"/>
          </a:p>
        </p:txBody>
      </p:sp>
      <p:sp>
        <p:nvSpPr>
          <p:cNvPr id="12" name="Shape 10"/>
          <p:cNvSpPr/>
          <p:nvPr/>
        </p:nvSpPr>
        <p:spPr>
          <a:xfrm>
            <a:off x="7086600" y="3566160"/>
            <a:ext cx="1005840" cy="1005840"/>
          </a:xfrm>
          <a:prstGeom prst="ellipse">
            <a:avLst/>
          </a:prstGeom>
          <a:solidFill>
            <a:srgbClr val="6C7BC6"/>
          </a:solidFill>
          <a:ln/>
        </p:spPr>
      </p:sp>
      <p:sp>
        <p:nvSpPr>
          <p:cNvPr id="13" name="Text 11"/>
          <p:cNvSpPr txBox="1"/>
          <p:nvPr/>
        </p:nvSpPr>
        <p:spPr>
          <a:xfrm>
            <a:off x="7086600" y="3566160"/>
            <a:ext cx="1005840" cy="10058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Customer</a:t>
            </a:r>
            <a:endParaRPr lang="en-US" sz="1300" dirty="0"/>
          </a:p>
        </p:txBody>
      </p:sp>
      <p:sp>
        <p:nvSpPr>
          <p:cNvPr id="14" name="Shape 12"/>
          <p:cNvSpPr/>
          <p:nvPr/>
        </p:nvSpPr>
        <p:spPr>
          <a:xfrm>
            <a:off x="8686800" y="3566160"/>
            <a:ext cx="1005840" cy="1005840"/>
          </a:xfrm>
          <a:prstGeom prst="ellipse">
            <a:avLst/>
          </a:prstGeom>
          <a:solidFill>
            <a:srgbClr val="6C7BC6"/>
          </a:solidFill>
          <a:ln/>
        </p:spPr>
      </p:sp>
      <p:sp>
        <p:nvSpPr>
          <p:cNvPr id="15" name="Text 13"/>
          <p:cNvSpPr txBox="1"/>
          <p:nvPr/>
        </p:nvSpPr>
        <p:spPr>
          <a:xfrm>
            <a:off x="8686800" y="3566160"/>
            <a:ext cx="100584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Rider</a:t>
            </a:r>
            <a:endParaRPr lang="en-US" sz="1600" dirty="0"/>
          </a:p>
        </p:txBody>
      </p:sp>
      <p:sp>
        <p:nvSpPr>
          <p:cNvPr id="16" name="Shape 14"/>
          <p:cNvSpPr/>
          <p:nvPr/>
        </p:nvSpPr>
        <p:spPr>
          <a:xfrm>
            <a:off x="10287000" y="3566160"/>
            <a:ext cx="1005840" cy="1005840"/>
          </a:xfrm>
          <a:prstGeom prst="ellipse">
            <a:avLst/>
          </a:prstGeom>
          <a:solidFill>
            <a:srgbClr val="6C7BC6"/>
          </a:solidFill>
          <a:ln/>
        </p:spPr>
      </p:sp>
      <p:sp>
        <p:nvSpPr>
          <p:cNvPr id="17" name="Text 15"/>
          <p:cNvSpPr txBox="1"/>
          <p:nvPr/>
        </p:nvSpPr>
        <p:spPr>
          <a:xfrm>
            <a:off x="10287000" y="3566160"/>
            <a:ext cx="100584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Notify</a:t>
            </a:r>
            <a:endParaRPr lang="en-US" sz="1600" dirty="0"/>
          </a:p>
        </p:txBody>
      </p:sp>
      <p:sp>
        <p:nvSpPr>
          <p:cNvPr id="18" name="Shape 16"/>
          <p:cNvSpPr/>
          <p:nvPr/>
        </p:nvSpPr>
        <p:spPr>
          <a:xfrm flipH="1">
            <a:off x="7589520" y="3017520"/>
            <a:ext cx="1600200" cy="548640"/>
          </a:xfrm>
          <a:prstGeom prst="line">
            <a:avLst/>
          </a:prstGeom>
          <a:noFill/>
          <a:ln w="25400">
            <a:solidFill>
              <a:srgbClr val="9AA0A6"/>
            </a:solidFill>
            <a:prstDash val="solid"/>
            <a:tailEnd type="arrow"/>
          </a:ln>
        </p:spPr>
      </p:sp>
      <p:sp>
        <p:nvSpPr>
          <p:cNvPr id="19" name="Shape 17"/>
          <p:cNvSpPr/>
          <p:nvPr/>
        </p:nvSpPr>
        <p:spPr>
          <a:xfrm>
            <a:off x="9189720" y="3017520"/>
            <a:ext cx="9144" cy="548640"/>
          </a:xfrm>
          <a:prstGeom prst="line">
            <a:avLst/>
          </a:prstGeom>
          <a:noFill/>
          <a:ln w="25400">
            <a:solidFill>
              <a:srgbClr val="F96167"/>
            </a:solidFill>
            <a:prstDash val="dash"/>
            <a:tailEnd type="arrow"/>
          </a:ln>
        </p:spPr>
      </p:sp>
      <p:sp>
        <p:nvSpPr>
          <p:cNvPr id="20" name="Shape 18"/>
          <p:cNvSpPr/>
          <p:nvPr/>
        </p:nvSpPr>
        <p:spPr>
          <a:xfrm>
            <a:off x="9189720" y="3017520"/>
            <a:ext cx="1600200" cy="548640"/>
          </a:xfrm>
          <a:prstGeom prst="line">
            <a:avLst/>
          </a:prstGeom>
          <a:noFill/>
          <a:ln w="25400">
            <a:solidFill>
              <a:srgbClr val="9AA0A6"/>
            </a:solidFill>
            <a:prstDash val="solid"/>
            <a:tailEnd type="arrow"/>
          </a:ln>
        </p:spPr>
      </p:sp>
      <p:sp>
        <p:nvSpPr>
          <p:cNvPr id="21" name="Text 19"/>
          <p:cNvSpPr txBox="1"/>
          <p:nvPr/>
        </p:nvSpPr>
        <p:spPr>
          <a:xfrm>
            <a:off x="9418320" y="2880360"/>
            <a:ext cx="2103120" cy="548640"/>
          </a:xfrm>
          <a:prstGeom prst="rect">
            <a:avLst/>
          </a:prstGeom>
          <a:noFill/>
          <a:ln/>
        </p:spPr>
        <p:txBody>
          <a:bodyPr wrap="square" lIns="0" tIns="0" rIns="0" bIns="0" rtlCol="0" anchor="ctr"/>
          <a:lstStyle/>
          <a:p>
            <a:pPr indent="0" marL="0">
              <a:buNone/>
            </a:pPr>
            <a:r>
              <a:rPr lang="en-US" sz="1100" b="1" dirty="0">
                <a:solidFill>
                  <a:srgbClr val="F96167"/>
                </a:solidFill>
                <a:latin typeface="Calibri" pitchFamily="34" charset="0"/>
                <a:ea typeface="Calibri" pitchFamily="34" charset="-122"/>
                <a:cs typeface="Calibri" pitchFamily="34" charset="-120"/>
              </a:rPr>
              <a:t>✗ call fails while</a:t>
            </a:r>
            <a:endParaRPr lang="en-US" sz="1100" dirty="0"/>
          </a:p>
          <a:p>
            <a:pPr indent="0" marL="0">
              <a:buNone/>
            </a:pPr>
            <a:r>
              <a:rPr lang="en-US" sz="1100" b="1" dirty="0">
                <a:solidFill>
                  <a:srgbClr val="F96167"/>
                </a:solidFill>
                <a:latin typeface="Calibri" pitchFamily="34" charset="0"/>
                <a:ea typeface="Calibri" pitchFamily="34" charset="-122"/>
                <a:cs typeface="Calibri" pitchFamily="34" charset="-120"/>
              </a:rPr>
              <a:t>rider-service is down</a:t>
            </a:r>
            <a:endParaRPr lang="en-US" sz="1100" dirty="0"/>
          </a:p>
        </p:txBody>
      </p:sp>
      <p:sp>
        <p:nvSpPr>
          <p:cNvPr id="22" name="Text 20"/>
          <p:cNvSpPr txBox="1"/>
          <p:nvPr/>
        </p:nvSpPr>
        <p:spPr>
          <a:xfrm>
            <a:off x="6995160" y="4892040"/>
            <a:ext cx="4389120" cy="822960"/>
          </a:xfrm>
          <a:prstGeom prst="rect">
            <a:avLst/>
          </a:prstGeom>
          <a:noFill/>
          <a:ln/>
        </p:spPr>
        <p:txBody>
          <a:bodyPr wrap="square" lIns="0" tIns="0" rIns="0" bIns="0" rtlCol="0" anchor="ctr"/>
          <a:lstStyle/>
          <a:p>
            <a:pPr indent="0" marL="0">
              <a:buNone/>
            </a:pPr>
            <a:r>
              <a:rPr lang="en-US" sz="1200" i="1" dirty="0">
                <a:solidFill>
                  <a:srgbClr val="5B5B5B"/>
                </a:solidFill>
                <a:latin typeface="Calibri" pitchFamily="34" charset="0"/>
                <a:ea typeface="Calibri" pitchFamily="34" charset="-122"/>
                <a:cs typeface="Calibri" pitchFamily="34" charset="-120"/>
              </a:rPr>
              <a:t>Update to the rider is lost forever — no retry, no record.</a:t>
            </a:r>
            <a:endParaRPr lang="en-US" sz="1200" dirty="0"/>
          </a:p>
        </p:txBody>
      </p:sp>
      <p:sp>
        <p:nvSpPr>
          <p:cNvPr id="23" name="Text 21"/>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1 · Scenario</a:t>
            </a:r>
            <a:endParaRPr lang="en-US" sz="1000" dirty="0"/>
          </a:p>
        </p:txBody>
      </p:sp>
      <p:sp>
        <p:nvSpPr>
          <p:cNvPr id="24" name="Text 22"/>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Technology of Interest: Apache Kafka</a:t>
            </a:r>
            <a:endParaRPr lang="en-US" sz="3000" dirty="0"/>
          </a:p>
        </p:txBody>
      </p:sp>
      <p:sp>
        <p:nvSpPr>
          <p:cNvPr id="3" name="Text 1"/>
          <p:cNvSpPr txBox="1"/>
          <p:nvPr/>
        </p:nvSpPr>
        <p:spPr>
          <a:xfrm>
            <a:off x="548640" y="1280160"/>
            <a:ext cx="11064240" cy="777240"/>
          </a:xfrm>
          <a:prstGeom prst="rect">
            <a:avLst/>
          </a:prstGeom>
          <a:noFill/>
          <a:ln/>
        </p:spPr>
        <p:txBody>
          <a:bodyPr wrap="square" lIns="0" tIns="0" rIns="0" bIns="0" rtlCol="0" anchor="ctr"/>
          <a:lstStyle/>
          <a:p>
            <a:pPr indent="0" marL="0">
              <a:lnSpc>
                <a:spcPct val="120000"/>
              </a:lnSpc>
              <a:buNone/>
            </a:pPr>
            <a:r>
              <a:rPr lang="en-US" sz="1500" dirty="0">
                <a:solidFill>
                  <a:srgbClr val="222222"/>
                </a:solidFill>
                <a:latin typeface="Calibri" pitchFamily="34" charset="0"/>
                <a:ea typeface="Calibri" pitchFamily="34" charset="-122"/>
                <a:cs typeface="Calibri" pitchFamily="34" charset="-120"/>
              </a:rPr>
              <a:t>Apache Kafka is a distributed event-streaming platform. Producers publish events to a topic; Kafka durably stores them; independent consumers read at their own pace — no direct calls, no lost updates.</a:t>
            </a:r>
            <a:endParaRPr lang="en-US" sz="1500" dirty="0"/>
          </a:p>
        </p:txBody>
      </p:sp>
      <p:sp>
        <p:nvSpPr>
          <p:cNvPr id="4" name="Shape 2"/>
          <p:cNvSpPr/>
          <p:nvPr/>
        </p:nvSpPr>
        <p:spPr>
          <a:xfrm>
            <a:off x="548640" y="2331720"/>
            <a:ext cx="640080" cy="640080"/>
          </a:xfrm>
          <a:prstGeom prst="ellipse">
            <a:avLst/>
          </a:prstGeom>
          <a:solidFill>
            <a:srgbClr val="2F3C7E"/>
          </a:solidFill>
          <a:ln/>
        </p:spPr>
      </p:sp>
      <p:sp>
        <p:nvSpPr>
          <p:cNvPr id="5" name="Text 3"/>
          <p:cNvSpPr txBox="1"/>
          <p:nvPr/>
        </p:nvSpPr>
        <p:spPr>
          <a:xfrm>
            <a:off x="548640" y="23317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17320" y="2286000"/>
            <a:ext cx="4663440" cy="36576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Topic</a:t>
            </a:r>
            <a:endParaRPr lang="en-US" sz="1600" dirty="0"/>
          </a:p>
        </p:txBody>
      </p:sp>
      <p:sp>
        <p:nvSpPr>
          <p:cNvPr id="7" name="Text 5"/>
          <p:cNvSpPr txBox="1"/>
          <p:nvPr/>
        </p:nvSpPr>
        <p:spPr>
          <a:xfrm>
            <a:off x="1417320" y="2679192"/>
            <a:ext cx="4663440" cy="1280160"/>
          </a:xfrm>
          <a:prstGeom prst="rect">
            <a:avLst/>
          </a:prstGeom>
          <a:noFill/>
          <a:ln/>
        </p:spPr>
        <p:txBody>
          <a:bodyPr wrap="square" lIns="0" tIns="0" rIns="0" bIns="0" rtlCol="0" anchor="ctr"/>
          <a:lstStyle/>
          <a:p>
            <a:pPr indent="0" marL="0">
              <a:lnSpc>
                <a:spcPct val="115000"/>
              </a:lnSpc>
              <a:buNone/>
            </a:pPr>
            <a:r>
              <a:rPr lang="en-US" sz="1250" dirty="0">
                <a:solidFill>
                  <a:srgbClr val="5B5B5B"/>
                </a:solidFill>
                <a:latin typeface="Calibri" pitchFamily="34" charset="0"/>
                <a:ea typeface="Calibri" pitchFamily="34" charset="-122"/>
                <a:cs typeface="Calibri" pitchFamily="34" charset="-120"/>
              </a:rPr>
              <a:t>order.status.updated — a durable, append-only log of every status change.</a:t>
            </a:r>
            <a:endParaRPr lang="en-US" sz="1250" dirty="0"/>
          </a:p>
        </p:txBody>
      </p:sp>
      <p:sp>
        <p:nvSpPr>
          <p:cNvPr id="8" name="Shape 6"/>
          <p:cNvSpPr/>
          <p:nvPr/>
        </p:nvSpPr>
        <p:spPr>
          <a:xfrm>
            <a:off x="6217920" y="2331720"/>
            <a:ext cx="640080" cy="640080"/>
          </a:xfrm>
          <a:prstGeom prst="ellipse">
            <a:avLst/>
          </a:prstGeom>
          <a:solidFill>
            <a:srgbClr val="F96167"/>
          </a:solidFill>
          <a:ln/>
        </p:spPr>
      </p:sp>
      <p:sp>
        <p:nvSpPr>
          <p:cNvPr id="9" name="Text 7"/>
          <p:cNvSpPr txBox="1"/>
          <p:nvPr/>
        </p:nvSpPr>
        <p:spPr>
          <a:xfrm>
            <a:off x="6217920" y="23317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7086600" y="2286000"/>
            <a:ext cx="4663440" cy="36576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Producer</a:t>
            </a:r>
            <a:endParaRPr lang="en-US" sz="1600" dirty="0"/>
          </a:p>
        </p:txBody>
      </p:sp>
      <p:sp>
        <p:nvSpPr>
          <p:cNvPr id="11" name="Text 9"/>
          <p:cNvSpPr txBox="1"/>
          <p:nvPr/>
        </p:nvSpPr>
        <p:spPr>
          <a:xfrm>
            <a:off x="7086600" y="2679192"/>
            <a:ext cx="4663440" cy="1280160"/>
          </a:xfrm>
          <a:prstGeom prst="rect">
            <a:avLst/>
          </a:prstGeom>
          <a:noFill/>
          <a:ln/>
        </p:spPr>
        <p:txBody>
          <a:bodyPr wrap="square" lIns="0" tIns="0" rIns="0" bIns="0" rtlCol="0" anchor="ctr"/>
          <a:lstStyle/>
          <a:p>
            <a:pPr indent="0" marL="0">
              <a:lnSpc>
                <a:spcPct val="115000"/>
              </a:lnSpc>
              <a:buNone/>
            </a:pPr>
            <a:r>
              <a:rPr lang="en-US" sz="1250" dirty="0">
                <a:solidFill>
                  <a:srgbClr val="5B5B5B"/>
                </a:solidFill>
                <a:latin typeface="Calibri" pitchFamily="34" charset="0"/>
                <a:ea typeface="Calibri" pitchFamily="34" charset="-122"/>
                <a:cs typeface="Calibri" pitchFamily="34" charset="-120"/>
              </a:rPr>
              <a:t>order-service is the only writer. It publishes one event per status change.</a:t>
            </a:r>
            <a:endParaRPr lang="en-US" sz="1250" dirty="0"/>
          </a:p>
        </p:txBody>
      </p:sp>
      <p:sp>
        <p:nvSpPr>
          <p:cNvPr id="12" name="Shape 10"/>
          <p:cNvSpPr/>
          <p:nvPr/>
        </p:nvSpPr>
        <p:spPr>
          <a:xfrm>
            <a:off x="548640" y="4160520"/>
            <a:ext cx="640080" cy="640080"/>
          </a:xfrm>
          <a:prstGeom prst="ellipse">
            <a:avLst/>
          </a:prstGeom>
          <a:solidFill>
            <a:srgbClr val="2F3C7E"/>
          </a:solidFill>
          <a:ln/>
        </p:spPr>
      </p:sp>
      <p:sp>
        <p:nvSpPr>
          <p:cNvPr id="13" name="Text 11"/>
          <p:cNvSpPr txBox="1"/>
          <p:nvPr/>
        </p:nvSpPr>
        <p:spPr>
          <a:xfrm>
            <a:off x="548640" y="4160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417320" y="4114800"/>
            <a:ext cx="4663440" cy="36576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Consumer Group</a:t>
            </a:r>
            <a:endParaRPr lang="en-US" sz="1600" dirty="0"/>
          </a:p>
        </p:txBody>
      </p:sp>
      <p:sp>
        <p:nvSpPr>
          <p:cNvPr id="15" name="Text 13"/>
          <p:cNvSpPr txBox="1"/>
          <p:nvPr/>
        </p:nvSpPr>
        <p:spPr>
          <a:xfrm>
            <a:off x="1417320" y="4507992"/>
            <a:ext cx="4663440" cy="1280160"/>
          </a:xfrm>
          <a:prstGeom prst="rect">
            <a:avLst/>
          </a:prstGeom>
          <a:noFill/>
          <a:ln/>
        </p:spPr>
        <p:txBody>
          <a:bodyPr wrap="square" lIns="0" tIns="0" rIns="0" bIns="0" rtlCol="0" anchor="ctr"/>
          <a:lstStyle/>
          <a:p>
            <a:pPr indent="0" marL="0">
              <a:lnSpc>
                <a:spcPct val="115000"/>
              </a:lnSpc>
              <a:buNone/>
            </a:pPr>
            <a:r>
              <a:rPr lang="en-US" sz="1250" dirty="0">
                <a:solidFill>
                  <a:srgbClr val="5B5B5B"/>
                </a:solidFill>
                <a:latin typeface="Calibri" pitchFamily="34" charset="0"/>
                <a:ea typeface="Calibri" pitchFamily="34" charset="-122"/>
                <a:cs typeface="Calibri" pitchFamily="34" charset="-120"/>
              </a:rPr>
              <a:t>Each downstream service (customer, rider, notification) reads with its own group — they don’t compete or block each other.</a:t>
            </a:r>
            <a:endParaRPr lang="en-US" sz="1250" dirty="0"/>
          </a:p>
        </p:txBody>
      </p:sp>
      <p:sp>
        <p:nvSpPr>
          <p:cNvPr id="16" name="Shape 14"/>
          <p:cNvSpPr/>
          <p:nvPr/>
        </p:nvSpPr>
        <p:spPr>
          <a:xfrm>
            <a:off x="6217920" y="4160520"/>
            <a:ext cx="640080" cy="640080"/>
          </a:xfrm>
          <a:prstGeom prst="ellipse">
            <a:avLst/>
          </a:prstGeom>
          <a:solidFill>
            <a:srgbClr val="F96167"/>
          </a:solidFill>
          <a:ln/>
        </p:spPr>
      </p:sp>
      <p:sp>
        <p:nvSpPr>
          <p:cNvPr id="17" name="Text 15"/>
          <p:cNvSpPr txBox="1"/>
          <p:nvPr/>
        </p:nvSpPr>
        <p:spPr>
          <a:xfrm>
            <a:off x="6217920" y="4160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7086600" y="4114800"/>
            <a:ext cx="4663440" cy="36576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Offset &amp; Replay</a:t>
            </a:r>
            <a:endParaRPr lang="en-US" sz="1600" dirty="0"/>
          </a:p>
        </p:txBody>
      </p:sp>
      <p:sp>
        <p:nvSpPr>
          <p:cNvPr id="19" name="Text 17"/>
          <p:cNvSpPr txBox="1"/>
          <p:nvPr/>
        </p:nvSpPr>
        <p:spPr>
          <a:xfrm>
            <a:off x="7086600" y="4507992"/>
            <a:ext cx="4663440" cy="1280160"/>
          </a:xfrm>
          <a:prstGeom prst="rect">
            <a:avLst/>
          </a:prstGeom>
          <a:noFill/>
          <a:ln/>
        </p:spPr>
        <p:txBody>
          <a:bodyPr wrap="square" lIns="0" tIns="0" rIns="0" bIns="0" rtlCol="0" anchor="ctr"/>
          <a:lstStyle/>
          <a:p>
            <a:pPr indent="0" marL="0">
              <a:lnSpc>
                <a:spcPct val="115000"/>
              </a:lnSpc>
              <a:buNone/>
            </a:pPr>
            <a:r>
              <a:rPr lang="en-US" sz="1250" dirty="0">
                <a:solidFill>
                  <a:srgbClr val="5B5B5B"/>
                </a:solidFill>
                <a:latin typeface="Calibri" pitchFamily="34" charset="0"/>
                <a:ea typeface="Calibri" pitchFamily="34" charset="-122"/>
                <a:cs typeface="Calibri" pitchFamily="34" charset="-120"/>
              </a:rPr>
              <a:t>Kafka remembers what each group has read. A restarted service resumes exactly where it left off.</a:t>
            </a:r>
            <a:endParaRPr lang="en-US" sz="1250" dirty="0"/>
          </a:p>
        </p:txBody>
      </p:sp>
      <p:sp>
        <p:nvSpPr>
          <p:cNvPr id="20" name="Text 18"/>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2 · Technology of Interest</a:t>
            </a:r>
            <a:endParaRPr lang="en-US" sz="1000" dirty="0"/>
          </a:p>
        </p:txBody>
      </p:sp>
      <p:sp>
        <p:nvSpPr>
          <p:cNvPr id="21" name="Text 19"/>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Implementation: Architecture</a:t>
            </a:r>
            <a:endParaRPr lang="en-US" sz="3000" dirty="0"/>
          </a:p>
        </p:txBody>
      </p:sp>
      <p:sp>
        <p:nvSpPr>
          <p:cNvPr id="3" name="Shape 1"/>
          <p:cNvSpPr/>
          <p:nvPr/>
        </p:nvSpPr>
        <p:spPr>
          <a:xfrm>
            <a:off x="457200" y="1371600"/>
            <a:ext cx="2331720" cy="1143000"/>
          </a:xfrm>
          <a:prstGeom prst="roundRect">
            <a:avLst>
              <a:gd name="adj" fmla="val 6400"/>
            </a:avLst>
          </a:prstGeom>
          <a:solidFill>
            <a:srgbClr val="E6F0FE"/>
          </a:solidFill>
          <a:ln w="16510">
            <a:solidFill>
              <a:srgbClr val="2F3C7E"/>
            </a:solidFill>
            <a:prstDash val="solid"/>
          </a:ln>
        </p:spPr>
      </p:sp>
      <p:sp>
        <p:nvSpPr>
          <p:cNvPr id="4" name="Text 2"/>
          <p:cNvSpPr txBox="1"/>
          <p:nvPr/>
        </p:nvSpPr>
        <p:spPr>
          <a:xfrm>
            <a:off x="566928" y="1481328"/>
            <a:ext cx="210312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Customer App</a:t>
            </a:r>
            <a:endParaRPr lang="en-US" sz="1300" dirty="0"/>
          </a:p>
        </p:txBody>
      </p:sp>
      <p:sp>
        <p:nvSpPr>
          <p:cNvPr id="5" name="Text 3"/>
          <p:cNvSpPr txBox="1"/>
          <p:nvPr/>
        </p:nvSpPr>
        <p:spPr>
          <a:xfrm>
            <a:off x="566928" y="1828800"/>
            <a:ext cx="2103120" cy="594360"/>
          </a:xfrm>
          <a:prstGeom prst="rect">
            <a:avLst/>
          </a:prstGeom>
          <a:noFill/>
          <a:ln/>
        </p:spPr>
        <p:txBody>
          <a:bodyPr wrap="square" lIns="0" tIns="0" rIns="0" bIns="0" rtlCol="0" anchor="ctr"/>
          <a:lstStyle/>
          <a:p>
            <a:pPr indent="0" marL="0">
              <a:lnSpc>
                <a:spcPct val="115000"/>
              </a:lnSpc>
              <a:buNone/>
            </a:pPr>
            <a:r>
              <a:rPr lang="en-US" sz="1050" dirty="0">
                <a:solidFill>
                  <a:srgbClr val="2F3C7E"/>
                </a:solidFill>
                <a:latin typeface="Calibri" pitchFamily="34" charset="0"/>
                <a:ea typeface="Calibri" pitchFamily="34" charset="-122"/>
                <a:cs typeface="Calibri" pitchFamily="34" charset="-120"/>
              </a:rPr>
              <a:t>POST /orders</a:t>
            </a:r>
            <a:endParaRPr lang="en-US" sz="1050" dirty="0"/>
          </a:p>
        </p:txBody>
      </p:sp>
      <p:sp>
        <p:nvSpPr>
          <p:cNvPr id="6" name="Shape 4"/>
          <p:cNvSpPr/>
          <p:nvPr/>
        </p:nvSpPr>
        <p:spPr>
          <a:xfrm>
            <a:off x="457200" y="2788920"/>
            <a:ext cx="2331720" cy="1143000"/>
          </a:xfrm>
          <a:prstGeom prst="roundRect">
            <a:avLst>
              <a:gd name="adj" fmla="val 6400"/>
            </a:avLst>
          </a:prstGeom>
          <a:solidFill>
            <a:srgbClr val="FFF3E0"/>
          </a:solidFill>
          <a:ln w="16510">
            <a:solidFill>
              <a:srgbClr val="8A4B00"/>
            </a:solidFill>
            <a:prstDash val="solid"/>
          </a:ln>
        </p:spPr>
      </p:sp>
      <p:sp>
        <p:nvSpPr>
          <p:cNvPr id="7" name="Text 5"/>
          <p:cNvSpPr txBox="1"/>
          <p:nvPr/>
        </p:nvSpPr>
        <p:spPr>
          <a:xfrm>
            <a:off x="566928" y="2898648"/>
            <a:ext cx="2103120" cy="320040"/>
          </a:xfrm>
          <a:prstGeom prst="rect">
            <a:avLst/>
          </a:prstGeom>
          <a:noFill/>
          <a:ln/>
        </p:spPr>
        <p:txBody>
          <a:bodyPr wrap="square" lIns="0" tIns="0" rIns="0" bIns="0" rtlCol="0" anchor="ctr"/>
          <a:lstStyle/>
          <a:p>
            <a:pPr indent="0" marL="0">
              <a:buNone/>
            </a:pPr>
            <a:r>
              <a:rPr lang="en-US" sz="1300" b="1" dirty="0">
                <a:solidFill>
                  <a:srgbClr val="8A4B00"/>
                </a:solidFill>
                <a:latin typeface="Calibri" pitchFamily="34" charset="0"/>
                <a:ea typeface="Calibri" pitchFamily="34" charset="-122"/>
                <a:cs typeface="Calibri" pitchFamily="34" charset="-120"/>
              </a:rPr>
              <a:t>Restaurant App</a:t>
            </a:r>
            <a:endParaRPr lang="en-US" sz="1300" dirty="0"/>
          </a:p>
        </p:txBody>
      </p:sp>
      <p:sp>
        <p:nvSpPr>
          <p:cNvPr id="8" name="Text 6"/>
          <p:cNvSpPr txBox="1"/>
          <p:nvPr/>
        </p:nvSpPr>
        <p:spPr>
          <a:xfrm>
            <a:off x="566928" y="3246120"/>
            <a:ext cx="2103120" cy="594360"/>
          </a:xfrm>
          <a:prstGeom prst="rect">
            <a:avLst/>
          </a:prstGeom>
          <a:noFill/>
          <a:ln/>
        </p:spPr>
        <p:txBody>
          <a:bodyPr wrap="square" lIns="0" tIns="0" rIns="0" bIns="0" rtlCol="0" anchor="ctr"/>
          <a:lstStyle/>
          <a:p>
            <a:pPr indent="0" marL="0">
              <a:lnSpc>
                <a:spcPct val="115000"/>
              </a:lnSpc>
              <a:buNone/>
            </a:pPr>
            <a:r>
              <a:rPr lang="en-US" sz="1050" dirty="0">
                <a:solidFill>
                  <a:srgbClr val="8A4B00"/>
                </a:solidFill>
                <a:latin typeface="Calibri" pitchFamily="34" charset="0"/>
                <a:ea typeface="Calibri" pitchFamily="34" charset="-122"/>
                <a:cs typeface="Calibri" pitchFamily="34" charset="-120"/>
              </a:rPr>
              <a:t>PATCH status (confirm → ready)</a:t>
            </a:r>
            <a:endParaRPr lang="en-US" sz="1050" dirty="0"/>
          </a:p>
        </p:txBody>
      </p:sp>
      <p:sp>
        <p:nvSpPr>
          <p:cNvPr id="9" name="Shape 7"/>
          <p:cNvSpPr/>
          <p:nvPr/>
        </p:nvSpPr>
        <p:spPr>
          <a:xfrm>
            <a:off x="457200" y="4206240"/>
            <a:ext cx="2331720" cy="1143000"/>
          </a:xfrm>
          <a:prstGeom prst="roundRect">
            <a:avLst>
              <a:gd name="adj" fmla="val 6400"/>
            </a:avLst>
          </a:prstGeom>
          <a:solidFill>
            <a:srgbClr val="EAFAF0"/>
          </a:solidFill>
          <a:ln w="16510">
            <a:solidFill>
              <a:srgbClr val="0F7A3D"/>
            </a:solidFill>
            <a:prstDash val="solid"/>
          </a:ln>
        </p:spPr>
      </p:sp>
      <p:sp>
        <p:nvSpPr>
          <p:cNvPr id="10" name="Text 8"/>
          <p:cNvSpPr txBox="1"/>
          <p:nvPr/>
        </p:nvSpPr>
        <p:spPr>
          <a:xfrm>
            <a:off x="566928" y="4315968"/>
            <a:ext cx="2103120" cy="320040"/>
          </a:xfrm>
          <a:prstGeom prst="rect">
            <a:avLst/>
          </a:prstGeom>
          <a:noFill/>
          <a:ln/>
        </p:spPr>
        <p:txBody>
          <a:bodyPr wrap="square" lIns="0" tIns="0" rIns="0" bIns="0" rtlCol="0" anchor="ctr"/>
          <a:lstStyle/>
          <a:p>
            <a:pPr indent="0" marL="0">
              <a:buNone/>
            </a:pPr>
            <a:r>
              <a:rPr lang="en-US" sz="1300" b="1" dirty="0">
                <a:solidFill>
                  <a:srgbClr val="0F7A3D"/>
                </a:solidFill>
                <a:latin typeface="Calibri" pitchFamily="34" charset="0"/>
                <a:ea typeface="Calibri" pitchFamily="34" charset="-122"/>
                <a:cs typeface="Calibri" pitchFamily="34" charset="-120"/>
              </a:rPr>
              <a:t>Rider App</a:t>
            </a:r>
            <a:endParaRPr lang="en-US" sz="1300" dirty="0"/>
          </a:p>
        </p:txBody>
      </p:sp>
      <p:sp>
        <p:nvSpPr>
          <p:cNvPr id="11" name="Text 9"/>
          <p:cNvSpPr txBox="1"/>
          <p:nvPr/>
        </p:nvSpPr>
        <p:spPr>
          <a:xfrm>
            <a:off x="566928" y="4663440"/>
            <a:ext cx="2103120" cy="594360"/>
          </a:xfrm>
          <a:prstGeom prst="rect">
            <a:avLst/>
          </a:prstGeom>
          <a:noFill/>
          <a:ln/>
        </p:spPr>
        <p:txBody>
          <a:bodyPr wrap="square" lIns="0" tIns="0" rIns="0" bIns="0" rtlCol="0" anchor="ctr"/>
          <a:lstStyle/>
          <a:p>
            <a:pPr indent="0" marL="0">
              <a:lnSpc>
                <a:spcPct val="115000"/>
              </a:lnSpc>
              <a:buNone/>
            </a:pPr>
            <a:r>
              <a:rPr lang="en-US" sz="1050" dirty="0">
                <a:solidFill>
                  <a:srgbClr val="0F7A3D"/>
                </a:solidFill>
                <a:latin typeface="Calibri" pitchFamily="34" charset="0"/>
                <a:ea typeface="Calibri" pitchFamily="34" charset="-122"/>
                <a:cs typeface="Calibri" pitchFamily="34" charset="-120"/>
              </a:rPr>
              <a:t>PATCH status (picked up → delivered)</a:t>
            </a:r>
            <a:endParaRPr lang="en-US" sz="1050" dirty="0"/>
          </a:p>
        </p:txBody>
      </p:sp>
      <p:sp>
        <p:nvSpPr>
          <p:cNvPr id="12" name="Shape 10"/>
          <p:cNvSpPr/>
          <p:nvPr/>
        </p:nvSpPr>
        <p:spPr>
          <a:xfrm>
            <a:off x="2788920" y="1943100"/>
            <a:ext cx="1005840" cy="1394460"/>
          </a:xfrm>
          <a:prstGeom prst="line">
            <a:avLst/>
          </a:prstGeom>
          <a:noFill/>
          <a:ln w="20320">
            <a:solidFill>
              <a:srgbClr val="5B5B5B"/>
            </a:solidFill>
            <a:prstDash val="solid"/>
            <a:tailEnd type="arrow"/>
          </a:ln>
        </p:spPr>
      </p:sp>
      <p:sp>
        <p:nvSpPr>
          <p:cNvPr id="13" name="Shape 11"/>
          <p:cNvSpPr/>
          <p:nvPr/>
        </p:nvSpPr>
        <p:spPr>
          <a:xfrm flipV="1">
            <a:off x="2788920" y="3337560"/>
            <a:ext cx="1005840" cy="22860"/>
          </a:xfrm>
          <a:prstGeom prst="line">
            <a:avLst/>
          </a:prstGeom>
          <a:noFill/>
          <a:ln w="20320">
            <a:solidFill>
              <a:srgbClr val="5B5B5B"/>
            </a:solidFill>
            <a:prstDash val="solid"/>
            <a:tailEnd type="arrow"/>
          </a:ln>
        </p:spPr>
      </p:sp>
      <p:sp>
        <p:nvSpPr>
          <p:cNvPr id="14" name="Shape 12"/>
          <p:cNvSpPr/>
          <p:nvPr/>
        </p:nvSpPr>
        <p:spPr>
          <a:xfrm flipV="1">
            <a:off x="2788920" y="3337560"/>
            <a:ext cx="1005840" cy="1440180"/>
          </a:xfrm>
          <a:prstGeom prst="line">
            <a:avLst/>
          </a:prstGeom>
          <a:noFill/>
          <a:ln w="20320">
            <a:solidFill>
              <a:srgbClr val="5B5B5B"/>
            </a:solidFill>
            <a:prstDash val="solid"/>
            <a:tailEnd type="arrow"/>
          </a:ln>
        </p:spPr>
      </p:sp>
      <p:sp>
        <p:nvSpPr>
          <p:cNvPr id="15" name="Shape 13"/>
          <p:cNvSpPr/>
          <p:nvPr/>
        </p:nvSpPr>
        <p:spPr>
          <a:xfrm>
            <a:off x="3794760" y="2743200"/>
            <a:ext cx="2103120" cy="1188720"/>
          </a:xfrm>
          <a:prstGeom prst="roundRect">
            <a:avLst>
              <a:gd name="adj" fmla="val 6154"/>
            </a:avLst>
          </a:prstGeom>
          <a:solidFill>
            <a:srgbClr val="E8F0FE"/>
          </a:solidFill>
          <a:ln w="19050">
            <a:solidFill>
              <a:srgbClr val="2F3C7E"/>
            </a:solidFill>
            <a:prstDash val="solid"/>
          </a:ln>
        </p:spPr>
      </p:sp>
      <p:sp>
        <p:nvSpPr>
          <p:cNvPr id="16" name="Text 14"/>
          <p:cNvSpPr txBox="1"/>
          <p:nvPr/>
        </p:nvSpPr>
        <p:spPr>
          <a:xfrm>
            <a:off x="3886200" y="2852928"/>
            <a:ext cx="192024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Order Service</a:t>
            </a:r>
            <a:endParaRPr lang="en-US" sz="1300" dirty="0"/>
          </a:p>
        </p:txBody>
      </p:sp>
      <p:sp>
        <p:nvSpPr>
          <p:cNvPr id="17" name="Text 15"/>
          <p:cNvSpPr txBox="1"/>
          <p:nvPr/>
        </p:nvSpPr>
        <p:spPr>
          <a:xfrm>
            <a:off x="3886200" y="3182112"/>
            <a:ext cx="1920240" cy="731520"/>
          </a:xfrm>
          <a:prstGeom prst="rect">
            <a:avLst/>
          </a:prstGeom>
          <a:noFill/>
          <a:ln/>
        </p:spPr>
        <p:txBody>
          <a:bodyPr wrap="square" lIns="0" tIns="0" rIns="0" bIns="0" rtlCol="0" anchor="ctr"/>
          <a:lstStyle/>
          <a:p>
            <a:pPr indent="0" marL="0">
              <a:lnSpc>
                <a:spcPct val="115000"/>
              </a:lnSpc>
              <a:buNone/>
            </a:pPr>
            <a:r>
              <a:rPr lang="en-US" sz="1000" dirty="0">
                <a:solidFill>
                  <a:srgbClr val="5B5B5B"/>
                </a:solidFill>
                <a:latin typeface="Calibri" pitchFamily="34" charset="0"/>
                <a:ea typeface="Calibri" pitchFamily="34" charset="-122"/>
                <a:cs typeface="Calibri" pitchFamily="34" charset="-120"/>
              </a:rPr>
              <a:t>Node.js + Express</a:t>
            </a:r>
            <a:endParaRPr lang="en-US" sz="1000" dirty="0"/>
          </a:p>
          <a:p>
            <a:pPr indent="0" marL="0">
              <a:lnSpc>
                <a:spcPct val="115000"/>
              </a:lnSpc>
              <a:buNone/>
            </a:pPr>
            <a:r>
              <a:rPr lang="en-US" sz="1000" dirty="0">
                <a:solidFill>
                  <a:srgbClr val="5B5B5B"/>
                </a:solidFill>
                <a:latin typeface="Calibri" pitchFamily="34" charset="0"/>
                <a:ea typeface="Calibri" pitchFamily="34" charset="-122"/>
                <a:cs typeface="Calibri" pitchFamily="34" charset="-120"/>
              </a:rPr>
              <a:t>Kafka Producer</a:t>
            </a:r>
            <a:endParaRPr lang="en-US" sz="1000" dirty="0"/>
          </a:p>
          <a:p>
            <a:pPr indent="0" marL="0">
              <a:lnSpc>
                <a:spcPct val="115000"/>
              </a:lnSpc>
              <a:buNone/>
            </a:pPr>
            <a:r>
              <a:rPr lang="en-US" sz="1000" dirty="0">
                <a:solidFill>
                  <a:srgbClr val="5B5B5B"/>
                </a:solidFill>
                <a:latin typeface="Calibri" pitchFamily="34" charset="0"/>
                <a:ea typeface="Calibri" pitchFamily="34" charset="-122"/>
                <a:cs typeface="Calibri" pitchFamily="34" charset="-120"/>
              </a:rPr>
              <a:t>(only writer to Kafka)</a:t>
            </a:r>
            <a:endParaRPr lang="en-US" sz="1000" dirty="0"/>
          </a:p>
        </p:txBody>
      </p:sp>
      <p:sp>
        <p:nvSpPr>
          <p:cNvPr id="18" name="Shape 16"/>
          <p:cNvSpPr/>
          <p:nvPr/>
        </p:nvSpPr>
        <p:spPr>
          <a:xfrm>
            <a:off x="6400800" y="2514600"/>
            <a:ext cx="2514600" cy="1645920"/>
          </a:xfrm>
          <a:prstGeom prst="roundRect">
            <a:avLst>
              <a:gd name="adj" fmla="val 4444"/>
            </a:avLst>
          </a:prstGeom>
          <a:solidFill>
            <a:srgbClr val="FFF3E0"/>
          </a:solidFill>
          <a:ln w="19050">
            <a:solidFill>
              <a:srgbClr val="E07B00"/>
            </a:solidFill>
            <a:prstDash val="solid"/>
          </a:ln>
        </p:spPr>
      </p:sp>
      <p:sp>
        <p:nvSpPr>
          <p:cNvPr id="19" name="Text 17"/>
          <p:cNvSpPr txBox="1"/>
          <p:nvPr/>
        </p:nvSpPr>
        <p:spPr>
          <a:xfrm>
            <a:off x="6492240" y="2633472"/>
            <a:ext cx="2331720" cy="320040"/>
          </a:xfrm>
          <a:prstGeom prst="rect">
            <a:avLst/>
          </a:prstGeom>
          <a:noFill/>
          <a:ln/>
        </p:spPr>
        <p:txBody>
          <a:bodyPr wrap="square" lIns="0" tIns="0" rIns="0" bIns="0" rtlCol="0" anchor="ctr"/>
          <a:lstStyle/>
          <a:p>
            <a:pPr indent="0" marL="0">
              <a:buNone/>
            </a:pPr>
            <a:r>
              <a:rPr lang="en-US" sz="1350" b="1" dirty="0">
                <a:solidFill>
                  <a:srgbClr val="8A4B00"/>
                </a:solidFill>
                <a:latin typeface="Calibri" pitchFamily="34" charset="0"/>
                <a:ea typeface="Calibri" pitchFamily="34" charset="-122"/>
                <a:cs typeface="Calibri" pitchFamily="34" charset="-120"/>
              </a:rPr>
              <a:t>Apache Kafka</a:t>
            </a:r>
            <a:endParaRPr lang="en-US" sz="1350" dirty="0"/>
          </a:p>
        </p:txBody>
      </p:sp>
      <p:sp>
        <p:nvSpPr>
          <p:cNvPr id="20" name="Text 18"/>
          <p:cNvSpPr txBox="1"/>
          <p:nvPr/>
        </p:nvSpPr>
        <p:spPr>
          <a:xfrm>
            <a:off x="6492240" y="2971800"/>
            <a:ext cx="2331720" cy="1097280"/>
          </a:xfrm>
          <a:prstGeom prst="rect">
            <a:avLst/>
          </a:prstGeom>
          <a:noFill/>
          <a:ln/>
        </p:spPr>
        <p:txBody>
          <a:bodyPr wrap="square" lIns="0" tIns="0" rIns="0" bIns="0" rtlCol="0" anchor="ctr"/>
          <a:lstStyle/>
          <a:p>
            <a:pPr indent="0" marL="0">
              <a:lnSpc>
                <a:spcPct val="120000"/>
              </a:lnSpc>
              <a:buNone/>
            </a:pPr>
            <a:r>
              <a:rPr lang="en-US" sz="1000" dirty="0">
                <a:solidFill>
                  <a:srgbClr val="6B4400"/>
                </a:solidFill>
                <a:latin typeface="Calibri" pitchFamily="34" charset="0"/>
                <a:ea typeface="Calibri" pitchFamily="34" charset="-122"/>
                <a:cs typeface="Calibri" pitchFamily="34" charset="-120"/>
              </a:rPr>
              <a:t>topic: order.status.updated</a:t>
            </a:r>
            <a:endParaRPr lang="en-US" sz="1000" dirty="0"/>
          </a:p>
          <a:p>
            <a:pPr indent="0" marL="0">
              <a:lnSpc>
                <a:spcPct val="120000"/>
              </a:lnSpc>
              <a:buNone/>
            </a:pPr>
            <a:r>
              <a:rPr lang="en-US" sz="1000" dirty="0">
                <a:solidFill>
                  <a:srgbClr val="6B4400"/>
                </a:solidFill>
                <a:latin typeface="Calibri" pitchFamily="34" charset="0"/>
                <a:ea typeface="Calibri" pitchFamily="34" charset="-122"/>
                <a:cs typeface="Calibri" pitchFamily="34" charset="-120"/>
              </a:rPr>
              <a:t>Events retained on disk —</a:t>
            </a:r>
            <a:endParaRPr lang="en-US" sz="1000" dirty="0"/>
          </a:p>
          <a:p>
            <a:pPr indent="0" marL="0">
              <a:lnSpc>
                <a:spcPct val="120000"/>
              </a:lnSpc>
              <a:buNone/>
            </a:pPr>
            <a:r>
              <a:rPr lang="en-US" sz="1000" dirty="0">
                <a:solidFill>
                  <a:srgbClr val="6B4400"/>
                </a:solidFill>
                <a:latin typeface="Calibri" pitchFamily="34" charset="0"/>
                <a:ea typeface="Calibri" pitchFamily="34" charset="-122"/>
                <a:cs typeface="Calibri" pitchFamily="34" charset="-120"/>
              </a:rPr>
              <a:t>replay after restart</a:t>
            </a:r>
            <a:endParaRPr lang="en-US" sz="1000" dirty="0"/>
          </a:p>
        </p:txBody>
      </p:sp>
      <p:sp>
        <p:nvSpPr>
          <p:cNvPr id="21" name="Shape 19"/>
          <p:cNvSpPr/>
          <p:nvPr/>
        </p:nvSpPr>
        <p:spPr>
          <a:xfrm>
            <a:off x="5897880" y="3337560"/>
            <a:ext cx="502920" cy="0"/>
          </a:xfrm>
          <a:prstGeom prst="line">
            <a:avLst/>
          </a:prstGeom>
          <a:noFill/>
          <a:ln w="20320">
            <a:solidFill>
              <a:srgbClr val="5B5B5B"/>
            </a:solidFill>
            <a:prstDash val="solid"/>
            <a:tailEnd type="arrow"/>
          </a:ln>
        </p:spPr>
      </p:sp>
      <p:sp>
        <p:nvSpPr>
          <p:cNvPr id="22" name="Shape 20"/>
          <p:cNvSpPr/>
          <p:nvPr/>
        </p:nvSpPr>
        <p:spPr>
          <a:xfrm>
            <a:off x="9189720" y="960120"/>
            <a:ext cx="2514600" cy="1188720"/>
          </a:xfrm>
          <a:prstGeom prst="roundRect">
            <a:avLst>
              <a:gd name="adj" fmla="val 6154"/>
            </a:avLst>
          </a:prstGeom>
          <a:solidFill>
            <a:srgbClr val="E6F4EA"/>
          </a:solidFill>
          <a:ln w="19050">
            <a:solidFill>
              <a:srgbClr val="1E8E3E"/>
            </a:solidFill>
            <a:prstDash val="solid"/>
          </a:ln>
        </p:spPr>
      </p:sp>
      <p:sp>
        <p:nvSpPr>
          <p:cNvPr id="23" name="Text 21"/>
          <p:cNvSpPr txBox="1"/>
          <p:nvPr/>
        </p:nvSpPr>
        <p:spPr>
          <a:xfrm>
            <a:off x="9281160" y="1069848"/>
            <a:ext cx="2331720" cy="502920"/>
          </a:xfrm>
          <a:prstGeom prst="rect">
            <a:avLst/>
          </a:prstGeom>
          <a:noFill/>
          <a:ln/>
        </p:spPr>
        <p:txBody>
          <a:bodyPr wrap="square" lIns="0" tIns="0" rIns="0" bIns="0" rtlCol="0" anchor="ctr"/>
          <a:lstStyle/>
          <a:p>
            <a:pPr indent="0" marL="0">
              <a:buNone/>
            </a:pPr>
            <a:r>
              <a:rPr lang="en-US" sz="1150" b="1" dirty="0">
                <a:solidFill>
                  <a:srgbClr val="155724"/>
                </a:solidFill>
                <a:latin typeface="Calibri" pitchFamily="34" charset="0"/>
                <a:ea typeface="Calibri" pitchFamily="34" charset="-122"/>
                <a:cs typeface="Calibri" pitchFamily="34" charset="-120"/>
              </a:rPr>
              <a:t>Customer Service</a:t>
            </a:r>
            <a:endParaRPr lang="en-US" sz="1150" dirty="0"/>
          </a:p>
        </p:txBody>
      </p:sp>
      <p:sp>
        <p:nvSpPr>
          <p:cNvPr id="24" name="Text 22"/>
          <p:cNvSpPr txBox="1"/>
          <p:nvPr/>
        </p:nvSpPr>
        <p:spPr>
          <a:xfrm>
            <a:off x="9281160" y="1581912"/>
            <a:ext cx="2331720" cy="457200"/>
          </a:xfrm>
          <a:prstGeom prst="rect">
            <a:avLst/>
          </a:prstGeom>
          <a:noFill/>
          <a:ln/>
        </p:spPr>
        <p:txBody>
          <a:bodyPr wrap="square" lIns="0" tIns="0" rIns="0" bIns="0" rtlCol="0" anchor="ctr"/>
          <a:lstStyle/>
          <a:p>
            <a:pPr indent="0" marL="0">
              <a:lnSpc>
                <a:spcPct val="115000"/>
              </a:lnSpc>
              <a:buNone/>
            </a:pPr>
            <a:r>
              <a:rPr lang="en-US" sz="950" dirty="0">
                <a:solidFill>
                  <a:srgbClr val="3A6B45"/>
                </a:solidFill>
                <a:latin typeface="Calibri" pitchFamily="34" charset="0"/>
                <a:ea typeface="Calibri" pitchFamily="34" charset="-122"/>
                <a:cs typeface="Calibri" pitchFamily="34" charset="-120"/>
              </a:rPr>
              <a:t>updates order-tracking feed</a:t>
            </a:r>
            <a:endParaRPr lang="en-US" sz="950" dirty="0"/>
          </a:p>
        </p:txBody>
      </p:sp>
      <p:sp>
        <p:nvSpPr>
          <p:cNvPr id="25" name="Shape 23"/>
          <p:cNvSpPr/>
          <p:nvPr/>
        </p:nvSpPr>
        <p:spPr>
          <a:xfrm>
            <a:off x="9189720" y="2423160"/>
            <a:ext cx="2514600" cy="1188720"/>
          </a:xfrm>
          <a:prstGeom prst="roundRect">
            <a:avLst>
              <a:gd name="adj" fmla="val 6154"/>
            </a:avLst>
          </a:prstGeom>
          <a:solidFill>
            <a:srgbClr val="E6F4EA"/>
          </a:solidFill>
          <a:ln w="19050">
            <a:solidFill>
              <a:srgbClr val="1E8E3E"/>
            </a:solidFill>
            <a:prstDash val="solid"/>
          </a:ln>
        </p:spPr>
      </p:sp>
      <p:sp>
        <p:nvSpPr>
          <p:cNvPr id="26" name="Text 24"/>
          <p:cNvSpPr txBox="1"/>
          <p:nvPr/>
        </p:nvSpPr>
        <p:spPr>
          <a:xfrm>
            <a:off x="9281160" y="2532888"/>
            <a:ext cx="2331720" cy="502920"/>
          </a:xfrm>
          <a:prstGeom prst="rect">
            <a:avLst/>
          </a:prstGeom>
          <a:noFill/>
          <a:ln/>
        </p:spPr>
        <p:txBody>
          <a:bodyPr wrap="square" lIns="0" tIns="0" rIns="0" bIns="0" rtlCol="0" anchor="ctr"/>
          <a:lstStyle/>
          <a:p>
            <a:pPr indent="0" marL="0">
              <a:buNone/>
            </a:pPr>
            <a:r>
              <a:rPr lang="en-US" sz="1150" b="1" dirty="0">
                <a:solidFill>
                  <a:srgbClr val="155724"/>
                </a:solidFill>
                <a:latin typeface="Calibri" pitchFamily="34" charset="0"/>
                <a:ea typeface="Calibri" pitchFamily="34" charset="-122"/>
                <a:cs typeface="Calibri" pitchFamily="34" charset="-120"/>
              </a:rPr>
              <a:t>Rider Service</a:t>
            </a:r>
            <a:endParaRPr lang="en-US" sz="1150" dirty="0"/>
          </a:p>
        </p:txBody>
      </p:sp>
      <p:sp>
        <p:nvSpPr>
          <p:cNvPr id="27" name="Text 25"/>
          <p:cNvSpPr txBox="1"/>
          <p:nvPr/>
        </p:nvSpPr>
        <p:spPr>
          <a:xfrm>
            <a:off x="9281160" y="3044952"/>
            <a:ext cx="2331720" cy="457200"/>
          </a:xfrm>
          <a:prstGeom prst="rect">
            <a:avLst/>
          </a:prstGeom>
          <a:noFill/>
          <a:ln/>
        </p:spPr>
        <p:txBody>
          <a:bodyPr wrap="square" lIns="0" tIns="0" rIns="0" bIns="0" rtlCol="0" anchor="ctr"/>
          <a:lstStyle/>
          <a:p>
            <a:pPr indent="0" marL="0">
              <a:lnSpc>
                <a:spcPct val="115000"/>
              </a:lnSpc>
              <a:buNone/>
            </a:pPr>
            <a:r>
              <a:rPr lang="en-US" sz="950" dirty="0">
                <a:solidFill>
                  <a:srgbClr val="3A6B45"/>
                </a:solidFill>
                <a:latin typeface="Calibri" pitchFamily="34" charset="0"/>
                <a:ea typeface="Calibri" pitchFamily="34" charset="-122"/>
                <a:cs typeface="Calibri" pitchFamily="34" charset="-120"/>
              </a:rPr>
              <a:t>updates pickup pool</a:t>
            </a:r>
            <a:endParaRPr lang="en-US" sz="950" dirty="0"/>
          </a:p>
        </p:txBody>
      </p:sp>
      <p:sp>
        <p:nvSpPr>
          <p:cNvPr id="28" name="Shape 26"/>
          <p:cNvSpPr/>
          <p:nvPr/>
        </p:nvSpPr>
        <p:spPr>
          <a:xfrm>
            <a:off x="9189720" y="3886200"/>
            <a:ext cx="2514600" cy="1188720"/>
          </a:xfrm>
          <a:prstGeom prst="roundRect">
            <a:avLst>
              <a:gd name="adj" fmla="val 6154"/>
            </a:avLst>
          </a:prstGeom>
          <a:solidFill>
            <a:srgbClr val="E6F4EA"/>
          </a:solidFill>
          <a:ln w="19050">
            <a:solidFill>
              <a:srgbClr val="1E8E3E"/>
            </a:solidFill>
            <a:prstDash val="solid"/>
          </a:ln>
        </p:spPr>
      </p:sp>
      <p:sp>
        <p:nvSpPr>
          <p:cNvPr id="29" name="Text 27"/>
          <p:cNvSpPr txBox="1"/>
          <p:nvPr/>
        </p:nvSpPr>
        <p:spPr>
          <a:xfrm>
            <a:off x="9281160" y="3995928"/>
            <a:ext cx="2331720" cy="502920"/>
          </a:xfrm>
          <a:prstGeom prst="rect">
            <a:avLst/>
          </a:prstGeom>
          <a:noFill/>
          <a:ln/>
        </p:spPr>
        <p:txBody>
          <a:bodyPr wrap="square" lIns="0" tIns="0" rIns="0" bIns="0" rtlCol="0" anchor="ctr"/>
          <a:lstStyle/>
          <a:p>
            <a:pPr indent="0" marL="0">
              <a:buNone/>
            </a:pPr>
            <a:r>
              <a:rPr lang="en-US" sz="1150" b="1" dirty="0">
                <a:solidFill>
                  <a:srgbClr val="155724"/>
                </a:solidFill>
                <a:latin typeface="Calibri" pitchFamily="34" charset="0"/>
                <a:ea typeface="Calibri" pitchFamily="34" charset="-122"/>
                <a:cs typeface="Calibri" pitchFamily="34" charset="-120"/>
              </a:rPr>
              <a:t>Notification Service</a:t>
            </a:r>
            <a:endParaRPr lang="en-US" sz="1150" dirty="0"/>
          </a:p>
        </p:txBody>
      </p:sp>
      <p:sp>
        <p:nvSpPr>
          <p:cNvPr id="30" name="Text 28"/>
          <p:cNvSpPr txBox="1"/>
          <p:nvPr/>
        </p:nvSpPr>
        <p:spPr>
          <a:xfrm>
            <a:off x="9281160" y="4507992"/>
            <a:ext cx="2331720" cy="457200"/>
          </a:xfrm>
          <a:prstGeom prst="rect">
            <a:avLst/>
          </a:prstGeom>
          <a:noFill/>
          <a:ln/>
        </p:spPr>
        <p:txBody>
          <a:bodyPr wrap="square" lIns="0" tIns="0" rIns="0" bIns="0" rtlCol="0" anchor="ctr"/>
          <a:lstStyle/>
          <a:p>
            <a:pPr indent="0" marL="0">
              <a:lnSpc>
                <a:spcPct val="115000"/>
              </a:lnSpc>
              <a:buNone/>
            </a:pPr>
            <a:r>
              <a:rPr lang="en-US" sz="950" dirty="0">
                <a:solidFill>
                  <a:srgbClr val="3A6B45"/>
                </a:solidFill>
                <a:latin typeface="Calibri" pitchFamily="34" charset="0"/>
                <a:ea typeface="Calibri" pitchFamily="34" charset="-122"/>
                <a:cs typeface="Calibri" pitchFamily="34" charset="-120"/>
              </a:rPr>
              <a:t>records simulated alerts</a:t>
            </a:r>
            <a:endParaRPr lang="en-US" sz="950" dirty="0"/>
          </a:p>
        </p:txBody>
      </p:sp>
      <p:sp>
        <p:nvSpPr>
          <p:cNvPr id="31" name="Shape 29"/>
          <p:cNvSpPr/>
          <p:nvPr/>
        </p:nvSpPr>
        <p:spPr>
          <a:xfrm flipV="1">
            <a:off x="8915400" y="3337560"/>
            <a:ext cx="274320" cy="-1783080"/>
          </a:xfrm>
          <a:prstGeom prst="line">
            <a:avLst/>
          </a:prstGeom>
          <a:noFill/>
          <a:ln w="20320">
            <a:solidFill>
              <a:srgbClr val="5B5B5B"/>
            </a:solidFill>
            <a:prstDash val="solid"/>
            <a:tailEnd type="arrow"/>
          </a:ln>
        </p:spPr>
      </p:sp>
      <p:sp>
        <p:nvSpPr>
          <p:cNvPr id="32" name="Shape 30"/>
          <p:cNvSpPr/>
          <p:nvPr/>
        </p:nvSpPr>
        <p:spPr>
          <a:xfrm flipV="1">
            <a:off x="8915400" y="3337560"/>
            <a:ext cx="274320" cy="-320040"/>
          </a:xfrm>
          <a:prstGeom prst="line">
            <a:avLst/>
          </a:prstGeom>
          <a:noFill/>
          <a:ln w="20320">
            <a:solidFill>
              <a:srgbClr val="5B5B5B"/>
            </a:solidFill>
            <a:prstDash val="solid"/>
            <a:tailEnd type="arrow"/>
          </a:ln>
        </p:spPr>
      </p:sp>
      <p:sp>
        <p:nvSpPr>
          <p:cNvPr id="33" name="Shape 31"/>
          <p:cNvSpPr/>
          <p:nvPr/>
        </p:nvSpPr>
        <p:spPr>
          <a:xfrm>
            <a:off x="8915400" y="3337560"/>
            <a:ext cx="274320" cy="1143000"/>
          </a:xfrm>
          <a:prstGeom prst="line">
            <a:avLst/>
          </a:prstGeom>
          <a:noFill/>
          <a:ln w="20320">
            <a:solidFill>
              <a:srgbClr val="5B5B5B"/>
            </a:solidFill>
            <a:prstDash val="solid"/>
            <a:tailEnd type="arrow"/>
          </a:ln>
        </p:spPr>
      </p:sp>
      <p:sp>
        <p:nvSpPr>
          <p:cNvPr id="34" name="Shape 32"/>
          <p:cNvSpPr/>
          <p:nvPr/>
        </p:nvSpPr>
        <p:spPr>
          <a:xfrm>
            <a:off x="457200" y="5440680"/>
            <a:ext cx="11247120" cy="868680"/>
          </a:xfrm>
          <a:prstGeom prst="roundRect">
            <a:avLst>
              <a:gd name="adj" fmla="val 8421"/>
            </a:avLst>
          </a:prstGeom>
          <a:solidFill>
            <a:srgbClr val="FDECEA"/>
          </a:solidFill>
          <a:ln w="12700">
            <a:solidFill>
              <a:srgbClr val="F96167"/>
            </a:solidFill>
            <a:prstDash val="solid"/>
          </a:ln>
        </p:spPr>
      </p:sp>
      <p:sp>
        <p:nvSpPr>
          <p:cNvPr id="35" name="Text 33"/>
          <p:cNvSpPr txBox="1"/>
          <p:nvPr/>
        </p:nvSpPr>
        <p:spPr>
          <a:xfrm>
            <a:off x="685800" y="5559552"/>
            <a:ext cx="10789920" cy="640080"/>
          </a:xfrm>
          <a:prstGeom prst="rect">
            <a:avLst/>
          </a:prstGeom>
          <a:noFill/>
          <a:ln/>
        </p:spPr>
        <p:txBody>
          <a:bodyPr wrap="square" lIns="0" tIns="0" rIns="0" bIns="0" rtlCol="0" anchor="ctr"/>
          <a:lstStyle/>
          <a:p>
            <a:pPr indent="0" marL="0">
              <a:buNone/>
            </a:pPr>
            <a:r>
              <a:rPr lang="en-US" sz="1250" i="1" dirty="0">
                <a:solidFill>
                  <a:srgbClr val="7A1F1A"/>
                </a:solidFill>
                <a:latin typeface="Calibri" pitchFamily="34" charset="0"/>
                <a:ea typeface="Calibri" pitchFamily="34" charset="-122"/>
                <a:cs typeface="Calibri" pitchFamily="34" charset="-120"/>
              </a:rPr>
              <a:t>Key change: none of the three apps call each other. Every write goes through order-service → Kafka; every read comes from Kafka — removing the coupling that caused the pain point.</a:t>
            </a:r>
            <a:endParaRPr lang="en-US" sz="1250" dirty="0"/>
          </a:p>
        </p:txBody>
      </p:sp>
      <p:sp>
        <p:nvSpPr>
          <p:cNvPr id="36" name="Text 34"/>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3 · Implementation — Architecture</a:t>
            </a:r>
            <a:endParaRPr lang="en-US" sz="1000" dirty="0"/>
          </a:p>
        </p:txBody>
      </p:sp>
      <p:sp>
        <p:nvSpPr>
          <p:cNvPr id="37" name="Text 35"/>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Implementation: Order Status Lifecycle</a:t>
            </a:r>
            <a:endParaRPr lang="en-US" sz="3000" dirty="0"/>
          </a:p>
        </p:txBody>
      </p:sp>
      <p:sp>
        <p:nvSpPr>
          <p:cNvPr id="3" name="Shape 1"/>
          <p:cNvSpPr/>
          <p:nvPr/>
        </p:nvSpPr>
        <p:spPr>
          <a:xfrm>
            <a:off x="548640" y="1691640"/>
            <a:ext cx="1645920" cy="914400"/>
          </a:xfrm>
          <a:prstGeom prst="roundRect">
            <a:avLst>
              <a:gd name="adj" fmla="val 50000"/>
            </a:avLst>
          </a:prstGeom>
          <a:solidFill>
            <a:srgbClr val="2F3C7E"/>
          </a:solidFill>
          <a:ln/>
        </p:spPr>
      </p:sp>
      <p:sp>
        <p:nvSpPr>
          <p:cNvPr id="4" name="Text 2"/>
          <p:cNvSpPr txBox="1"/>
          <p:nvPr/>
        </p:nvSpPr>
        <p:spPr>
          <a:xfrm>
            <a:off x="548640"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PLACED</a:t>
            </a:r>
            <a:endParaRPr lang="en-US" sz="1150" dirty="0"/>
          </a:p>
        </p:txBody>
      </p:sp>
      <p:sp>
        <p:nvSpPr>
          <p:cNvPr id="5" name="Shape 3"/>
          <p:cNvSpPr/>
          <p:nvPr/>
        </p:nvSpPr>
        <p:spPr>
          <a:xfrm>
            <a:off x="2194560" y="2148840"/>
            <a:ext cx="237744" cy="0"/>
          </a:xfrm>
          <a:prstGeom prst="line">
            <a:avLst/>
          </a:prstGeom>
          <a:noFill/>
          <a:ln w="25400">
            <a:solidFill>
              <a:srgbClr val="5B5B5B"/>
            </a:solidFill>
            <a:prstDash val="solid"/>
            <a:tailEnd type="arrow"/>
          </a:ln>
        </p:spPr>
      </p:sp>
      <p:sp>
        <p:nvSpPr>
          <p:cNvPr id="6" name="Shape 4"/>
          <p:cNvSpPr/>
          <p:nvPr/>
        </p:nvSpPr>
        <p:spPr>
          <a:xfrm>
            <a:off x="2432304" y="1691640"/>
            <a:ext cx="1645920" cy="914400"/>
          </a:xfrm>
          <a:prstGeom prst="roundRect">
            <a:avLst>
              <a:gd name="adj" fmla="val 50000"/>
            </a:avLst>
          </a:prstGeom>
          <a:solidFill>
            <a:srgbClr val="2F3C7E"/>
          </a:solidFill>
          <a:ln/>
        </p:spPr>
      </p:sp>
      <p:sp>
        <p:nvSpPr>
          <p:cNvPr id="7" name="Text 5"/>
          <p:cNvSpPr txBox="1"/>
          <p:nvPr/>
        </p:nvSpPr>
        <p:spPr>
          <a:xfrm>
            <a:off x="2432304"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CONFIRMED</a:t>
            </a:r>
            <a:endParaRPr lang="en-US" sz="1150" dirty="0"/>
          </a:p>
        </p:txBody>
      </p:sp>
      <p:sp>
        <p:nvSpPr>
          <p:cNvPr id="8" name="Shape 6"/>
          <p:cNvSpPr/>
          <p:nvPr/>
        </p:nvSpPr>
        <p:spPr>
          <a:xfrm>
            <a:off x="4078224" y="2148840"/>
            <a:ext cx="237744" cy="0"/>
          </a:xfrm>
          <a:prstGeom prst="line">
            <a:avLst/>
          </a:prstGeom>
          <a:noFill/>
          <a:ln w="25400">
            <a:solidFill>
              <a:srgbClr val="5B5B5B"/>
            </a:solidFill>
            <a:prstDash val="solid"/>
            <a:tailEnd type="arrow"/>
          </a:ln>
        </p:spPr>
      </p:sp>
      <p:sp>
        <p:nvSpPr>
          <p:cNvPr id="9" name="Shape 7"/>
          <p:cNvSpPr/>
          <p:nvPr/>
        </p:nvSpPr>
        <p:spPr>
          <a:xfrm>
            <a:off x="4315968" y="1691640"/>
            <a:ext cx="1645920" cy="914400"/>
          </a:xfrm>
          <a:prstGeom prst="roundRect">
            <a:avLst>
              <a:gd name="adj" fmla="val 50000"/>
            </a:avLst>
          </a:prstGeom>
          <a:solidFill>
            <a:srgbClr val="2F3C7E"/>
          </a:solidFill>
          <a:ln/>
        </p:spPr>
      </p:sp>
      <p:sp>
        <p:nvSpPr>
          <p:cNvPr id="10" name="Text 8"/>
          <p:cNvSpPr txBox="1"/>
          <p:nvPr/>
        </p:nvSpPr>
        <p:spPr>
          <a:xfrm>
            <a:off x="4315968"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PREPARING</a:t>
            </a:r>
            <a:endParaRPr lang="en-US" sz="1150" dirty="0"/>
          </a:p>
        </p:txBody>
      </p:sp>
      <p:sp>
        <p:nvSpPr>
          <p:cNvPr id="11" name="Shape 9"/>
          <p:cNvSpPr/>
          <p:nvPr/>
        </p:nvSpPr>
        <p:spPr>
          <a:xfrm>
            <a:off x="5961888" y="2148840"/>
            <a:ext cx="237744" cy="0"/>
          </a:xfrm>
          <a:prstGeom prst="line">
            <a:avLst/>
          </a:prstGeom>
          <a:noFill/>
          <a:ln w="25400">
            <a:solidFill>
              <a:srgbClr val="5B5B5B"/>
            </a:solidFill>
            <a:prstDash val="solid"/>
            <a:tailEnd type="arrow"/>
          </a:ln>
        </p:spPr>
      </p:sp>
      <p:sp>
        <p:nvSpPr>
          <p:cNvPr id="12" name="Shape 10"/>
          <p:cNvSpPr/>
          <p:nvPr/>
        </p:nvSpPr>
        <p:spPr>
          <a:xfrm>
            <a:off x="6199632" y="1691640"/>
            <a:ext cx="1645920" cy="914400"/>
          </a:xfrm>
          <a:prstGeom prst="roundRect">
            <a:avLst>
              <a:gd name="adj" fmla="val 50000"/>
            </a:avLst>
          </a:prstGeom>
          <a:solidFill>
            <a:srgbClr val="F96167"/>
          </a:solidFill>
          <a:ln/>
        </p:spPr>
      </p:sp>
      <p:sp>
        <p:nvSpPr>
          <p:cNvPr id="13" name="Text 11"/>
          <p:cNvSpPr txBox="1"/>
          <p:nvPr/>
        </p:nvSpPr>
        <p:spPr>
          <a:xfrm>
            <a:off x="6199632"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READY_</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FOR_PICKUP</a:t>
            </a:r>
            <a:endParaRPr lang="en-US" sz="1150" dirty="0"/>
          </a:p>
        </p:txBody>
      </p:sp>
      <p:sp>
        <p:nvSpPr>
          <p:cNvPr id="14" name="Shape 12"/>
          <p:cNvSpPr/>
          <p:nvPr/>
        </p:nvSpPr>
        <p:spPr>
          <a:xfrm>
            <a:off x="7845552" y="2148840"/>
            <a:ext cx="237744" cy="0"/>
          </a:xfrm>
          <a:prstGeom prst="line">
            <a:avLst/>
          </a:prstGeom>
          <a:noFill/>
          <a:ln w="25400">
            <a:solidFill>
              <a:srgbClr val="5B5B5B"/>
            </a:solidFill>
            <a:prstDash val="solid"/>
            <a:tailEnd type="arrow"/>
          </a:ln>
        </p:spPr>
      </p:sp>
      <p:sp>
        <p:nvSpPr>
          <p:cNvPr id="15" name="Shape 13"/>
          <p:cNvSpPr/>
          <p:nvPr/>
        </p:nvSpPr>
        <p:spPr>
          <a:xfrm>
            <a:off x="8083296" y="1691640"/>
            <a:ext cx="1645920" cy="914400"/>
          </a:xfrm>
          <a:prstGeom prst="roundRect">
            <a:avLst>
              <a:gd name="adj" fmla="val 50000"/>
            </a:avLst>
          </a:prstGeom>
          <a:solidFill>
            <a:srgbClr val="2F3C7E"/>
          </a:solidFill>
          <a:ln/>
        </p:spPr>
      </p:sp>
      <p:sp>
        <p:nvSpPr>
          <p:cNvPr id="16" name="Text 14"/>
          <p:cNvSpPr txBox="1"/>
          <p:nvPr/>
        </p:nvSpPr>
        <p:spPr>
          <a:xfrm>
            <a:off x="8083296"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PICKED_UP</a:t>
            </a:r>
            <a:endParaRPr lang="en-US" sz="1150" dirty="0"/>
          </a:p>
        </p:txBody>
      </p:sp>
      <p:sp>
        <p:nvSpPr>
          <p:cNvPr id="17" name="Shape 15"/>
          <p:cNvSpPr/>
          <p:nvPr/>
        </p:nvSpPr>
        <p:spPr>
          <a:xfrm>
            <a:off x="9729216" y="2148840"/>
            <a:ext cx="237744" cy="0"/>
          </a:xfrm>
          <a:prstGeom prst="line">
            <a:avLst/>
          </a:prstGeom>
          <a:noFill/>
          <a:ln w="25400">
            <a:solidFill>
              <a:srgbClr val="5B5B5B"/>
            </a:solidFill>
            <a:prstDash val="solid"/>
            <a:tailEnd type="arrow"/>
          </a:ln>
        </p:spPr>
      </p:sp>
      <p:sp>
        <p:nvSpPr>
          <p:cNvPr id="18" name="Shape 16"/>
          <p:cNvSpPr/>
          <p:nvPr/>
        </p:nvSpPr>
        <p:spPr>
          <a:xfrm>
            <a:off x="9966960" y="1691640"/>
            <a:ext cx="1645920" cy="914400"/>
          </a:xfrm>
          <a:prstGeom prst="roundRect">
            <a:avLst>
              <a:gd name="adj" fmla="val 50000"/>
            </a:avLst>
          </a:prstGeom>
          <a:solidFill>
            <a:srgbClr val="2F3C7E"/>
          </a:solidFill>
          <a:ln/>
        </p:spPr>
      </p:sp>
      <p:sp>
        <p:nvSpPr>
          <p:cNvPr id="19" name="Text 17"/>
          <p:cNvSpPr txBox="1"/>
          <p:nvPr/>
        </p:nvSpPr>
        <p:spPr>
          <a:xfrm>
            <a:off x="9966960" y="1691640"/>
            <a:ext cx="1645920" cy="9144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DELIVERED</a:t>
            </a:r>
            <a:endParaRPr lang="en-US" sz="1150" dirty="0"/>
          </a:p>
        </p:txBody>
      </p:sp>
      <p:sp>
        <p:nvSpPr>
          <p:cNvPr id="20" name="Text 18"/>
          <p:cNvSpPr txBox="1"/>
          <p:nvPr/>
        </p:nvSpPr>
        <p:spPr>
          <a:xfrm>
            <a:off x="548640" y="2788920"/>
            <a:ext cx="11064240" cy="502920"/>
          </a:xfrm>
          <a:prstGeom prst="rect">
            <a:avLst/>
          </a:prstGeom>
          <a:noFill/>
          <a:ln/>
        </p:spPr>
        <p:txBody>
          <a:bodyPr wrap="square" lIns="0" tIns="0" rIns="0" bIns="0" rtlCol="0" anchor="ctr"/>
          <a:lstStyle/>
          <a:p>
            <a:pPr indent="0" marL="0">
              <a:lnSpc>
                <a:spcPct val="120000"/>
              </a:lnSpc>
              <a:buNone/>
            </a:pPr>
            <a:r>
              <a:rPr lang="en-US" sz="1250" i="1" dirty="0">
                <a:solidFill>
                  <a:srgbClr val="5B5B5B"/>
                </a:solidFill>
                <a:latin typeface="Calibri" pitchFamily="34" charset="0"/>
                <a:ea typeface="Calibri" pitchFamily="34" charset="-122"/>
                <a:cs typeface="Calibri" pitchFamily="34" charset="-120"/>
              </a:rPr>
              <a:t>PLACED comes from the customer app. CONFIRMED/PREPARING/READY_FOR_PICKUP come from the restaurant app. PICKED_UP/DELIVERED come from the rider app. Every transition still publishes one Kafka event.</a:t>
            </a:r>
            <a:endParaRPr lang="en-US" sz="1250" dirty="0"/>
          </a:p>
        </p:txBody>
      </p:sp>
      <p:sp>
        <p:nvSpPr>
          <p:cNvPr id="21" name="Shape 19"/>
          <p:cNvSpPr/>
          <p:nvPr/>
        </p:nvSpPr>
        <p:spPr>
          <a:xfrm>
            <a:off x="548640" y="3474720"/>
            <a:ext cx="11064240" cy="2697480"/>
          </a:xfrm>
          <a:prstGeom prst="roundRect">
            <a:avLst>
              <a:gd name="adj" fmla="val 2712"/>
            </a:avLst>
          </a:prstGeom>
          <a:solidFill>
            <a:srgbClr val="F7F8FC"/>
          </a:solidFill>
          <a:ln w="12700">
            <a:solidFill>
              <a:srgbClr val="DADFEE"/>
            </a:solidFill>
            <a:prstDash val="solid"/>
          </a:ln>
        </p:spPr>
      </p:sp>
      <p:sp>
        <p:nvSpPr>
          <p:cNvPr id="22" name="Text 20"/>
          <p:cNvSpPr txBox="1"/>
          <p:nvPr/>
        </p:nvSpPr>
        <p:spPr>
          <a:xfrm>
            <a:off x="822960" y="3657600"/>
            <a:ext cx="7315200" cy="320040"/>
          </a:xfrm>
          <a:prstGeom prst="rect">
            <a:avLst/>
          </a:prstGeom>
          <a:noFill/>
          <a:ln/>
        </p:spPr>
        <p:txBody>
          <a:bodyPr wrap="square" lIns="0" tIns="0" rIns="0" bIns="0" rtlCol="0" anchor="ctr"/>
          <a:lstStyle/>
          <a:p>
            <a:pPr indent="0" marL="0">
              <a:buNone/>
            </a:pPr>
            <a:r>
              <a:rPr lang="en-US" sz="1350" b="1" dirty="0">
                <a:solidFill>
                  <a:srgbClr val="2F3C7E"/>
                </a:solidFill>
                <a:latin typeface="Calibri" pitchFamily="34" charset="0"/>
                <a:ea typeface="Calibri" pitchFamily="34" charset="-122"/>
                <a:cs typeface="Calibri" pitchFamily="34" charset="-120"/>
              </a:rPr>
              <a:t>What each event carries (order.status.updated payload)</a:t>
            </a:r>
            <a:endParaRPr lang="en-US" sz="1350" dirty="0"/>
          </a:p>
        </p:txBody>
      </p:sp>
      <p:sp>
        <p:nvSpPr>
          <p:cNvPr id="23" name="Shape 21"/>
          <p:cNvSpPr/>
          <p:nvPr/>
        </p:nvSpPr>
        <p:spPr>
          <a:xfrm>
            <a:off x="822960" y="4023360"/>
            <a:ext cx="5486400" cy="2011680"/>
          </a:xfrm>
          <a:prstGeom prst="roundRect">
            <a:avLst>
              <a:gd name="adj" fmla="val 2273"/>
            </a:avLst>
          </a:prstGeom>
          <a:solidFill>
            <a:srgbClr val="1E2A44"/>
          </a:solidFill>
          <a:ln/>
        </p:spPr>
      </p:sp>
      <p:sp>
        <p:nvSpPr>
          <p:cNvPr id="24" name="Text 22"/>
          <p:cNvSpPr txBox="1"/>
          <p:nvPr/>
        </p:nvSpPr>
        <p:spPr>
          <a:xfrm>
            <a:off x="1005840" y="4133088"/>
            <a:ext cx="5212080" cy="1828800"/>
          </a:xfrm>
          <a:prstGeom prst="rect">
            <a:avLst/>
          </a:prstGeom>
          <a:noFill/>
          <a:ln/>
        </p:spPr>
        <p:txBody>
          <a:bodyPr wrap="square" lIns="0" tIns="0" rIns="0" bIns="0" rtlCol="0" anchor="ctr"/>
          <a:lstStyle/>
          <a:p>
            <a:pPr indent="0" marL="0">
              <a:lnSpc>
                <a:spcPct val="115000"/>
              </a:lnSpc>
              <a:buNone/>
            </a:pPr>
            <a:r>
              <a:rPr lang="en-US" sz="1150" dirty="0">
                <a:solidFill>
                  <a:srgbClr val="9FB3E8"/>
                </a:solidFill>
                <a:latin typeface="Courier New" pitchFamily="34" charset="0"/>
                <a:ea typeface="Courier New" pitchFamily="34" charset="-122"/>
                <a:cs typeface="Courier New" pitchFamily="34" charset="-120"/>
              </a:rPr>
              <a:t>{
</a:t>
            </a:r>
            <a:pPr indent="0" marL="0">
              <a:lnSpc>
                <a:spcPct val="115000"/>
              </a:lnSpc>
              <a:buNone/>
            </a:pPr>
            <a:r>
              <a:rPr lang="en-US" sz="1150" dirty="0">
                <a:solidFill>
                  <a:srgbClr val="E8ECFA"/>
                </a:solidFill>
                <a:latin typeface="Courier New" pitchFamily="34" charset="0"/>
                <a:ea typeface="Courier New" pitchFamily="34" charset="-122"/>
                <a:cs typeface="Courier New" pitchFamily="34" charset="-120"/>
              </a:rPr>
              <a:t>  "orderId": 1,
</a:t>
            </a:r>
            <a:pPr indent="0" marL="0">
              <a:lnSpc>
                <a:spcPct val="115000"/>
              </a:lnSpc>
              <a:buNone/>
            </a:pPr>
            <a:r>
              <a:rPr lang="en-US" sz="1150" dirty="0">
                <a:solidFill>
                  <a:srgbClr val="E8ECFA"/>
                </a:solidFill>
                <a:latin typeface="Courier New" pitchFamily="34" charset="0"/>
                <a:ea typeface="Courier New" pitchFamily="34" charset="-122"/>
                <a:cs typeface="Courier New" pitchFamily="34" charset="-120"/>
              </a:rPr>
              <a:t>  "restaurantId": "resto-1",
</a:t>
            </a:r>
            <a:pPr indent="0" marL="0">
              <a:lnSpc>
                <a:spcPct val="115000"/>
              </a:lnSpc>
              <a:buNone/>
            </a:pPr>
            <a:r>
              <a:rPr lang="en-US" sz="1150" dirty="0">
                <a:solidFill>
                  <a:srgbClr val="E8ECFA"/>
                </a:solidFill>
                <a:latin typeface="Courier New" pitchFamily="34" charset="0"/>
                <a:ea typeface="Courier New" pitchFamily="34" charset="-122"/>
                <a:cs typeface="Courier New" pitchFamily="34" charset="-120"/>
              </a:rPr>
              <a:t>  "customerId": "Aye Chan",
</a:t>
            </a:r>
            <a:pPr indent="0" marL="0">
              <a:lnSpc>
                <a:spcPct val="115000"/>
              </a:lnSpc>
              <a:buNone/>
            </a:pPr>
            <a:r>
              <a:rPr lang="en-US" sz="1150" dirty="0">
                <a:solidFill>
                  <a:srgbClr val="E8ECFA"/>
                </a:solidFill>
                <a:latin typeface="Courier New" pitchFamily="34" charset="0"/>
                <a:ea typeface="Courier New" pitchFamily="34" charset="-122"/>
                <a:cs typeface="Courier New" pitchFamily="34" charset="-120"/>
              </a:rPr>
              <a:t>  "riderId": "Ren-12",
</a:t>
            </a:r>
            <a:pPr indent="0" marL="0">
              <a:lnSpc>
                <a:spcPct val="115000"/>
              </a:lnSpc>
              <a:buNone/>
            </a:pPr>
            <a:r>
              <a:rPr lang="en-US" sz="1150" b="1" dirty="0">
                <a:solidFill>
                  <a:srgbClr val="F9E795"/>
                </a:solidFill>
                <a:latin typeface="Courier New" pitchFamily="34" charset="0"/>
                <a:ea typeface="Courier New" pitchFamily="34" charset="-122"/>
                <a:cs typeface="Courier New" pitchFamily="34" charset="-120"/>
              </a:rPr>
              <a:t>  "status": "READY_FOR_PICKUP",
</a:t>
            </a:r>
            <a:pPr indent="0" marL="0">
              <a:lnSpc>
                <a:spcPct val="115000"/>
              </a:lnSpc>
              <a:buNone/>
            </a:pPr>
            <a:r>
              <a:rPr lang="en-US" sz="1150" dirty="0">
                <a:solidFill>
                  <a:srgbClr val="E8ECFA"/>
                </a:solidFill>
                <a:latin typeface="Courier New" pitchFamily="34" charset="0"/>
                <a:ea typeface="Courier New" pitchFamily="34" charset="-122"/>
                <a:cs typeface="Courier New" pitchFamily="34" charset="-120"/>
              </a:rPr>
              <a:t>  "updatedAt": "2026-09-22T14:37:03.6Z"
</a:t>
            </a:r>
            <a:pPr indent="0" marL="0">
              <a:lnSpc>
                <a:spcPct val="115000"/>
              </a:lnSpc>
              <a:buNone/>
            </a:pPr>
            <a:r>
              <a:rPr lang="en-US" sz="1150" dirty="0">
                <a:solidFill>
                  <a:srgbClr val="9FB3E8"/>
                </a:solidFill>
                <a:latin typeface="Courier New" pitchFamily="34" charset="0"/>
                <a:ea typeface="Courier New" pitchFamily="34" charset="-122"/>
                <a:cs typeface="Courier New" pitchFamily="34" charset="-120"/>
              </a:rPr>
              <a:t>}</a:t>
            </a:r>
            <a:endParaRPr lang="en-US" sz="1150" dirty="0"/>
          </a:p>
        </p:txBody>
      </p:sp>
      <p:sp>
        <p:nvSpPr>
          <p:cNvPr id="25" name="Text 23"/>
          <p:cNvSpPr txBox="1"/>
          <p:nvPr/>
        </p:nvSpPr>
        <p:spPr>
          <a:xfrm>
            <a:off x="6492240" y="3657600"/>
            <a:ext cx="4846320" cy="320040"/>
          </a:xfrm>
          <a:prstGeom prst="rect">
            <a:avLst/>
          </a:prstGeom>
          <a:noFill/>
          <a:ln/>
        </p:spPr>
        <p:txBody>
          <a:bodyPr wrap="square" lIns="0" tIns="0" rIns="0" bIns="0" rtlCol="0" anchor="ctr"/>
          <a:lstStyle/>
          <a:p>
            <a:pPr indent="0" marL="0">
              <a:buNone/>
            </a:pPr>
            <a:r>
              <a:rPr lang="en-US" sz="1350" b="1" dirty="0">
                <a:solidFill>
                  <a:srgbClr val="2F3C7E"/>
                </a:solidFill>
                <a:latin typeface="Calibri" pitchFamily="34" charset="0"/>
                <a:ea typeface="Calibri" pitchFamily="34" charset="-122"/>
                <a:cs typeface="Calibri" pitchFamily="34" charset="-120"/>
              </a:rPr>
              <a:t>Why this matters</a:t>
            </a:r>
            <a:endParaRPr lang="en-US" sz="1350" dirty="0"/>
          </a:p>
        </p:txBody>
      </p:sp>
      <p:sp>
        <p:nvSpPr>
          <p:cNvPr id="26" name="Text 24"/>
          <p:cNvSpPr txBox="1"/>
          <p:nvPr/>
        </p:nvSpPr>
        <p:spPr>
          <a:xfrm>
            <a:off x="6492240" y="4023360"/>
            <a:ext cx="4846320" cy="1828800"/>
          </a:xfrm>
          <a:prstGeom prst="rect">
            <a:avLst/>
          </a:prstGeom>
          <a:noFill/>
          <a:ln/>
        </p:spPr>
        <p:txBody>
          <a:bodyPr wrap="square" lIns="0" tIns="0" rIns="0" bIns="0" rtlCol="0" anchor="ctr"/>
          <a:lstStyle/>
          <a:p>
            <a:pPr indent="0" marL="0">
              <a:lnSpc>
                <a:spcPct val="125000"/>
              </a:lnSpc>
              <a:buNone/>
            </a:pPr>
            <a:r>
              <a:rPr lang="en-US" sz="1250" dirty="0">
                <a:solidFill>
                  <a:srgbClr val="222222"/>
                </a:solidFill>
                <a:latin typeface="Calibri" pitchFamily="34" charset="0"/>
                <a:ea typeface="Calibri" pitchFamily="34" charset="-122"/>
                <a:cs typeface="Calibri" pitchFamily="34" charset="-120"/>
              </a:rPr>
              <a:t>customer-service, rider-service, and notification-service all read this same event independently. None of them ask order-service for it — they just consume the topic, which means a slow or restarting consumer never blocks the others.</a:t>
            </a:r>
            <a:endParaRPr lang="en-US" sz="1250" dirty="0"/>
          </a:p>
        </p:txBody>
      </p:sp>
      <p:sp>
        <p:nvSpPr>
          <p:cNvPr id="27" name="Text 25"/>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3 · Implementation — Event Flow</a:t>
            </a:r>
            <a:endParaRPr lang="en-US" sz="1000" dirty="0"/>
          </a:p>
        </p:txBody>
      </p:sp>
      <p:sp>
        <p:nvSpPr>
          <p:cNvPr id="28" name="Text 26"/>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Implementation: Tech Stack &amp; Runnable Code</a:t>
            </a:r>
            <a:endParaRPr lang="en-US" sz="3000" dirty="0"/>
          </a:p>
        </p:txBody>
      </p:sp>
      <p:sp>
        <p:nvSpPr>
          <p:cNvPr id="3" name="Shape 1"/>
          <p:cNvSpPr/>
          <p:nvPr/>
        </p:nvSpPr>
        <p:spPr>
          <a:xfrm>
            <a:off x="548640" y="1188720"/>
            <a:ext cx="5303520" cy="932688"/>
          </a:xfrm>
          <a:prstGeom prst="roundRect">
            <a:avLst>
              <a:gd name="adj" fmla="val 7843"/>
            </a:avLst>
          </a:prstGeom>
          <a:solidFill>
            <a:srgbClr val="F7F8FC"/>
          </a:solidFill>
          <a:ln w="12700">
            <a:solidFill>
              <a:srgbClr val="DADFEE"/>
            </a:solidFill>
            <a:prstDash val="solid"/>
          </a:ln>
        </p:spPr>
      </p:sp>
      <p:sp>
        <p:nvSpPr>
          <p:cNvPr id="4" name="Shape 2"/>
          <p:cNvSpPr/>
          <p:nvPr/>
        </p:nvSpPr>
        <p:spPr>
          <a:xfrm>
            <a:off x="713232" y="1362456"/>
            <a:ext cx="530352" cy="530352"/>
          </a:xfrm>
          <a:prstGeom prst="ellipse">
            <a:avLst/>
          </a:prstGeom>
          <a:solidFill>
            <a:srgbClr val="2F3C7E"/>
          </a:solidFill>
          <a:ln/>
        </p:spPr>
      </p:sp>
      <p:sp>
        <p:nvSpPr>
          <p:cNvPr id="5" name="Text 3"/>
          <p:cNvSpPr txBox="1"/>
          <p:nvPr/>
        </p:nvSpPr>
        <p:spPr>
          <a:xfrm>
            <a:off x="713232" y="136245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417320" y="126187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Apache Kafka</a:t>
            </a:r>
            <a:endParaRPr lang="en-US" sz="1250" dirty="0"/>
          </a:p>
        </p:txBody>
      </p:sp>
      <p:sp>
        <p:nvSpPr>
          <p:cNvPr id="7" name="Text 5"/>
          <p:cNvSpPr txBox="1"/>
          <p:nvPr/>
        </p:nvSpPr>
        <p:spPr>
          <a:xfrm>
            <a:off x="1417320" y="155448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Event-streaming platform — single-node KRaft mode, no Zookeeper.</a:t>
            </a:r>
            <a:endParaRPr lang="en-US" sz="980" dirty="0"/>
          </a:p>
        </p:txBody>
      </p:sp>
      <p:sp>
        <p:nvSpPr>
          <p:cNvPr id="8" name="Shape 6"/>
          <p:cNvSpPr/>
          <p:nvPr/>
        </p:nvSpPr>
        <p:spPr>
          <a:xfrm>
            <a:off x="6217920" y="1188720"/>
            <a:ext cx="5303520" cy="932688"/>
          </a:xfrm>
          <a:prstGeom prst="roundRect">
            <a:avLst>
              <a:gd name="adj" fmla="val 7843"/>
            </a:avLst>
          </a:prstGeom>
          <a:solidFill>
            <a:srgbClr val="F7F8FC"/>
          </a:solidFill>
          <a:ln w="12700">
            <a:solidFill>
              <a:srgbClr val="DADFEE"/>
            </a:solidFill>
            <a:prstDash val="solid"/>
          </a:ln>
        </p:spPr>
      </p:sp>
      <p:sp>
        <p:nvSpPr>
          <p:cNvPr id="9" name="Shape 7"/>
          <p:cNvSpPr/>
          <p:nvPr/>
        </p:nvSpPr>
        <p:spPr>
          <a:xfrm>
            <a:off x="6382512" y="1362456"/>
            <a:ext cx="530352" cy="530352"/>
          </a:xfrm>
          <a:prstGeom prst="ellipse">
            <a:avLst/>
          </a:prstGeom>
          <a:solidFill>
            <a:srgbClr val="F96167"/>
          </a:solidFill>
          <a:ln/>
        </p:spPr>
      </p:sp>
      <p:sp>
        <p:nvSpPr>
          <p:cNvPr id="10" name="Text 8"/>
          <p:cNvSpPr txBox="1"/>
          <p:nvPr/>
        </p:nvSpPr>
        <p:spPr>
          <a:xfrm>
            <a:off x="6382512" y="136245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7086600" y="126187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Node.js + Express</a:t>
            </a:r>
            <a:endParaRPr lang="en-US" sz="1250" dirty="0"/>
          </a:p>
        </p:txBody>
      </p:sp>
      <p:sp>
        <p:nvSpPr>
          <p:cNvPr id="12" name="Text 10"/>
          <p:cNvSpPr txBox="1"/>
          <p:nvPr/>
        </p:nvSpPr>
        <p:spPr>
          <a:xfrm>
            <a:off x="7086600" y="155448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HTTP APIs for all four backend services.</a:t>
            </a:r>
            <a:endParaRPr lang="en-US" sz="980" dirty="0"/>
          </a:p>
        </p:txBody>
      </p:sp>
      <p:sp>
        <p:nvSpPr>
          <p:cNvPr id="13" name="Shape 11"/>
          <p:cNvSpPr/>
          <p:nvPr/>
        </p:nvSpPr>
        <p:spPr>
          <a:xfrm>
            <a:off x="548640" y="2286000"/>
            <a:ext cx="5303520" cy="932688"/>
          </a:xfrm>
          <a:prstGeom prst="roundRect">
            <a:avLst>
              <a:gd name="adj" fmla="val 7843"/>
            </a:avLst>
          </a:prstGeom>
          <a:solidFill>
            <a:srgbClr val="F7F8FC"/>
          </a:solidFill>
          <a:ln w="12700">
            <a:solidFill>
              <a:srgbClr val="DADFEE"/>
            </a:solidFill>
            <a:prstDash val="solid"/>
          </a:ln>
        </p:spPr>
      </p:sp>
      <p:sp>
        <p:nvSpPr>
          <p:cNvPr id="14" name="Shape 12"/>
          <p:cNvSpPr/>
          <p:nvPr/>
        </p:nvSpPr>
        <p:spPr>
          <a:xfrm>
            <a:off x="713232" y="2459736"/>
            <a:ext cx="530352" cy="530352"/>
          </a:xfrm>
          <a:prstGeom prst="ellipse">
            <a:avLst/>
          </a:prstGeom>
          <a:solidFill>
            <a:srgbClr val="2F3C7E"/>
          </a:solidFill>
          <a:ln/>
        </p:spPr>
      </p:sp>
      <p:sp>
        <p:nvSpPr>
          <p:cNvPr id="15" name="Text 13"/>
          <p:cNvSpPr txBox="1"/>
          <p:nvPr/>
        </p:nvSpPr>
        <p:spPr>
          <a:xfrm>
            <a:off x="713232" y="245973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417320" y="235915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KafkaJS</a:t>
            </a:r>
            <a:endParaRPr lang="en-US" sz="1250" dirty="0"/>
          </a:p>
        </p:txBody>
      </p:sp>
      <p:sp>
        <p:nvSpPr>
          <p:cNvPr id="17" name="Text 15"/>
          <p:cNvSpPr txBox="1"/>
          <p:nvPr/>
        </p:nvSpPr>
        <p:spPr>
          <a:xfrm>
            <a:off x="1417320" y="265176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Kafka client library used by every service to produce/consume.</a:t>
            </a:r>
            <a:endParaRPr lang="en-US" sz="980" dirty="0"/>
          </a:p>
        </p:txBody>
      </p:sp>
      <p:sp>
        <p:nvSpPr>
          <p:cNvPr id="18" name="Shape 16"/>
          <p:cNvSpPr/>
          <p:nvPr/>
        </p:nvSpPr>
        <p:spPr>
          <a:xfrm>
            <a:off x="6217920" y="2286000"/>
            <a:ext cx="5303520" cy="932688"/>
          </a:xfrm>
          <a:prstGeom prst="roundRect">
            <a:avLst>
              <a:gd name="adj" fmla="val 7843"/>
            </a:avLst>
          </a:prstGeom>
          <a:solidFill>
            <a:srgbClr val="F7F8FC"/>
          </a:solidFill>
          <a:ln w="12700">
            <a:solidFill>
              <a:srgbClr val="DADFEE"/>
            </a:solidFill>
            <a:prstDash val="solid"/>
          </a:ln>
        </p:spPr>
      </p:sp>
      <p:sp>
        <p:nvSpPr>
          <p:cNvPr id="19" name="Shape 17"/>
          <p:cNvSpPr/>
          <p:nvPr/>
        </p:nvSpPr>
        <p:spPr>
          <a:xfrm>
            <a:off x="6382512" y="2459736"/>
            <a:ext cx="530352" cy="530352"/>
          </a:xfrm>
          <a:prstGeom prst="ellipse">
            <a:avLst/>
          </a:prstGeom>
          <a:solidFill>
            <a:srgbClr val="F96167"/>
          </a:solidFill>
          <a:ln/>
        </p:spPr>
      </p:sp>
      <p:sp>
        <p:nvSpPr>
          <p:cNvPr id="20" name="Text 18"/>
          <p:cNvSpPr txBox="1"/>
          <p:nvPr/>
        </p:nvSpPr>
        <p:spPr>
          <a:xfrm>
            <a:off x="6382512" y="245973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7086600" y="235915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Docker Compose</a:t>
            </a:r>
            <a:endParaRPr lang="en-US" sz="1250" dirty="0"/>
          </a:p>
        </p:txBody>
      </p:sp>
      <p:sp>
        <p:nvSpPr>
          <p:cNvPr id="22" name="Text 20"/>
          <p:cNvSpPr txBox="1"/>
          <p:nvPr/>
        </p:nvSpPr>
        <p:spPr>
          <a:xfrm>
            <a:off x="7086600" y="265176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One command brings up Kafka, Kafka UI, and every service.</a:t>
            </a:r>
            <a:endParaRPr lang="en-US" sz="980" dirty="0"/>
          </a:p>
        </p:txBody>
      </p:sp>
      <p:sp>
        <p:nvSpPr>
          <p:cNvPr id="23" name="Shape 21"/>
          <p:cNvSpPr/>
          <p:nvPr/>
        </p:nvSpPr>
        <p:spPr>
          <a:xfrm>
            <a:off x="548640" y="3383280"/>
            <a:ext cx="5303520" cy="932688"/>
          </a:xfrm>
          <a:prstGeom prst="roundRect">
            <a:avLst>
              <a:gd name="adj" fmla="val 7843"/>
            </a:avLst>
          </a:prstGeom>
          <a:solidFill>
            <a:srgbClr val="F7F8FC"/>
          </a:solidFill>
          <a:ln w="12700">
            <a:solidFill>
              <a:srgbClr val="DADFEE"/>
            </a:solidFill>
            <a:prstDash val="solid"/>
          </a:ln>
        </p:spPr>
      </p:sp>
      <p:sp>
        <p:nvSpPr>
          <p:cNvPr id="24" name="Shape 22"/>
          <p:cNvSpPr/>
          <p:nvPr/>
        </p:nvSpPr>
        <p:spPr>
          <a:xfrm>
            <a:off x="713232" y="3557016"/>
            <a:ext cx="530352" cy="530352"/>
          </a:xfrm>
          <a:prstGeom prst="ellipse">
            <a:avLst/>
          </a:prstGeom>
          <a:solidFill>
            <a:srgbClr val="2F3C7E"/>
          </a:solidFill>
          <a:ln/>
        </p:spPr>
      </p:sp>
      <p:sp>
        <p:nvSpPr>
          <p:cNvPr id="25" name="Text 23"/>
          <p:cNvSpPr txBox="1"/>
          <p:nvPr/>
        </p:nvSpPr>
        <p:spPr>
          <a:xfrm>
            <a:off x="713232" y="355701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417320" y="345643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Kafka UI</a:t>
            </a:r>
            <a:endParaRPr lang="en-US" sz="1250" dirty="0"/>
          </a:p>
        </p:txBody>
      </p:sp>
      <p:sp>
        <p:nvSpPr>
          <p:cNvPr id="27" name="Text 25"/>
          <p:cNvSpPr txBox="1"/>
          <p:nvPr/>
        </p:nvSpPr>
        <p:spPr>
          <a:xfrm>
            <a:off x="1417320" y="374904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Visual proof during the demo: live topic &amp; consumer-group offsets.</a:t>
            </a:r>
            <a:endParaRPr lang="en-US" sz="980" dirty="0"/>
          </a:p>
        </p:txBody>
      </p:sp>
      <p:sp>
        <p:nvSpPr>
          <p:cNvPr id="28" name="Shape 26"/>
          <p:cNvSpPr/>
          <p:nvPr/>
        </p:nvSpPr>
        <p:spPr>
          <a:xfrm>
            <a:off x="6217920" y="3383280"/>
            <a:ext cx="5303520" cy="932688"/>
          </a:xfrm>
          <a:prstGeom prst="roundRect">
            <a:avLst>
              <a:gd name="adj" fmla="val 7843"/>
            </a:avLst>
          </a:prstGeom>
          <a:solidFill>
            <a:srgbClr val="F7F8FC"/>
          </a:solidFill>
          <a:ln w="12700">
            <a:solidFill>
              <a:srgbClr val="DADFEE"/>
            </a:solidFill>
            <a:prstDash val="solid"/>
          </a:ln>
        </p:spPr>
      </p:sp>
      <p:sp>
        <p:nvSpPr>
          <p:cNvPr id="29" name="Shape 27"/>
          <p:cNvSpPr/>
          <p:nvPr/>
        </p:nvSpPr>
        <p:spPr>
          <a:xfrm>
            <a:off x="6382512" y="3557016"/>
            <a:ext cx="530352" cy="530352"/>
          </a:xfrm>
          <a:prstGeom prst="ellipse">
            <a:avLst/>
          </a:prstGeom>
          <a:solidFill>
            <a:srgbClr val="F96167"/>
          </a:solidFill>
          <a:ln/>
        </p:spPr>
      </p:sp>
      <p:sp>
        <p:nvSpPr>
          <p:cNvPr id="30" name="Text 28"/>
          <p:cNvSpPr txBox="1"/>
          <p:nvPr/>
        </p:nvSpPr>
        <p:spPr>
          <a:xfrm>
            <a:off x="6382512" y="355701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1" name="Text 29"/>
          <p:cNvSpPr txBox="1"/>
          <p:nvPr/>
        </p:nvSpPr>
        <p:spPr>
          <a:xfrm>
            <a:off x="7086600" y="345643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Web Dashboard</a:t>
            </a:r>
            <a:endParaRPr lang="en-US" sz="1250" dirty="0"/>
          </a:p>
        </p:txBody>
      </p:sp>
      <p:sp>
        <p:nvSpPr>
          <p:cNvPr id="32" name="Text 30"/>
          <p:cNvSpPr txBox="1"/>
          <p:nvPr/>
        </p:nvSpPr>
        <p:spPr>
          <a:xfrm>
            <a:off x="7086600" y="374904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3 role-based apps — Customer, Restaurant, Rider — each with sign-in, at localhost:8081.</a:t>
            </a:r>
            <a:endParaRPr lang="en-US" sz="980" dirty="0"/>
          </a:p>
        </p:txBody>
      </p:sp>
      <p:sp>
        <p:nvSpPr>
          <p:cNvPr id="33" name="Shape 31"/>
          <p:cNvSpPr/>
          <p:nvPr/>
        </p:nvSpPr>
        <p:spPr>
          <a:xfrm>
            <a:off x="548640" y="4480560"/>
            <a:ext cx="5303520" cy="932688"/>
          </a:xfrm>
          <a:prstGeom prst="roundRect">
            <a:avLst>
              <a:gd name="adj" fmla="val 7843"/>
            </a:avLst>
          </a:prstGeom>
          <a:solidFill>
            <a:srgbClr val="F7F8FC"/>
          </a:solidFill>
          <a:ln w="12700">
            <a:solidFill>
              <a:srgbClr val="DADFEE"/>
            </a:solidFill>
            <a:prstDash val="solid"/>
          </a:ln>
        </p:spPr>
      </p:sp>
      <p:sp>
        <p:nvSpPr>
          <p:cNvPr id="34" name="Shape 32"/>
          <p:cNvSpPr/>
          <p:nvPr/>
        </p:nvSpPr>
        <p:spPr>
          <a:xfrm>
            <a:off x="713232" y="4654296"/>
            <a:ext cx="530352" cy="530352"/>
          </a:xfrm>
          <a:prstGeom prst="ellipse">
            <a:avLst/>
          </a:prstGeom>
          <a:solidFill>
            <a:srgbClr val="2F3C7E"/>
          </a:solidFill>
          <a:ln/>
        </p:spPr>
      </p:sp>
      <p:sp>
        <p:nvSpPr>
          <p:cNvPr id="35" name="Text 33"/>
          <p:cNvSpPr txBox="1"/>
          <p:nvPr/>
        </p:nvSpPr>
        <p:spPr>
          <a:xfrm>
            <a:off x="713232" y="4654296"/>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6" name="Text 34"/>
          <p:cNvSpPr txBox="1"/>
          <p:nvPr/>
        </p:nvSpPr>
        <p:spPr>
          <a:xfrm>
            <a:off x="1417320" y="4553712"/>
            <a:ext cx="4251960" cy="274320"/>
          </a:xfrm>
          <a:prstGeom prst="rect">
            <a:avLst/>
          </a:prstGeom>
          <a:noFill/>
          <a:ln/>
        </p:spPr>
        <p:txBody>
          <a:bodyPr wrap="square" lIns="0" tIns="0" rIns="0" bIns="0" rtlCol="0" anchor="ctr"/>
          <a:lstStyle/>
          <a:p>
            <a:pPr indent="0" marL="0">
              <a:buNone/>
            </a:pPr>
            <a:r>
              <a:rPr lang="en-US" sz="1250" b="1" dirty="0">
                <a:solidFill>
                  <a:srgbClr val="2F3C7E"/>
                </a:solidFill>
                <a:latin typeface="Calibri" pitchFamily="34" charset="0"/>
                <a:ea typeface="Calibri" pitchFamily="34" charset="-122"/>
                <a:cs typeface="Calibri" pitchFamily="34" charset="-120"/>
              </a:rPr>
              <a:t>GitHub</a:t>
            </a:r>
            <a:endParaRPr lang="en-US" sz="1250" dirty="0"/>
          </a:p>
        </p:txBody>
      </p:sp>
      <p:sp>
        <p:nvSpPr>
          <p:cNvPr id="37" name="Text 35"/>
          <p:cNvSpPr txBox="1"/>
          <p:nvPr/>
        </p:nvSpPr>
        <p:spPr>
          <a:xfrm>
            <a:off x="1417320" y="4846320"/>
            <a:ext cx="4297680" cy="530352"/>
          </a:xfrm>
          <a:prstGeom prst="rect">
            <a:avLst/>
          </a:prstGeom>
          <a:noFill/>
          <a:ln/>
        </p:spPr>
        <p:txBody>
          <a:bodyPr wrap="square" lIns="0" tIns="0" rIns="0" bIns="0" rtlCol="0" anchor="ctr"/>
          <a:lstStyle/>
          <a:p>
            <a:pPr indent="0" marL="0">
              <a:lnSpc>
                <a:spcPct val="108000"/>
              </a:lnSpc>
              <a:buNone/>
            </a:pPr>
            <a:r>
              <a:rPr lang="en-US" sz="980" dirty="0">
                <a:solidFill>
                  <a:srgbClr val="5B5B5B"/>
                </a:solidFill>
                <a:latin typeface="Calibri" pitchFamily="34" charset="0"/>
                <a:ea typeface="Calibri" pitchFamily="34" charset="-122"/>
                <a:cs typeface="Calibri" pitchFamily="34" charset="-120"/>
              </a:rPr>
              <a:t>Full runnable source, README, and demo script.</a:t>
            </a:r>
            <a:endParaRPr lang="en-US" sz="980" dirty="0"/>
          </a:p>
        </p:txBody>
      </p:sp>
      <p:sp>
        <p:nvSpPr>
          <p:cNvPr id="38" name="Shape 36"/>
          <p:cNvSpPr/>
          <p:nvPr/>
        </p:nvSpPr>
        <p:spPr>
          <a:xfrm>
            <a:off x="548640" y="5806440"/>
            <a:ext cx="11064240" cy="685800"/>
          </a:xfrm>
          <a:prstGeom prst="roundRect">
            <a:avLst>
              <a:gd name="adj" fmla="val 10667"/>
            </a:avLst>
          </a:prstGeom>
          <a:solidFill>
            <a:srgbClr val="2F3C7E"/>
          </a:solidFill>
          <a:ln/>
        </p:spPr>
      </p:sp>
      <p:sp>
        <p:nvSpPr>
          <p:cNvPr id="39" name="Text 37"/>
          <p:cNvSpPr txBox="1"/>
          <p:nvPr/>
        </p:nvSpPr>
        <p:spPr>
          <a:xfrm>
            <a:off x="822960" y="5806440"/>
            <a:ext cx="10607040" cy="6858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GitHub repo: </a:t>
            </a:r>
            <a:pPr indent="0" marL="0">
              <a:buNone/>
            </a:pPr>
            <a:r>
              <a:rPr lang="en-US" sz="1200" dirty="0">
                <a:solidFill>
                  <a:srgbClr val="CADCFC"/>
                </a:solidFill>
                <a:latin typeface="Calibri" pitchFamily="34" charset="0"/>
                <a:ea typeface="Calibri" pitchFamily="34" charset="-122"/>
                <a:cs typeface="Calibri" pitchFamily="34" charset="-120"/>
              </a:rPr>
              <a:t>order-service / customer-service / rider-service / notification-service / web / docs / postman / docker-compose.yml</a:t>
            </a:r>
            <a:endParaRPr lang="en-US" sz="1200" dirty="0"/>
          </a:p>
        </p:txBody>
      </p:sp>
      <p:sp>
        <p:nvSpPr>
          <p:cNvPr id="40" name="Text 38"/>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3 · Implementation — Tech Stack</a:t>
            </a:r>
            <a:endParaRPr lang="en-US" sz="1000" dirty="0"/>
          </a:p>
        </p:txBody>
      </p:sp>
      <p:sp>
        <p:nvSpPr>
          <p:cNvPr id="41" name="Text 39"/>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Proving the Fix: Rider Service Goes Down Mid-Order</a:t>
            </a:r>
            <a:endParaRPr lang="en-US" sz="3000" dirty="0"/>
          </a:p>
        </p:txBody>
      </p:sp>
      <p:sp>
        <p:nvSpPr>
          <p:cNvPr id="3" name="Shape 1"/>
          <p:cNvSpPr/>
          <p:nvPr/>
        </p:nvSpPr>
        <p:spPr>
          <a:xfrm>
            <a:off x="548640" y="1371600"/>
            <a:ext cx="5349240" cy="4480560"/>
          </a:xfrm>
          <a:prstGeom prst="roundRect">
            <a:avLst>
              <a:gd name="adj" fmla="val 1633"/>
            </a:avLst>
          </a:prstGeom>
          <a:solidFill>
            <a:srgbClr val="FDECEA"/>
          </a:solidFill>
          <a:ln w="19050">
            <a:solidFill>
              <a:srgbClr val="F96167"/>
            </a:solidFill>
            <a:prstDash val="solid"/>
          </a:ln>
        </p:spPr>
      </p:sp>
      <p:sp>
        <p:nvSpPr>
          <p:cNvPr id="4" name="Text 2"/>
          <p:cNvSpPr txBox="1"/>
          <p:nvPr/>
        </p:nvSpPr>
        <p:spPr>
          <a:xfrm>
            <a:off x="777240" y="1536192"/>
            <a:ext cx="4892040" cy="365760"/>
          </a:xfrm>
          <a:prstGeom prst="rect">
            <a:avLst/>
          </a:prstGeom>
          <a:noFill/>
          <a:ln/>
        </p:spPr>
        <p:txBody>
          <a:bodyPr wrap="square" lIns="0" tIns="0" rIns="0" bIns="0" rtlCol="0" anchor="ctr"/>
          <a:lstStyle/>
          <a:p>
            <a:pPr indent="0" marL="0">
              <a:buNone/>
            </a:pPr>
            <a:r>
              <a:rPr lang="en-US" sz="1500" b="1" dirty="0">
                <a:solidFill>
                  <a:srgbClr val="7A1F1A"/>
                </a:solidFill>
                <a:latin typeface="Calibri" pitchFamily="34" charset="0"/>
                <a:ea typeface="Calibri" pitchFamily="34" charset="-122"/>
                <a:cs typeface="Calibri" pitchFamily="34" charset="-120"/>
              </a:rPr>
              <a:t>Direct HTTP calls (before)</a:t>
            </a:r>
            <a:endParaRPr lang="en-US" sz="1500" dirty="0"/>
          </a:p>
        </p:txBody>
      </p:sp>
      <p:sp>
        <p:nvSpPr>
          <p:cNvPr id="5" name="Text 3"/>
          <p:cNvSpPr txBox="1"/>
          <p:nvPr/>
        </p:nvSpPr>
        <p:spPr>
          <a:xfrm>
            <a:off x="868680" y="2057400"/>
            <a:ext cx="4709160" cy="548640"/>
          </a:xfrm>
          <a:prstGeom prst="rect">
            <a:avLst/>
          </a:prstGeom>
          <a:noFill/>
          <a:ln/>
        </p:spPr>
        <p:txBody>
          <a:bodyPr wrap="square" lIns="0" tIns="0" rIns="0" bIns="0" rtlCol="0" anchor="t"/>
          <a:lstStyle/>
          <a:p>
            <a:pPr indent="0" marL="0">
              <a:buNone/>
            </a:pPr>
            <a:r>
              <a:rPr lang="en-US" sz="1250" dirty="0">
                <a:solidFill>
                  <a:srgbClr val="5B1E1A"/>
                </a:solidFill>
                <a:latin typeface="Calibri" pitchFamily="34" charset="0"/>
                <a:ea typeface="Calibri" pitchFamily="34" charset="-122"/>
                <a:cs typeface="Calibri" pitchFamily="34" charset="-120"/>
              </a:rPr>
              <a:t>1. Restaurant marks order READY_FOR_PICKUP.</a:t>
            </a:r>
            <a:endParaRPr lang="en-US" sz="1250" dirty="0"/>
          </a:p>
        </p:txBody>
      </p:sp>
      <p:sp>
        <p:nvSpPr>
          <p:cNvPr id="6" name="Text 4"/>
          <p:cNvSpPr txBox="1"/>
          <p:nvPr/>
        </p:nvSpPr>
        <p:spPr>
          <a:xfrm>
            <a:off x="868680" y="2679192"/>
            <a:ext cx="4709160" cy="548640"/>
          </a:xfrm>
          <a:prstGeom prst="rect">
            <a:avLst/>
          </a:prstGeom>
          <a:noFill/>
          <a:ln/>
        </p:spPr>
        <p:txBody>
          <a:bodyPr wrap="square" lIns="0" tIns="0" rIns="0" bIns="0" rtlCol="0" anchor="t"/>
          <a:lstStyle/>
          <a:p>
            <a:pPr indent="0" marL="0">
              <a:buNone/>
            </a:pPr>
            <a:r>
              <a:rPr lang="en-US" sz="1250" dirty="0">
                <a:solidFill>
                  <a:srgbClr val="5B1E1A"/>
                </a:solidFill>
                <a:latin typeface="Calibri" pitchFamily="34" charset="0"/>
                <a:ea typeface="Calibri" pitchFamily="34" charset="-122"/>
                <a:cs typeface="Calibri" pitchFamily="34" charset="-120"/>
              </a:rPr>
              <a:t>2. order-service calls rider-service directly.</a:t>
            </a:r>
            <a:endParaRPr lang="en-US" sz="1250" dirty="0"/>
          </a:p>
        </p:txBody>
      </p:sp>
      <p:sp>
        <p:nvSpPr>
          <p:cNvPr id="7" name="Text 5"/>
          <p:cNvSpPr txBox="1"/>
          <p:nvPr/>
        </p:nvSpPr>
        <p:spPr>
          <a:xfrm>
            <a:off x="868680" y="3300984"/>
            <a:ext cx="4709160" cy="548640"/>
          </a:xfrm>
          <a:prstGeom prst="rect">
            <a:avLst/>
          </a:prstGeom>
          <a:noFill/>
          <a:ln/>
        </p:spPr>
        <p:txBody>
          <a:bodyPr wrap="square" lIns="0" tIns="0" rIns="0" bIns="0" rtlCol="0" anchor="t"/>
          <a:lstStyle/>
          <a:p>
            <a:pPr indent="0" marL="0">
              <a:buNone/>
            </a:pPr>
            <a:r>
              <a:rPr lang="en-US" sz="1250" dirty="0">
                <a:solidFill>
                  <a:srgbClr val="5B1E1A"/>
                </a:solidFill>
                <a:latin typeface="Calibri" pitchFamily="34" charset="0"/>
                <a:ea typeface="Calibri" pitchFamily="34" charset="-122"/>
                <a:cs typeface="Calibri" pitchFamily="34" charset="-120"/>
              </a:rPr>
              <a:t>3. rider-service is restarting → connection refused.</a:t>
            </a:r>
            <a:endParaRPr lang="en-US" sz="1250" dirty="0"/>
          </a:p>
        </p:txBody>
      </p:sp>
      <p:sp>
        <p:nvSpPr>
          <p:cNvPr id="8" name="Text 6"/>
          <p:cNvSpPr txBox="1"/>
          <p:nvPr/>
        </p:nvSpPr>
        <p:spPr>
          <a:xfrm>
            <a:off x="868680" y="3922776"/>
            <a:ext cx="4709160" cy="548640"/>
          </a:xfrm>
          <a:prstGeom prst="rect">
            <a:avLst/>
          </a:prstGeom>
          <a:noFill/>
          <a:ln/>
        </p:spPr>
        <p:txBody>
          <a:bodyPr wrap="square" lIns="0" tIns="0" rIns="0" bIns="0" rtlCol="0" anchor="t"/>
          <a:lstStyle/>
          <a:p>
            <a:pPr indent="0" marL="0">
              <a:buNone/>
            </a:pPr>
            <a:r>
              <a:rPr lang="en-US" sz="1250" dirty="0">
                <a:solidFill>
                  <a:srgbClr val="5B1E1A"/>
                </a:solidFill>
                <a:latin typeface="Calibri" pitchFamily="34" charset="0"/>
                <a:ea typeface="Calibri" pitchFamily="34" charset="-122"/>
                <a:cs typeface="Calibri" pitchFamily="34" charset="-120"/>
              </a:rPr>
              <a:t>4. The call fails. Nothing retries it.</a:t>
            </a:r>
            <a:endParaRPr lang="en-US" sz="1250" dirty="0"/>
          </a:p>
        </p:txBody>
      </p:sp>
      <p:sp>
        <p:nvSpPr>
          <p:cNvPr id="9" name="Text 7"/>
          <p:cNvSpPr txBox="1"/>
          <p:nvPr/>
        </p:nvSpPr>
        <p:spPr>
          <a:xfrm>
            <a:off x="868680" y="4544568"/>
            <a:ext cx="4709160" cy="548640"/>
          </a:xfrm>
          <a:prstGeom prst="rect">
            <a:avLst/>
          </a:prstGeom>
          <a:noFill/>
          <a:ln/>
        </p:spPr>
        <p:txBody>
          <a:bodyPr wrap="square" lIns="0" tIns="0" rIns="0" bIns="0" rtlCol="0" anchor="t"/>
          <a:lstStyle/>
          <a:p>
            <a:pPr indent="0" marL="0">
              <a:buNone/>
            </a:pPr>
            <a:r>
              <a:rPr lang="en-US" sz="1250" dirty="0">
                <a:solidFill>
                  <a:srgbClr val="5B1E1A"/>
                </a:solidFill>
                <a:latin typeface="Calibri" pitchFamily="34" charset="0"/>
                <a:ea typeface="Calibri" pitchFamily="34" charset="-122"/>
                <a:cs typeface="Calibri" pitchFamily="34" charset="-120"/>
              </a:rPr>
              <a:t>5. The rider never learns the order is ready — the update is gone for good.</a:t>
            </a:r>
            <a:endParaRPr lang="en-US" sz="1250" dirty="0"/>
          </a:p>
        </p:txBody>
      </p:sp>
      <p:sp>
        <p:nvSpPr>
          <p:cNvPr id="10" name="Shape 8"/>
          <p:cNvSpPr/>
          <p:nvPr/>
        </p:nvSpPr>
        <p:spPr>
          <a:xfrm>
            <a:off x="6263640" y="1371600"/>
            <a:ext cx="5349240" cy="4480560"/>
          </a:xfrm>
          <a:prstGeom prst="roundRect">
            <a:avLst>
              <a:gd name="adj" fmla="val 1633"/>
            </a:avLst>
          </a:prstGeom>
          <a:solidFill>
            <a:srgbClr val="E6F4EA"/>
          </a:solidFill>
          <a:ln w="19050">
            <a:solidFill>
              <a:srgbClr val="1E8E3E"/>
            </a:solidFill>
            <a:prstDash val="solid"/>
          </a:ln>
        </p:spPr>
      </p:sp>
      <p:sp>
        <p:nvSpPr>
          <p:cNvPr id="11" name="Text 9"/>
          <p:cNvSpPr txBox="1"/>
          <p:nvPr/>
        </p:nvSpPr>
        <p:spPr>
          <a:xfrm>
            <a:off x="6492240" y="1536192"/>
            <a:ext cx="4892040" cy="365760"/>
          </a:xfrm>
          <a:prstGeom prst="rect">
            <a:avLst/>
          </a:prstGeom>
          <a:noFill/>
          <a:ln/>
        </p:spPr>
        <p:txBody>
          <a:bodyPr wrap="square" lIns="0" tIns="0" rIns="0" bIns="0" rtlCol="0" anchor="ctr"/>
          <a:lstStyle/>
          <a:p>
            <a:pPr indent="0" marL="0">
              <a:buNone/>
            </a:pPr>
            <a:r>
              <a:rPr lang="en-US" sz="1500" b="1" dirty="0">
                <a:solidFill>
                  <a:srgbClr val="155724"/>
                </a:solidFill>
                <a:latin typeface="Calibri" pitchFamily="34" charset="0"/>
                <a:ea typeface="Calibri" pitchFamily="34" charset="-122"/>
                <a:cs typeface="Calibri" pitchFamily="34" charset="-120"/>
              </a:rPr>
              <a:t>Kafka event stream (after)</a:t>
            </a:r>
            <a:endParaRPr lang="en-US" sz="1500" dirty="0"/>
          </a:p>
        </p:txBody>
      </p:sp>
      <p:sp>
        <p:nvSpPr>
          <p:cNvPr id="12" name="Text 10"/>
          <p:cNvSpPr txBox="1"/>
          <p:nvPr/>
        </p:nvSpPr>
        <p:spPr>
          <a:xfrm>
            <a:off x="6583680" y="2057400"/>
            <a:ext cx="4709160" cy="548640"/>
          </a:xfrm>
          <a:prstGeom prst="rect">
            <a:avLst/>
          </a:prstGeom>
          <a:noFill/>
          <a:ln/>
        </p:spPr>
        <p:txBody>
          <a:bodyPr wrap="square" lIns="0" tIns="0" rIns="0" bIns="0" rtlCol="0" anchor="t"/>
          <a:lstStyle/>
          <a:p>
            <a:pPr indent="0" marL="0">
              <a:buNone/>
            </a:pPr>
            <a:r>
              <a:rPr lang="en-US" sz="1250" dirty="0">
                <a:solidFill>
                  <a:srgbClr val="1B4D2E"/>
                </a:solidFill>
                <a:latin typeface="Calibri" pitchFamily="34" charset="0"/>
                <a:ea typeface="Calibri" pitchFamily="34" charset="-122"/>
                <a:cs typeface="Calibri" pitchFamily="34" charset="-120"/>
              </a:rPr>
              <a:t>1. Restaurant marks order READY_FOR_PICKUP.</a:t>
            </a:r>
            <a:endParaRPr lang="en-US" sz="1250" dirty="0"/>
          </a:p>
        </p:txBody>
      </p:sp>
      <p:sp>
        <p:nvSpPr>
          <p:cNvPr id="13" name="Text 11"/>
          <p:cNvSpPr txBox="1"/>
          <p:nvPr/>
        </p:nvSpPr>
        <p:spPr>
          <a:xfrm>
            <a:off x="6583680" y="2679192"/>
            <a:ext cx="4709160" cy="548640"/>
          </a:xfrm>
          <a:prstGeom prst="rect">
            <a:avLst/>
          </a:prstGeom>
          <a:noFill/>
          <a:ln/>
        </p:spPr>
        <p:txBody>
          <a:bodyPr wrap="square" lIns="0" tIns="0" rIns="0" bIns="0" rtlCol="0" anchor="t"/>
          <a:lstStyle/>
          <a:p>
            <a:pPr indent="0" marL="0">
              <a:buNone/>
            </a:pPr>
            <a:r>
              <a:rPr lang="en-US" sz="1250" dirty="0">
                <a:solidFill>
                  <a:srgbClr val="1B4D2E"/>
                </a:solidFill>
                <a:latin typeface="Calibri" pitchFamily="34" charset="0"/>
                <a:ea typeface="Calibri" pitchFamily="34" charset="-122"/>
                <a:cs typeface="Calibri" pitchFamily="34" charset="-120"/>
              </a:rPr>
              <a:t>2. order-service publishes the event to Kafka and moves on.</a:t>
            </a:r>
            <a:endParaRPr lang="en-US" sz="1250" dirty="0"/>
          </a:p>
        </p:txBody>
      </p:sp>
      <p:sp>
        <p:nvSpPr>
          <p:cNvPr id="14" name="Text 12"/>
          <p:cNvSpPr txBox="1"/>
          <p:nvPr/>
        </p:nvSpPr>
        <p:spPr>
          <a:xfrm>
            <a:off x="6583680" y="3300984"/>
            <a:ext cx="4709160" cy="548640"/>
          </a:xfrm>
          <a:prstGeom prst="rect">
            <a:avLst/>
          </a:prstGeom>
          <a:noFill/>
          <a:ln/>
        </p:spPr>
        <p:txBody>
          <a:bodyPr wrap="square" lIns="0" tIns="0" rIns="0" bIns="0" rtlCol="0" anchor="t"/>
          <a:lstStyle/>
          <a:p>
            <a:pPr indent="0" marL="0">
              <a:buNone/>
            </a:pPr>
            <a:r>
              <a:rPr lang="en-US" sz="1250" dirty="0">
                <a:solidFill>
                  <a:srgbClr val="1B4D2E"/>
                </a:solidFill>
                <a:latin typeface="Calibri" pitchFamily="34" charset="0"/>
                <a:ea typeface="Calibri" pitchFamily="34" charset="-122"/>
                <a:cs typeface="Calibri" pitchFamily="34" charset="-120"/>
              </a:rPr>
              <a:t>3. rider-service is restarting — Kafka just holds the event.</a:t>
            </a:r>
            <a:endParaRPr lang="en-US" sz="1250" dirty="0"/>
          </a:p>
        </p:txBody>
      </p:sp>
      <p:sp>
        <p:nvSpPr>
          <p:cNvPr id="15" name="Text 13"/>
          <p:cNvSpPr txBox="1"/>
          <p:nvPr/>
        </p:nvSpPr>
        <p:spPr>
          <a:xfrm>
            <a:off x="6583680" y="3922776"/>
            <a:ext cx="4709160" cy="548640"/>
          </a:xfrm>
          <a:prstGeom prst="rect">
            <a:avLst/>
          </a:prstGeom>
          <a:noFill/>
          <a:ln/>
        </p:spPr>
        <p:txBody>
          <a:bodyPr wrap="square" lIns="0" tIns="0" rIns="0" bIns="0" rtlCol="0" anchor="t"/>
          <a:lstStyle/>
          <a:p>
            <a:pPr indent="0" marL="0">
              <a:buNone/>
            </a:pPr>
            <a:r>
              <a:rPr lang="en-US" sz="1250" dirty="0">
                <a:solidFill>
                  <a:srgbClr val="1B4D2E"/>
                </a:solidFill>
                <a:latin typeface="Calibri" pitchFamily="34" charset="0"/>
                <a:ea typeface="Calibri" pitchFamily="34" charset="-122"/>
                <a:cs typeface="Calibri" pitchFamily="34" charset="-120"/>
              </a:rPr>
              <a:t>4. rider-service comes back and resumes from its last committed offset.</a:t>
            </a:r>
            <a:endParaRPr lang="en-US" sz="1250" dirty="0"/>
          </a:p>
        </p:txBody>
      </p:sp>
      <p:sp>
        <p:nvSpPr>
          <p:cNvPr id="16" name="Text 14"/>
          <p:cNvSpPr txBox="1"/>
          <p:nvPr/>
        </p:nvSpPr>
        <p:spPr>
          <a:xfrm>
            <a:off x="6583680" y="4544568"/>
            <a:ext cx="4709160" cy="548640"/>
          </a:xfrm>
          <a:prstGeom prst="rect">
            <a:avLst/>
          </a:prstGeom>
          <a:noFill/>
          <a:ln/>
        </p:spPr>
        <p:txBody>
          <a:bodyPr wrap="square" lIns="0" tIns="0" rIns="0" bIns="0" rtlCol="0" anchor="t"/>
          <a:lstStyle/>
          <a:p>
            <a:pPr indent="0" marL="0">
              <a:buNone/>
            </a:pPr>
            <a:r>
              <a:rPr lang="en-US" sz="1250" dirty="0">
                <a:solidFill>
                  <a:srgbClr val="1B4D2E"/>
                </a:solidFill>
                <a:latin typeface="Calibri" pitchFamily="34" charset="0"/>
                <a:ea typeface="Calibri" pitchFamily="34" charset="-122"/>
                <a:cs typeface="Calibri" pitchFamily="34" charset="-120"/>
              </a:rPr>
              <a:t>5. It consumes the missed event — the pickup pool is correct again.</a:t>
            </a:r>
            <a:endParaRPr lang="en-US" sz="1250" dirty="0"/>
          </a:p>
        </p:txBody>
      </p:sp>
      <p:sp>
        <p:nvSpPr>
          <p:cNvPr id="17" name="Text 15"/>
          <p:cNvSpPr txBox="1"/>
          <p:nvPr/>
        </p:nvSpPr>
        <p:spPr>
          <a:xfrm>
            <a:off x="548640" y="5989320"/>
            <a:ext cx="11064240" cy="548640"/>
          </a:xfrm>
          <a:prstGeom prst="rect">
            <a:avLst/>
          </a:prstGeom>
          <a:noFill/>
          <a:ln/>
        </p:spPr>
        <p:txBody>
          <a:bodyPr wrap="square" lIns="0" tIns="0" rIns="0" bIns="0" rtlCol="0" anchor="ctr"/>
          <a:lstStyle/>
          <a:p>
            <a:pPr indent="0" marL="0">
              <a:buNone/>
            </a:pPr>
            <a:r>
              <a:rPr lang="en-US" sz="1150" i="1" dirty="0">
                <a:solidFill>
                  <a:srgbClr val="5B5B5B"/>
                </a:solidFill>
                <a:latin typeface="Calibri" pitchFamily="34" charset="0"/>
                <a:ea typeface="Calibri" pitchFamily="34" charset="-122"/>
                <a:cs typeface="Calibri" pitchFamily="34" charset="-120"/>
              </a:rPr>
              <a:t>Verified live: docker compose stop rider-service → publish 2 status updates → docker compose start rider-service → rider app's pickup list still shows the missed order.</a:t>
            </a:r>
            <a:endParaRPr lang="en-US" sz="1150" dirty="0"/>
          </a:p>
        </p:txBody>
      </p:sp>
      <p:sp>
        <p:nvSpPr>
          <p:cNvPr id="18" name="Text 16"/>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3 · Implementation — Resilience</a:t>
            </a:r>
            <a:endParaRPr lang="en-US" sz="1000" dirty="0"/>
          </a:p>
        </p:txBody>
      </p:sp>
      <p:sp>
        <p:nvSpPr>
          <p:cNvPr id="19" name="Text 17"/>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2F3C7E"/>
                </a:solidFill>
                <a:latin typeface="Cambria" pitchFamily="34" charset="0"/>
                <a:ea typeface="Cambria" pitchFamily="34" charset="-122"/>
                <a:cs typeface="Cambria" pitchFamily="34" charset="-120"/>
              </a:rPr>
              <a:t>Live Demo</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300" i="1" dirty="0">
                <a:solidFill>
                  <a:srgbClr val="5B5B5B"/>
                </a:solidFill>
                <a:latin typeface="Calibri" pitchFamily="34" charset="0"/>
                <a:ea typeface="Calibri" pitchFamily="34" charset="-122"/>
                <a:cs typeface="Calibri" pitchFamily="34" charset="-120"/>
              </a:rPr>
              <a:t>Two ways to see it work — pick either, or mix both live:</a:t>
            </a:r>
            <a:endParaRPr lang="en-US" sz="1300" dirty="0"/>
          </a:p>
        </p:txBody>
      </p:sp>
      <p:sp>
        <p:nvSpPr>
          <p:cNvPr id="4" name="Shape 2"/>
          <p:cNvSpPr/>
          <p:nvPr/>
        </p:nvSpPr>
        <p:spPr>
          <a:xfrm>
            <a:off x="548640" y="1691640"/>
            <a:ext cx="5440680" cy="4343400"/>
          </a:xfrm>
          <a:prstGeom prst="roundRect">
            <a:avLst>
              <a:gd name="adj" fmla="val 1684"/>
            </a:avLst>
          </a:prstGeom>
          <a:solidFill>
            <a:srgbClr val="1E2A44"/>
          </a:solidFill>
          <a:ln/>
        </p:spPr>
      </p:sp>
      <p:sp>
        <p:nvSpPr>
          <p:cNvPr id="5" name="Text 3"/>
          <p:cNvSpPr txBox="1"/>
          <p:nvPr/>
        </p:nvSpPr>
        <p:spPr>
          <a:xfrm>
            <a:off x="777240" y="1828800"/>
            <a:ext cx="4937760" cy="320040"/>
          </a:xfrm>
          <a:prstGeom prst="rect">
            <a:avLst/>
          </a:prstGeom>
          <a:noFill/>
          <a:ln/>
        </p:spPr>
        <p:txBody>
          <a:bodyPr wrap="square" lIns="0" tIns="0" rIns="0" bIns="0" rtlCol="0" anchor="ctr"/>
          <a:lstStyle/>
          <a:p>
            <a:pPr indent="0" marL="0">
              <a:buNone/>
            </a:pPr>
            <a:r>
              <a:rPr lang="en-US" sz="1300" b="1" dirty="0">
                <a:solidFill>
                  <a:srgbClr val="9FB3E8"/>
                </a:solidFill>
                <a:latin typeface="Calibri" pitchFamily="34" charset="0"/>
                <a:ea typeface="Calibri" pitchFamily="34" charset="-122"/>
                <a:cs typeface="Calibri" pitchFamily="34" charset="-120"/>
              </a:rPr>
              <a:t>Terminal + Kafka UI</a:t>
            </a:r>
            <a:endParaRPr lang="en-US" sz="1300" dirty="0"/>
          </a:p>
        </p:txBody>
      </p:sp>
      <p:sp>
        <p:nvSpPr>
          <p:cNvPr id="6" name="Text 4"/>
          <p:cNvSpPr txBox="1"/>
          <p:nvPr/>
        </p:nvSpPr>
        <p:spPr>
          <a:xfrm>
            <a:off x="777240" y="2194560"/>
            <a:ext cx="4937760" cy="3749040"/>
          </a:xfrm>
          <a:prstGeom prst="rect">
            <a:avLst/>
          </a:prstGeom>
          <a:noFill/>
          <a:ln/>
        </p:spPr>
        <p:txBody>
          <a:bodyPr wrap="square" lIns="0" tIns="0" rIns="0" bIns="0" rtlCol="0" anchor="ctr"/>
          <a:lstStyle/>
          <a:p>
            <a:pPr indent="0" marL="0">
              <a:lnSpc>
                <a:spcPct val="120000"/>
              </a:lnSpc>
              <a:buNone/>
            </a:pPr>
            <a:r>
              <a:rPr lang="en-US" sz="1100" dirty="0">
                <a:solidFill>
                  <a:srgbClr val="F9E795"/>
                </a:solidFill>
                <a:latin typeface="Courier New" pitchFamily="34" charset="0"/>
                <a:ea typeface="Courier New" pitchFamily="34" charset="-122"/>
                <a:cs typeface="Courier New" pitchFamily="34" charset="-120"/>
              </a:rPr>
              <a:t>$ docker compose up --build
</a:t>
            </a:r>
            <a:pPr indent="0" marL="0">
              <a:lnSpc>
                <a:spcPct val="120000"/>
              </a:lnSpc>
              <a:buNone/>
            </a:pPr>
            <a:r>
              <a:rPr lang="en-US" sz="1100" dirty="0">
                <a:solidFill>
                  <a:srgbClr val="F9E795"/>
                </a:solidFill>
                <a:latin typeface="Courier New" pitchFamily="34" charset="0"/>
                <a:ea typeface="Courier New" pitchFamily="34" charset="-122"/>
                <a:cs typeface="Courier New" pitchFamily="34" charset="-120"/>
              </a:rPr>
              <a:t>$ ./postman/demo.sh
</a:t>
            </a:r>
            <a:pPr indent="0" marL="0">
              <a:lnSpc>
                <a:spcPct val="120000"/>
              </a:lnSpc>
              <a:buNone/>
            </a:pPr>
            <a:r>
              <a:rPr lang="en-US" sz="1100" dirty="0">
                <a:solidFill>
                  <a:srgbClr val="9FB3E8"/>
                </a:solidFill>
                <a:latin typeface="Courier New" pitchFamily="34" charset="0"/>
                <a:ea typeface="Courier New" pitchFamily="34" charset="-122"/>
                <a:cs typeface="Courier New" pitchFamily="34" charset="-120"/>
              </a:rPr>
              <a:t>== Create order (PLACED) ==
</a:t>
            </a:r>
            <a:pPr indent="0" marL="0">
              <a:lnSpc>
                <a:spcPct val="120000"/>
              </a:lnSpc>
              <a:buNone/>
            </a:pPr>
            <a:r>
              <a:rPr lang="en-US" sz="1100" dirty="0">
                <a:solidFill>
                  <a:srgbClr val="9FB3E8"/>
                </a:solidFill>
                <a:latin typeface="Courier New" pitchFamily="34" charset="0"/>
                <a:ea typeface="Courier New" pitchFamily="34" charset="-122"/>
                <a:cs typeface="Courier New" pitchFamily="34" charset="-120"/>
              </a:rPr>
              <a:t>== CONFIRMED / PREPARING ==
</a:t>
            </a:r>
            <a:pPr indent="0" marL="0">
              <a:lnSpc>
                <a:spcPct val="120000"/>
              </a:lnSpc>
              <a:buNone/>
            </a:pPr>
            <a:r>
              <a:rPr lang="en-US" sz="1100" dirty="0">
                <a:solidFill>
                  <a:srgbClr val="9FB3E8"/>
                </a:solidFill>
                <a:latin typeface="Courier New" pitchFamily="34" charset="0"/>
                <a:ea typeface="Courier New" pitchFamily="34" charset="-122"/>
                <a:cs typeface="Courier New" pitchFamily="34" charset="-120"/>
              </a:rPr>
              <a:t>== READY_FOR_PICKUP ==
</a:t>
            </a:r>
            <a:pPr indent="0" marL="0">
              <a:lnSpc>
                <a:spcPct val="120000"/>
              </a:lnSpc>
              <a:buNone/>
            </a:pPr>
            <a:r>
              <a:rPr lang="en-US" sz="1100" dirty="0">
                <a:solidFill>
                  <a:srgbClr val="9FB3E8"/>
                </a:solidFill>
                <a:latin typeface="Courier New" pitchFamily="34" charset="0"/>
                <a:ea typeface="Courier New" pitchFamily="34" charset="-122"/>
                <a:cs typeface="Courier New" pitchFamily="34" charset="-120"/>
              </a:rPr>
              <a:t>== PICKED_UP / DELIVERED ==
</a:t>
            </a:r>
            <a:pPr indent="0" marL="0">
              <a:lnSpc>
                <a:spcPct val="120000"/>
              </a:lnSpc>
              <a:buNone/>
            </a:pPr>
            <a:r>
              <a:rPr lang="en-US" sz="1100" dirty="0">
                <a:solidFill>
                  <a:srgbClr val="E8ECFA"/>
                </a:solidFill>
                <a:latin typeface="Courier New" pitchFamily="34" charset="0"/>
                <a:ea typeface="Courier New" pitchFamily="34" charset="-122"/>
                <a:cs typeface="Courier New" pitchFamily="34" charset="-120"/>
              </a:rPr>
              <a:t>customer feed: 5 events received
</a:t>
            </a:r>
            <a:pPr indent="0" marL="0">
              <a:lnSpc>
                <a:spcPct val="120000"/>
              </a:lnSpc>
              <a:buNone/>
            </a:pPr>
            <a:r>
              <a:rPr lang="en-US" sz="1100" dirty="0">
                <a:solidFill>
                  <a:srgbClr val="E8ECFA"/>
                </a:solidFill>
                <a:latin typeface="Courier New" pitchFamily="34" charset="0"/>
                <a:ea typeface="Courier New" pitchFamily="34" charset="-122"/>
                <a:cs typeface="Courier New" pitchFamily="34" charset="-120"/>
              </a:rPr>
              <a:t>rider pickup-pool: []
</a:t>
            </a:r>
            <a:pPr indent="0" marL="0">
              <a:lnSpc>
                <a:spcPct val="120000"/>
              </a:lnSpc>
              <a:buNone/>
            </a:pPr>
            <a:r>
              <a:rPr lang="en-US" sz="1100" dirty="0">
                <a:solidFill>
                  <a:srgbClr val="E8ECFA"/>
                </a:solidFill>
                <a:latin typeface="Courier New" pitchFamily="34" charset="0"/>
                <a:ea typeface="Courier New" pitchFamily="34" charset="-122"/>
                <a:cs typeface="Courier New" pitchFamily="34" charset="-120"/>
              </a:rPr>
              <a:t>notifications sent: 5
</a:t>
            </a:r>
            <a:pPr indent="0" marL="0">
              <a:lnSpc>
                <a:spcPct val="120000"/>
              </a:lnSpc>
              <a:buNone/>
            </a:pPr>
            <a:r>
              <a:rPr lang="en-US" sz="1100" dirty="0">
                <a:solidFill>
                  <a:srgbClr val="F9E795"/>
                </a:solidFill>
                <a:latin typeface="Courier New" pitchFamily="34" charset="0"/>
                <a:ea typeface="Courier New" pitchFamily="34" charset="-122"/>
                <a:cs typeface="Courier New" pitchFamily="34" charset="-120"/>
              </a:rPr>
              <a:t>Kafka UI: localhost:8090
</a:t>
            </a:r>
            <a:pPr indent="0" marL="0">
              <a:lnSpc>
                <a:spcPct val="120000"/>
              </a:lnSpc>
              <a:buNone/>
            </a:pPr>
            <a:r>
              <a:rPr lang="en-US" sz="1100" dirty="0">
                <a:solidFill>
                  <a:srgbClr val="AAB2D8"/>
                </a:solidFill>
                <a:latin typeface="Courier New" pitchFamily="34" charset="0"/>
                <a:ea typeface="Courier New" pitchFamily="34" charset="-122"/>
                <a:cs typeface="Courier New" pitchFamily="34" charset="-120"/>
              </a:rPr>
              <a:t>watch topic + consumer-group offsets live</a:t>
            </a:r>
            <a:endParaRPr lang="en-US" sz="1100" dirty="0"/>
          </a:p>
        </p:txBody>
      </p:sp>
      <p:sp>
        <p:nvSpPr>
          <p:cNvPr id="7" name="Shape 5"/>
          <p:cNvSpPr/>
          <p:nvPr/>
        </p:nvSpPr>
        <p:spPr>
          <a:xfrm>
            <a:off x="6172200" y="1691640"/>
            <a:ext cx="5440680" cy="4343400"/>
          </a:xfrm>
          <a:prstGeom prst="roundRect">
            <a:avLst>
              <a:gd name="adj" fmla="val 1684"/>
            </a:avLst>
          </a:prstGeom>
          <a:solidFill>
            <a:srgbClr val="F7F8FC"/>
          </a:solidFill>
          <a:ln w="12700">
            <a:solidFill>
              <a:srgbClr val="DADFEE"/>
            </a:solidFill>
            <a:prstDash val="solid"/>
          </a:ln>
        </p:spPr>
      </p:sp>
      <p:sp>
        <p:nvSpPr>
          <p:cNvPr id="8" name="Text 6"/>
          <p:cNvSpPr txBox="1"/>
          <p:nvPr/>
        </p:nvSpPr>
        <p:spPr>
          <a:xfrm>
            <a:off x="6400800" y="1828800"/>
            <a:ext cx="493776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Web Dashboard — localhost:8081</a:t>
            </a:r>
            <a:endParaRPr lang="en-US" sz="1300" dirty="0"/>
          </a:p>
        </p:txBody>
      </p:sp>
      <p:sp>
        <p:nvSpPr>
          <p:cNvPr id="9" name="Shape 7"/>
          <p:cNvSpPr/>
          <p:nvPr/>
        </p:nvSpPr>
        <p:spPr>
          <a:xfrm>
            <a:off x="6400800" y="2286000"/>
            <a:ext cx="502920" cy="502920"/>
          </a:xfrm>
          <a:prstGeom prst="ellipse">
            <a:avLst/>
          </a:prstGeom>
          <a:solidFill>
            <a:srgbClr val="2F3C7E"/>
          </a:solidFill>
          <a:ln/>
        </p:spPr>
      </p:sp>
      <p:sp>
        <p:nvSpPr>
          <p:cNvPr id="10" name="Text 8"/>
          <p:cNvSpPr txBox="1"/>
          <p:nvPr/>
        </p:nvSpPr>
        <p:spPr>
          <a:xfrm>
            <a:off x="6400800" y="2286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7040880" y="2267712"/>
            <a:ext cx="429768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Customer</a:t>
            </a:r>
            <a:endParaRPr lang="en-US" sz="1300" dirty="0"/>
          </a:p>
        </p:txBody>
      </p:sp>
      <p:sp>
        <p:nvSpPr>
          <p:cNvPr id="12" name="Text 10"/>
          <p:cNvSpPr txBox="1"/>
          <p:nvPr/>
        </p:nvSpPr>
        <p:spPr>
          <a:xfrm>
            <a:off x="7040880" y="2587752"/>
            <a:ext cx="4297680" cy="640080"/>
          </a:xfrm>
          <a:prstGeom prst="rect">
            <a:avLst/>
          </a:prstGeom>
          <a:noFill/>
          <a:ln/>
        </p:spPr>
        <p:txBody>
          <a:bodyPr wrap="square" lIns="0" tIns="0" rIns="0" bIns="0" rtlCol="0" anchor="ctr"/>
          <a:lstStyle/>
          <a:p>
            <a:pPr indent="0" marL="0">
              <a:lnSpc>
                <a:spcPct val="115000"/>
              </a:lnSpc>
              <a:buNone/>
            </a:pPr>
            <a:r>
              <a:rPr lang="en-US" sz="1100" dirty="0">
                <a:solidFill>
                  <a:srgbClr val="5B5B5B"/>
                </a:solidFill>
                <a:latin typeface="Calibri" pitchFamily="34" charset="0"/>
                <a:ea typeface="Calibri" pitchFamily="34" charset="-122"/>
                <a:cs typeface="Calibri" pitchFamily="34" charset="-120"/>
              </a:rPr>
              <a:t>Sign in, browse a restaurant's menu, add to cart, place the order.</a:t>
            </a:r>
            <a:endParaRPr lang="en-US" sz="1100" dirty="0"/>
          </a:p>
        </p:txBody>
      </p:sp>
      <p:sp>
        <p:nvSpPr>
          <p:cNvPr id="13" name="Shape 11"/>
          <p:cNvSpPr/>
          <p:nvPr/>
        </p:nvSpPr>
        <p:spPr>
          <a:xfrm>
            <a:off x="6400800" y="3429000"/>
            <a:ext cx="502920" cy="502920"/>
          </a:xfrm>
          <a:prstGeom prst="ellipse">
            <a:avLst/>
          </a:prstGeom>
          <a:solidFill>
            <a:srgbClr val="F96167"/>
          </a:solidFill>
          <a:ln/>
        </p:spPr>
      </p:sp>
      <p:sp>
        <p:nvSpPr>
          <p:cNvPr id="14" name="Text 12"/>
          <p:cNvSpPr txBox="1"/>
          <p:nvPr/>
        </p:nvSpPr>
        <p:spPr>
          <a:xfrm>
            <a:off x="6400800" y="3429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3"/>
          <p:cNvSpPr txBox="1"/>
          <p:nvPr/>
        </p:nvSpPr>
        <p:spPr>
          <a:xfrm>
            <a:off x="7040880" y="3410712"/>
            <a:ext cx="429768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Restaurant</a:t>
            </a:r>
            <a:endParaRPr lang="en-US" sz="1300" dirty="0"/>
          </a:p>
        </p:txBody>
      </p:sp>
      <p:sp>
        <p:nvSpPr>
          <p:cNvPr id="16" name="Text 14"/>
          <p:cNvSpPr txBox="1"/>
          <p:nvPr/>
        </p:nvSpPr>
        <p:spPr>
          <a:xfrm>
            <a:off x="7040880" y="3730752"/>
            <a:ext cx="4297680" cy="640080"/>
          </a:xfrm>
          <a:prstGeom prst="rect">
            <a:avLst/>
          </a:prstGeom>
          <a:noFill/>
          <a:ln/>
        </p:spPr>
        <p:txBody>
          <a:bodyPr wrap="square" lIns="0" tIns="0" rIns="0" bIns="0" rtlCol="0" anchor="ctr"/>
          <a:lstStyle/>
          <a:p>
            <a:pPr indent="0" marL="0">
              <a:lnSpc>
                <a:spcPct val="115000"/>
              </a:lnSpc>
              <a:buNone/>
            </a:pPr>
            <a:r>
              <a:rPr lang="en-US" sz="1100" dirty="0">
                <a:solidFill>
                  <a:srgbClr val="5B5B5B"/>
                </a:solidFill>
                <a:latin typeface="Calibri" pitchFamily="34" charset="0"/>
                <a:ea typeface="Calibri" pitchFamily="34" charset="-122"/>
                <a:cs typeface="Calibri" pitchFamily="34" charset="-120"/>
              </a:rPr>
              <a:t>Sign in on a second tab — confirm, start preparing, mark ready.</a:t>
            </a:r>
            <a:endParaRPr lang="en-US" sz="1100" dirty="0"/>
          </a:p>
        </p:txBody>
      </p:sp>
      <p:sp>
        <p:nvSpPr>
          <p:cNvPr id="17" name="Shape 15"/>
          <p:cNvSpPr/>
          <p:nvPr/>
        </p:nvSpPr>
        <p:spPr>
          <a:xfrm>
            <a:off x="6400800" y="4572000"/>
            <a:ext cx="502920" cy="502920"/>
          </a:xfrm>
          <a:prstGeom prst="ellipse">
            <a:avLst/>
          </a:prstGeom>
          <a:solidFill>
            <a:srgbClr val="2F3C7E"/>
          </a:solidFill>
          <a:ln/>
        </p:spPr>
      </p:sp>
      <p:sp>
        <p:nvSpPr>
          <p:cNvPr id="18" name="Text 16"/>
          <p:cNvSpPr txBox="1"/>
          <p:nvPr/>
        </p:nvSpPr>
        <p:spPr>
          <a:xfrm>
            <a:off x="6400800" y="4572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7040880" y="4553712"/>
            <a:ext cx="4297680" cy="320040"/>
          </a:xfrm>
          <a:prstGeom prst="rect">
            <a:avLst/>
          </a:prstGeom>
          <a:noFill/>
          <a:ln/>
        </p:spPr>
        <p:txBody>
          <a:bodyPr wrap="square" lIns="0" tIns="0" rIns="0" bIns="0" rtlCol="0" anchor="ctr"/>
          <a:lstStyle/>
          <a:p>
            <a:pPr indent="0" marL="0">
              <a:buNone/>
            </a:pPr>
            <a:r>
              <a:rPr lang="en-US" sz="1300" b="1" dirty="0">
                <a:solidFill>
                  <a:srgbClr val="2F3C7E"/>
                </a:solidFill>
                <a:latin typeface="Calibri" pitchFamily="34" charset="0"/>
                <a:ea typeface="Calibri" pitchFamily="34" charset="-122"/>
                <a:cs typeface="Calibri" pitchFamily="34" charset="-120"/>
              </a:rPr>
              <a:t>Rider</a:t>
            </a:r>
            <a:endParaRPr lang="en-US" sz="1300" dirty="0"/>
          </a:p>
        </p:txBody>
      </p:sp>
      <p:sp>
        <p:nvSpPr>
          <p:cNvPr id="20" name="Text 18"/>
          <p:cNvSpPr txBox="1"/>
          <p:nvPr/>
        </p:nvSpPr>
        <p:spPr>
          <a:xfrm>
            <a:off x="7040880" y="4873752"/>
            <a:ext cx="4297680" cy="640080"/>
          </a:xfrm>
          <a:prstGeom prst="rect">
            <a:avLst/>
          </a:prstGeom>
          <a:noFill/>
          <a:ln/>
        </p:spPr>
        <p:txBody>
          <a:bodyPr wrap="square" lIns="0" tIns="0" rIns="0" bIns="0" rtlCol="0" anchor="ctr"/>
          <a:lstStyle/>
          <a:p>
            <a:pPr indent="0" marL="0">
              <a:lnSpc>
                <a:spcPct val="115000"/>
              </a:lnSpc>
              <a:buNone/>
            </a:pPr>
            <a:r>
              <a:rPr lang="en-US" sz="1100" dirty="0">
                <a:solidFill>
                  <a:srgbClr val="5B5B5B"/>
                </a:solidFill>
                <a:latin typeface="Calibri" pitchFamily="34" charset="0"/>
                <a:ea typeface="Calibri" pitchFamily="34" charset="-122"/>
                <a:cs typeface="Calibri" pitchFamily="34" charset="-120"/>
              </a:rPr>
              <a:t>Sign in on a third tab — accept the pickup, mark delivered.</a:t>
            </a:r>
            <a:endParaRPr lang="en-US" sz="1100" dirty="0"/>
          </a:p>
        </p:txBody>
      </p:sp>
      <p:sp>
        <p:nvSpPr>
          <p:cNvPr id="21" name="Text 19"/>
          <p:cNvSpPr txBox="1"/>
          <p:nvPr/>
        </p:nvSpPr>
        <p:spPr>
          <a:xfrm>
            <a:off x="6400800" y="5623560"/>
            <a:ext cx="4937760" cy="457200"/>
          </a:xfrm>
          <a:prstGeom prst="rect">
            <a:avLst/>
          </a:prstGeom>
          <a:noFill/>
          <a:ln/>
        </p:spPr>
        <p:txBody>
          <a:bodyPr wrap="square" lIns="0" tIns="0" rIns="0" bIns="0" rtlCol="0" anchor="ctr"/>
          <a:lstStyle/>
          <a:p>
            <a:pPr indent="0" marL="0">
              <a:lnSpc>
                <a:spcPct val="115000"/>
              </a:lnSpc>
              <a:buNone/>
            </a:pPr>
            <a:r>
              <a:rPr lang="en-US" sz="1050" i="1" dirty="0">
                <a:solidFill>
                  <a:srgbClr val="5B5B5B"/>
                </a:solidFill>
                <a:latin typeface="Calibri" pitchFamily="34" charset="0"/>
                <a:ea typeface="Calibri" pitchFamily="34" charset="-122"/>
                <a:cs typeface="Calibri" pitchFamily="34" charset="-120"/>
              </a:rPr>
              <a:t>All three tabs update live within 2 seconds of each other — and stay in sync with anything done via curl at the same time.</a:t>
            </a:r>
            <a:endParaRPr lang="en-US" sz="1050" dirty="0"/>
          </a:p>
        </p:txBody>
      </p:sp>
      <p:sp>
        <p:nvSpPr>
          <p:cNvPr id="22" name="Text 20"/>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9AA0A6"/>
                </a:solidFill>
                <a:latin typeface="Calibri" pitchFamily="34" charset="0"/>
                <a:ea typeface="Calibri" pitchFamily="34" charset="-122"/>
                <a:cs typeface="Calibri" pitchFamily="34" charset="-120"/>
              </a:rPr>
              <a:t>3 · Implementation — Demo</a:t>
            </a:r>
            <a:endParaRPr lang="en-US" sz="1000" dirty="0"/>
          </a:p>
        </p:txBody>
      </p:sp>
      <p:sp>
        <p:nvSpPr>
          <p:cNvPr id="23" name="Text 21"/>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9AA0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555"/>
        </a:solidFill>
      </p:bgPr>
    </p:bg>
    <p:spTree>
      <p:nvGrpSpPr>
        <p:cNvPr id="1" name=""/>
        <p:cNvGrpSpPr/>
        <p:nvPr/>
      </p:nvGrpSpPr>
      <p:grpSpPr>
        <a:xfrm>
          <a:off x="0" y="0"/>
          <a:ext cx="0" cy="0"/>
          <a:chOff x="0" y="0"/>
          <a:chExt cx="0" cy="0"/>
        </a:xfrm>
      </p:grpSpPr>
      <p:sp>
        <p:nvSpPr>
          <p:cNvPr id="2" name="Shape 0"/>
          <p:cNvSpPr/>
          <p:nvPr/>
        </p:nvSpPr>
        <p:spPr>
          <a:xfrm>
            <a:off x="-1463040" y="-1645920"/>
            <a:ext cx="4572000" cy="4572000"/>
          </a:xfrm>
          <a:prstGeom prst="ellipse">
            <a:avLst/>
          </a:prstGeom>
          <a:solidFill>
            <a:srgbClr val="2F3C7E">
              <a:alpha val="70000"/>
            </a:srgbClr>
          </a:solidFill>
          <a:ln/>
        </p:spPr>
      </p:sp>
      <p:sp>
        <p:nvSpPr>
          <p:cNvPr id="3" name="Text 1"/>
          <p:cNvSpPr txBox="1"/>
          <p:nvPr/>
        </p:nvSpPr>
        <p:spPr>
          <a:xfrm>
            <a:off x="822960" y="82296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Expected Result</a:t>
            </a:r>
            <a:endParaRPr lang="en-US" sz="3200" dirty="0"/>
          </a:p>
        </p:txBody>
      </p:sp>
      <p:sp>
        <p:nvSpPr>
          <p:cNvPr id="4" name="Text 2"/>
          <p:cNvSpPr txBox="1"/>
          <p:nvPr/>
        </p:nvSpPr>
        <p:spPr>
          <a:xfrm>
            <a:off x="822960" y="1600200"/>
            <a:ext cx="9875520" cy="1005840"/>
          </a:xfrm>
          <a:prstGeom prst="rect">
            <a:avLst/>
          </a:prstGeom>
          <a:noFill/>
          <a:ln/>
        </p:spPr>
        <p:txBody>
          <a:bodyPr wrap="square" lIns="0" tIns="0" rIns="0" bIns="0" rtlCol="0" anchor="ctr"/>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Order status updates reach the customer, restaurant, and rider apps in real time — without any of them calling each other directly, and without losing an update if one service is briefly unavailable.</a:t>
            </a:r>
            <a:endParaRPr lang="en-US" sz="1600" dirty="0"/>
          </a:p>
        </p:txBody>
      </p:sp>
      <p:sp>
        <p:nvSpPr>
          <p:cNvPr id="5" name="Text 3"/>
          <p:cNvSpPr txBox="1"/>
          <p:nvPr/>
        </p:nvSpPr>
        <p:spPr>
          <a:xfrm>
            <a:off x="822960" y="2880360"/>
            <a:ext cx="3200400" cy="1005840"/>
          </a:xfrm>
          <a:prstGeom prst="rect">
            <a:avLst/>
          </a:prstGeom>
          <a:noFill/>
          <a:ln/>
        </p:spPr>
        <p:txBody>
          <a:bodyPr wrap="square" lIns="0" tIns="0" rIns="0" bIns="0" rtlCol="0" anchor="ctr"/>
          <a:lstStyle/>
          <a:p>
            <a:pPr indent="0" marL="0">
              <a:buNone/>
            </a:pPr>
            <a:r>
              <a:rPr lang="en-US" sz="6000" b="1" dirty="0">
                <a:solidFill>
                  <a:srgbClr val="F9E795"/>
                </a:solidFill>
                <a:latin typeface="Cambria" pitchFamily="34" charset="0"/>
                <a:ea typeface="Cambria" pitchFamily="34" charset="-122"/>
                <a:cs typeface="Cambria" pitchFamily="34" charset="-120"/>
              </a:rPr>
              <a:t>3</a:t>
            </a:r>
            <a:endParaRPr lang="en-US" sz="6000" dirty="0"/>
          </a:p>
        </p:txBody>
      </p:sp>
      <p:sp>
        <p:nvSpPr>
          <p:cNvPr id="6" name="Text 4"/>
          <p:cNvSpPr txBox="1"/>
          <p:nvPr/>
        </p:nvSpPr>
        <p:spPr>
          <a:xfrm>
            <a:off x="822960" y="3886200"/>
            <a:ext cx="3200400" cy="640080"/>
          </a:xfrm>
          <a:prstGeom prst="rect">
            <a:avLst/>
          </a:prstGeom>
          <a:noFill/>
          <a:ln/>
        </p:spPr>
        <p:txBody>
          <a:bodyPr wrap="square" lIns="0" tIns="0" rIns="0" bIns="0" rtlCol="0" anchor="ctr"/>
          <a:lstStyle/>
          <a:p>
            <a:pPr indent="0" marL="0">
              <a:buNone/>
            </a:pPr>
            <a:r>
              <a:rPr lang="en-US" sz="1300" dirty="0">
                <a:solidFill>
                  <a:srgbClr val="AAB2D8"/>
                </a:solidFill>
                <a:latin typeface="Calibri" pitchFamily="34" charset="0"/>
                <a:ea typeface="Calibri" pitchFamily="34" charset="-122"/>
                <a:cs typeface="Calibri" pitchFamily="34" charset="-120"/>
              </a:rPr>
              <a:t>role-based apps, one shared event log</a:t>
            </a:r>
            <a:endParaRPr lang="en-US" sz="1300" dirty="0"/>
          </a:p>
        </p:txBody>
      </p:sp>
      <p:sp>
        <p:nvSpPr>
          <p:cNvPr id="7" name="Text 5"/>
          <p:cNvSpPr txBox="1"/>
          <p:nvPr/>
        </p:nvSpPr>
        <p:spPr>
          <a:xfrm>
            <a:off x="4480560" y="2880360"/>
            <a:ext cx="3200400" cy="1005840"/>
          </a:xfrm>
          <a:prstGeom prst="rect">
            <a:avLst/>
          </a:prstGeom>
          <a:noFill/>
          <a:ln/>
        </p:spPr>
        <p:txBody>
          <a:bodyPr wrap="square" lIns="0" tIns="0" rIns="0" bIns="0" rtlCol="0" anchor="ctr"/>
          <a:lstStyle/>
          <a:p>
            <a:pPr indent="0" marL="0">
              <a:buNone/>
            </a:pPr>
            <a:r>
              <a:rPr lang="en-US" sz="6000" b="1" dirty="0">
                <a:solidFill>
                  <a:srgbClr val="F9E79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4480560" y="3886200"/>
            <a:ext cx="3200400" cy="640080"/>
          </a:xfrm>
          <a:prstGeom prst="rect">
            <a:avLst/>
          </a:prstGeom>
          <a:noFill/>
          <a:ln/>
        </p:spPr>
        <p:txBody>
          <a:bodyPr wrap="square" lIns="0" tIns="0" rIns="0" bIns="0" rtlCol="0" anchor="ctr"/>
          <a:lstStyle/>
          <a:p>
            <a:pPr indent="0" marL="0">
              <a:buNone/>
            </a:pPr>
            <a:r>
              <a:rPr lang="en-US" sz="1300" dirty="0">
                <a:solidFill>
                  <a:srgbClr val="AAB2D8"/>
                </a:solidFill>
                <a:latin typeface="Calibri" pitchFamily="34" charset="0"/>
                <a:ea typeface="Calibri" pitchFamily="34" charset="-122"/>
                <a:cs typeface="Calibri" pitchFamily="34" charset="-120"/>
              </a:rPr>
              <a:t>Kafka topic replaces every direct call</a:t>
            </a:r>
            <a:endParaRPr lang="en-US" sz="1300" dirty="0"/>
          </a:p>
        </p:txBody>
      </p:sp>
      <p:sp>
        <p:nvSpPr>
          <p:cNvPr id="9" name="Text 7"/>
          <p:cNvSpPr txBox="1"/>
          <p:nvPr/>
        </p:nvSpPr>
        <p:spPr>
          <a:xfrm>
            <a:off x="8138160" y="2880360"/>
            <a:ext cx="3200400" cy="1005840"/>
          </a:xfrm>
          <a:prstGeom prst="rect">
            <a:avLst/>
          </a:prstGeom>
          <a:noFill/>
          <a:ln/>
        </p:spPr>
        <p:txBody>
          <a:bodyPr wrap="square" lIns="0" tIns="0" rIns="0" bIns="0" rtlCol="0" anchor="ctr"/>
          <a:lstStyle/>
          <a:p>
            <a:pPr indent="0" marL="0">
              <a:buNone/>
            </a:pPr>
            <a:r>
              <a:rPr lang="en-US" sz="6000" b="1" dirty="0">
                <a:solidFill>
                  <a:srgbClr val="F9E795"/>
                </a:solidFill>
                <a:latin typeface="Cambria" pitchFamily="34" charset="0"/>
                <a:ea typeface="Cambria" pitchFamily="34" charset="-122"/>
                <a:cs typeface="Cambria" pitchFamily="34" charset="-120"/>
              </a:rPr>
              <a:t>0</a:t>
            </a:r>
            <a:endParaRPr lang="en-US" sz="6000" dirty="0"/>
          </a:p>
        </p:txBody>
      </p:sp>
      <p:sp>
        <p:nvSpPr>
          <p:cNvPr id="10" name="Text 8"/>
          <p:cNvSpPr txBox="1"/>
          <p:nvPr/>
        </p:nvSpPr>
        <p:spPr>
          <a:xfrm>
            <a:off x="8138160" y="3886200"/>
            <a:ext cx="3200400" cy="640080"/>
          </a:xfrm>
          <a:prstGeom prst="rect">
            <a:avLst/>
          </a:prstGeom>
          <a:noFill/>
          <a:ln/>
        </p:spPr>
        <p:txBody>
          <a:bodyPr wrap="square" lIns="0" tIns="0" rIns="0" bIns="0" rtlCol="0" anchor="ctr"/>
          <a:lstStyle/>
          <a:p>
            <a:pPr indent="0" marL="0">
              <a:buNone/>
            </a:pPr>
            <a:r>
              <a:rPr lang="en-US" sz="1300" dirty="0">
                <a:solidFill>
                  <a:srgbClr val="AAB2D8"/>
                </a:solidFill>
                <a:latin typeface="Calibri" pitchFamily="34" charset="0"/>
                <a:ea typeface="Calibri" pitchFamily="34" charset="-122"/>
                <a:cs typeface="Calibri" pitchFamily="34" charset="-120"/>
              </a:rPr>
              <a:t>events lost when a service restarts</a:t>
            </a:r>
            <a:endParaRPr lang="en-US" sz="1300" dirty="0"/>
          </a:p>
        </p:txBody>
      </p:sp>
      <p:sp>
        <p:nvSpPr>
          <p:cNvPr id="11" name="Shape 9"/>
          <p:cNvSpPr/>
          <p:nvPr/>
        </p:nvSpPr>
        <p:spPr>
          <a:xfrm>
            <a:off x="822960" y="4937760"/>
            <a:ext cx="10515600" cy="1051560"/>
          </a:xfrm>
          <a:prstGeom prst="roundRect">
            <a:avLst>
              <a:gd name="adj" fmla="val 8696"/>
            </a:avLst>
          </a:prstGeom>
          <a:solidFill>
            <a:srgbClr val="2F3C7E">
              <a:alpha val="85000"/>
            </a:srgbClr>
          </a:solidFill>
          <a:ln w="12700">
            <a:solidFill>
              <a:srgbClr val="3A4A9E"/>
            </a:solidFill>
            <a:prstDash val="solid"/>
          </a:ln>
        </p:spPr>
      </p:sp>
      <p:sp>
        <p:nvSpPr>
          <p:cNvPr id="12" name="Text 10"/>
          <p:cNvSpPr txBox="1"/>
          <p:nvPr/>
        </p:nvSpPr>
        <p:spPr>
          <a:xfrm>
            <a:off x="1051560" y="4937760"/>
            <a:ext cx="10058400" cy="10515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Thank you  —  </a:t>
            </a:r>
            <a:pPr indent="0" marL="0">
              <a:buNone/>
            </a:pPr>
            <a:r>
              <a:rPr lang="en-US" sz="1450" dirty="0">
                <a:solidFill>
                  <a:srgbClr val="CADCFC"/>
                </a:solidFill>
                <a:latin typeface="Calibri" pitchFamily="34" charset="0"/>
                <a:ea typeface="Calibri" pitchFamily="34" charset="-122"/>
                <a:cs typeface="Calibri" pitchFamily="34" charset="-120"/>
              </a:rPr>
              <a:t>full runnable source, diagrams, and the live web dashboard are on GitHub.</a:t>
            </a:r>
            <a:endParaRPr lang="en-US" sz="1450" dirty="0"/>
          </a:p>
        </p:txBody>
      </p:sp>
      <p:sp>
        <p:nvSpPr>
          <p:cNvPr id="13" name="Text 11"/>
          <p:cNvSpPr txBox="1"/>
          <p:nvPr/>
        </p:nvSpPr>
        <p:spPr>
          <a:xfrm>
            <a:off x="548640" y="6510528"/>
            <a:ext cx="7315200" cy="274320"/>
          </a:xfrm>
          <a:prstGeom prst="rect">
            <a:avLst/>
          </a:prstGeom>
          <a:noFill/>
          <a:ln/>
        </p:spPr>
        <p:txBody>
          <a:bodyPr wrap="square" lIns="0" tIns="0" rIns="0" bIns="0" rtlCol="0" anchor="ctr"/>
          <a:lstStyle/>
          <a:p>
            <a:pPr indent="0" marL="0">
              <a:buNone/>
            </a:pPr>
            <a:r>
              <a:rPr lang="en-US" sz="1000" dirty="0">
                <a:solidFill>
                  <a:srgbClr val="AAB2D8"/>
                </a:solidFill>
                <a:latin typeface="Calibri" pitchFamily="34" charset="0"/>
                <a:ea typeface="Calibri" pitchFamily="34" charset="-122"/>
                <a:cs typeface="Calibri" pitchFamily="34" charset="-120"/>
              </a:rPr>
              <a:t>Real-Time Food Delivery Updates Using Apache Kafka</a:t>
            </a:r>
            <a:endParaRPr lang="en-US" sz="1000" dirty="0"/>
          </a:p>
        </p:txBody>
      </p:sp>
      <p:sp>
        <p:nvSpPr>
          <p:cNvPr id="14" name="Text 12"/>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1000" dirty="0">
                <a:solidFill>
                  <a:srgbClr val="AAB2D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2026-09-22T17:55:39Z</dcterms:created>
  <dcterms:modified xsi:type="dcterms:W3CDTF">2026-09-22T17:55:39Z</dcterms:modified>
</cp:coreProperties>
</file>